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7" r:id="rId41"/>
    <p:sldId id="299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095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10" Type="http://schemas.openxmlformats.org/officeDocument/2006/relationships/image" Target="../media/image56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png"/><Relationship Id="rId4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6.png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1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7.png"/><Relationship Id="rId9" Type="http://schemas.openxmlformats.org/officeDocument/2006/relationships/image" Target="../media/image1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12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3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10" Type="http://schemas.openxmlformats.org/officeDocument/2006/relationships/image" Target="../media/image129.png"/><Relationship Id="rId4" Type="http://schemas.openxmlformats.org/officeDocument/2006/relationships/image" Target="../media/image124.png"/><Relationship Id="rId9" Type="http://schemas.openxmlformats.org/officeDocument/2006/relationships/image" Target="../media/image1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5" Type="http://schemas.openxmlformats.org/officeDocument/2006/relationships/image" Target="../media/image13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6.png"/><Relationship Id="rId4" Type="http://schemas.openxmlformats.org/officeDocument/2006/relationships/image" Target="../media/image15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165.png"/><Relationship Id="rId3" Type="http://schemas.openxmlformats.org/officeDocument/2006/relationships/image" Target="../media/image157.png"/><Relationship Id="rId7" Type="http://schemas.openxmlformats.org/officeDocument/2006/relationships/image" Target="../media/image159.png"/><Relationship Id="rId12" Type="http://schemas.openxmlformats.org/officeDocument/2006/relationships/image" Target="../media/image16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63.png"/><Relationship Id="rId5" Type="http://schemas.openxmlformats.org/officeDocument/2006/relationships/image" Target="../media/image158.png"/><Relationship Id="rId10" Type="http://schemas.openxmlformats.org/officeDocument/2006/relationships/image" Target="../media/image162.png"/><Relationship Id="rId4" Type="http://schemas.openxmlformats.org/officeDocument/2006/relationships/image" Target="../media/image72.png"/><Relationship Id="rId9" Type="http://schemas.openxmlformats.org/officeDocument/2006/relationships/image" Target="../media/image16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 txBox="1"/>
          <p:nvPr/>
        </p:nvSpPr>
        <p:spPr>
          <a:xfrm>
            <a:off x="10111435" y="6562649"/>
            <a:ext cx="19431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EPS_TOT_Training_2Days.pptx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-952805" y="-1429207"/>
            <a:ext cx="4762195" cy="4762195"/>
          </a:xfrm>
          <a:prstGeom prst="ellipse">
            <a:avLst/>
          </a:prstGeom>
          <a:solidFill>
            <a:srgbClr val="4F46E5">
              <a:alpha val="4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8858707" y="4000500"/>
            <a:ext cx="3810305" cy="3810305"/>
          </a:xfrm>
          <a:prstGeom prst="ellipse">
            <a:avLst/>
          </a:prstGeom>
          <a:solidFill>
            <a:srgbClr val="EA580C">
              <a:alpha val="2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4667098" y="2000707"/>
            <a:ext cx="2857500" cy="2857500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4286707" y="457200"/>
            <a:ext cx="761695" cy="761695"/>
          </a:xfrm>
          <a:prstGeom prst="roundRect">
            <a:avLst>
              <a:gd name="adj" fmla="val 2401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397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38498" y="609905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38598" y="457200"/>
            <a:ext cx="761695" cy="761695"/>
          </a:xfrm>
          <a:prstGeom prst="roundRect">
            <a:avLst>
              <a:gd name="adj" fmla="val 2401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397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3695" y="609905"/>
            <a:ext cx="571500" cy="457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91402" y="457200"/>
            <a:ext cx="761695" cy="761695"/>
          </a:xfrm>
          <a:prstGeom prst="roundRect">
            <a:avLst>
              <a:gd name="adj" fmla="val 2401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397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743" r="-743"/>
          <a:stretch/>
        </p:blipFill>
        <p:spPr>
          <a:xfrm>
            <a:off x="6420002" y="666598"/>
            <a:ext cx="304495" cy="3429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144207" y="457200"/>
            <a:ext cx="761695" cy="761695"/>
          </a:xfrm>
          <a:prstGeom prst="roundRect">
            <a:avLst>
              <a:gd name="adj" fmla="val 2401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397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27" r="-27"/>
          <a:stretch/>
        </p:blipFill>
        <p:spPr>
          <a:xfrm>
            <a:off x="7310628" y="666598"/>
            <a:ext cx="428854" cy="3429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333195" y="4496105"/>
            <a:ext cx="9525305" cy="1276502"/>
          </a:xfrm>
          <a:prstGeom prst="roundRect">
            <a:avLst>
              <a:gd name="adj" fmla="val 10692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482600" dist="2413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Shape 11"/>
          <p:cNvSpPr/>
          <p:nvPr/>
        </p:nvSpPr>
        <p:spPr>
          <a:xfrm>
            <a:off x="3909060" y="6077102"/>
            <a:ext cx="1047902" cy="323698"/>
          </a:xfrm>
          <a:prstGeom prst="roundRect">
            <a:avLst>
              <a:gd name="adj" fmla="val 3323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Shape 12"/>
          <p:cNvSpPr/>
          <p:nvPr/>
        </p:nvSpPr>
        <p:spPr>
          <a:xfrm>
            <a:off x="5071262" y="6077102"/>
            <a:ext cx="895198" cy="323698"/>
          </a:xfrm>
          <a:prstGeom prst="roundRect">
            <a:avLst>
              <a:gd name="adj" fmla="val 3323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3"/>
          <p:cNvSpPr/>
          <p:nvPr/>
        </p:nvSpPr>
        <p:spPr>
          <a:xfrm>
            <a:off x="6073445" y="6077102"/>
            <a:ext cx="895198" cy="323698"/>
          </a:xfrm>
          <a:prstGeom prst="roundRect">
            <a:avLst>
              <a:gd name="adj" fmla="val 3323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Shape 14"/>
          <p:cNvSpPr/>
          <p:nvPr/>
        </p:nvSpPr>
        <p:spPr>
          <a:xfrm>
            <a:off x="7074713" y="6077102"/>
            <a:ext cx="1209751" cy="323698"/>
          </a:xfrm>
          <a:prstGeom prst="roundRect">
            <a:avLst>
              <a:gd name="adj" fmla="val 3323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5"/>
          <p:cNvSpPr txBox="1"/>
          <p:nvPr/>
        </p:nvSpPr>
        <p:spPr>
          <a:xfrm>
            <a:off x="5088636" y="1533449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 OF TRAINING (TOT)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3984041" y="1800454"/>
            <a:ext cx="474390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EPS Backend</a:t>
            </a:r>
            <a:endParaRPr lang="en-US" sz="5400" dirty="0"/>
          </a:p>
        </p:txBody>
      </p:sp>
      <p:sp>
        <p:nvSpPr>
          <p:cNvPr id="23" name="Text 17"/>
          <p:cNvSpPr txBox="1"/>
          <p:nvPr/>
        </p:nvSpPr>
        <p:spPr>
          <a:xfrm>
            <a:off x="3952037" y="2657246"/>
            <a:ext cx="4810658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Training</a:t>
            </a:r>
            <a:endParaRPr lang="en-US" sz="5400" dirty="0"/>
          </a:p>
        </p:txBody>
      </p:sp>
      <p:sp>
        <p:nvSpPr>
          <p:cNvPr id="24" name="Text 18"/>
          <p:cNvSpPr txBox="1"/>
          <p:nvPr/>
        </p:nvSpPr>
        <p:spPr>
          <a:xfrm>
            <a:off x="3333902" y="3666744"/>
            <a:ext cx="57058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Mastering Laravel Architecture &amp; Advanced Patterns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4032504" y="6152998"/>
            <a:ext cx="9006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Laravel 10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194706" y="6152998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PHP 8.1+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6196889" y="6152998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API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7199071" y="6152998"/>
            <a:ext cx="10625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2934310" y="4886554"/>
            <a:ext cx="7342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</a:t>
            </a:r>
            <a:endParaRPr lang="en-US" sz="9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323490" y="5152644"/>
            <a:ext cx="190195" cy="19019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2590495" y="5115154"/>
            <a:ext cx="17529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Days / 16 Hours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5895137" y="4886554"/>
            <a:ext cx="4956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</a:t>
            </a:r>
            <a:endParaRPr lang="en-US" sz="9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5024628" y="5152644"/>
            <a:ext cx="171907" cy="19019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272430" y="5115154"/>
            <a:ext cx="20391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22-23 January 2026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8732520" y="4886554"/>
            <a:ext cx="4956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9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8173822" y="5152644"/>
            <a:ext cx="219456" cy="19019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469173" y="5115154"/>
            <a:ext cx="1371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300+ Models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8382305" y="-952805"/>
            <a:ext cx="4762195" cy="4762195"/>
          </a:xfrm>
          <a:prstGeom prst="ellipse">
            <a:avLst/>
          </a:prstGeom>
          <a:solidFill>
            <a:srgbClr val="4F46E5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61695" y="571500"/>
            <a:ext cx="57607" cy="80010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761695" y="1752905"/>
            <a:ext cx="3010205" cy="1123798"/>
          </a:xfrm>
          <a:prstGeom prst="roundRect">
            <a:avLst>
              <a:gd name="adj" fmla="val 8275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961949" y="195224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5451" y="2085746"/>
            <a:ext cx="190195" cy="1901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924605" y="1752905"/>
            <a:ext cx="3010205" cy="1123798"/>
          </a:xfrm>
          <a:prstGeom prst="roundRect">
            <a:avLst>
              <a:gd name="adj" fmla="val 8275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4267505" y="2085746"/>
            <a:ext cx="171907" cy="19019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3066898"/>
            <a:ext cx="6172200" cy="3562502"/>
          </a:xfrm>
          <a:prstGeom prst="roundRect">
            <a:avLst>
              <a:gd name="adj" fmla="val 1098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9"/>
          <p:cNvSpPr/>
          <p:nvPr/>
        </p:nvSpPr>
        <p:spPr>
          <a:xfrm>
            <a:off x="1000354" y="3834079"/>
            <a:ext cx="569579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0"/>
          <p:cNvSpPr/>
          <p:nvPr/>
        </p:nvSpPr>
        <p:spPr>
          <a:xfrm>
            <a:off x="1000354" y="4071823"/>
            <a:ext cx="533095" cy="533095"/>
          </a:xfrm>
          <a:prstGeom prst="roundRect">
            <a:avLst>
              <a:gd name="adj" fmla="val 3675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1138428" y="4224528"/>
            <a:ext cx="256946" cy="228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000354" y="4833518"/>
            <a:ext cx="533095" cy="533095"/>
          </a:xfrm>
          <a:prstGeom prst="roundRect">
            <a:avLst>
              <a:gd name="adj" fmla="val 3675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23798" y="4986223"/>
            <a:ext cx="286207" cy="228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000354" y="5596128"/>
            <a:ext cx="533095" cy="533095"/>
          </a:xfrm>
          <a:prstGeom prst="roundRect">
            <a:avLst>
              <a:gd name="adj" fmla="val 3675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1166774" y="5747918"/>
            <a:ext cx="200254" cy="2286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315200" y="1752905"/>
            <a:ext cx="4114800" cy="1809598"/>
          </a:xfrm>
          <a:prstGeom prst="roundRect">
            <a:avLst>
              <a:gd name="adj" fmla="val 4255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552944" y="2029054"/>
            <a:ext cx="237744" cy="190195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29754" y="2457907"/>
            <a:ext cx="133502" cy="133502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29754" y="2800807"/>
            <a:ext cx="133502" cy="133502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29754" y="3143707"/>
            <a:ext cx="133502" cy="133502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7315200" y="3791102"/>
            <a:ext cx="4114800" cy="2838298"/>
          </a:xfrm>
          <a:prstGeom prst="roundRect">
            <a:avLst>
              <a:gd name="adj" fmla="val 1730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282" r="-1282"/>
          <a:stretch/>
        </p:blipFill>
        <p:spPr>
          <a:xfrm>
            <a:off x="7552944" y="4067251"/>
            <a:ext cx="219456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7552944" y="4448556"/>
            <a:ext cx="3638398" cy="476402"/>
          </a:xfrm>
          <a:prstGeom prst="roundRect">
            <a:avLst>
              <a:gd name="adj" fmla="val 30710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715707" y="4572000"/>
            <a:ext cx="228600" cy="228600"/>
          </a:xfrm>
          <a:prstGeom prst="rect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7552944" y="5134356"/>
            <a:ext cx="3638398" cy="476402"/>
          </a:xfrm>
          <a:prstGeom prst="roundRect">
            <a:avLst>
              <a:gd name="adj" fmla="val 30710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2"/>
          <a:srcRect l="-80" r="-80"/>
          <a:stretch/>
        </p:blipFill>
        <p:spPr>
          <a:xfrm>
            <a:off x="7715707" y="5257800"/>
            <a:ext cx="286207" cy="228600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7552944" y="5820156"/>
            <a:ext cx="3638398" cy="476402"/>
          </a:xfrm>
          <a:prstGeom prst="roundRect">
            <a:avLst>
              <a:gd name="adj" fmla="val 30710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715707" y="5962802"/>
            <a:ext cx="190195" cy="190195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1047902" y="514807"/>
            <a:ext cx="40965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Overview</a:t>
            </a:r>
            <a:endParaRPr lang="en-US" sz="3600" dirty="0"/>
          </a:p>
        </p:txBody>
      </p:sp>
      <p:sp>
        <p:nvSpPr>
          <p:cNvPr id="34" name="Text 19"/>
          <p:cNvSpPr txBox="1"/>
          <p:nvPr/>
        </p:nvSpPr>
        <p:spPr>
          <a:xfrm>
            <a:off x="1047902" y="1123798"/>
            <a:ext cx="3439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Structure, Scope, and Key Objectives</a:t>
            </a:r>
            <a:endParaRPr lang="en-US" sz="1500" dirty="0"/>
          </a:p>
        </p:txBody>
      </p:sp>
      <p:sp>
        <p:nvSpPr>
          <p:cNvPr id="35" name="Text 20"/>
          <p:cNvSpPr txBox="1"/>
          <p:nvPr/>
        </p:nvSpPr>
        <p:spPr>
          <a:xfrm>
            <a:off x="1571854" y="1962302"/>
            <a:ext cx="11530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Hours</a:t>
            </a:r>
            <a:endParaRPr lang="en-US" sz="1800" dirty="0"/>
          </a:p>
        </p:txBody>
      </p:sp>
      <p:sp>
        <p:nvSpPr>
          <p:cNvPr id="36" name="Text 21"/>
          <p:cNvSpPr txBox="1"/>
          <p:nvPr/>
        </p:nvSpPr>
        <p:spPr>
          <a:xfrm>
            <a:off x="1571854" y="2305202"/>
            <a:ext cx="16431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2-Day Intensive Training</a:t>
            </a:r>
            <a:endParaRPr lang="en-US" sz="1000" dirty="0"/>
          </a:p>
        </p:txBody>
      </p:sp>
      <p:sp>
        <p:nvSpPr>
          <p:cNvPr id="37" name="Text 22"/>
          <p:cNvSpPr txBox="1"/>
          <p:nvPr/>
        </p:nvSpPr>
        <p:spPr>
          <a:xfrm>
            <a:off x="1571854" y="2495398"/>
            <a:ext cx="10341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(8 hours / day)</a:t>
            </a:r>
            <a:endParaRPr lang="en-US" sz="1000" dirty="0"/>
          </a:p>
        </p:txBody>
      </p:sp>
      <p:sp>
        <p:nvSpPr>
          <p:cNvPr id="38" name="Text 23"/>
          <p:cNvSpPr txBox="1"/>
          <p:nvPr/>
        </p:nvSpPr>
        <p:spPr>
          <a:xfrm>
            <a:off x="4733849" y="1962302"/>
            <a:ext cx="9144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Labs</a:t>
            </a:r>
            <a:endParaRPr lang="en-US" sz="1800" dirty="0"/>
          </a:p>
        </p:txBody>
      </p:sp>
      <p:sp>
        <p:nvSpPr>
          <p:cNvPr id="39" name="Text 24"/>
          <p:cNvSpPr txBox="1"/>
          <p:nvPr/>
        </p:nvSpPr>
        <p:spPr>
          <a:xfrm>
            <a:off x="4733849" y="2305202"/>
            <a:ext cx="13295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Sessions</a:t>
            </a:r>
            <a:endParaRPr lang="en-US" sz="1000" dirty="0"/>
          </a:p>
        </p:txBody>
      </p:sp>
      <p:sp>
        <p:nvSpPr>
          <p:cNvPr id="40" name="Text 25"/>
          <p:cNvSpPr txBox="1"/>
          <p:nvPr/>
        </p:nvSpPr>
        <p:spPr>
          <a:xfrm>
            <a:off x="4733849" y="2495398"/>
            <a:ext cx="13002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Working Code</a:t>
            </a:r>
            <a:endParaRPr lang="en-US" sz="1000" dirty="0"/>
          </a:p>
        </p:txBody>
      </p:sp>
      <p:sp>
        <p:nvSpPr>
          <p:cNvPr id="41" name="Text 26"/>
          <p:cNvSpPr txBox="1"/>
          <p:nvPr/>
        </p:nvSpPr>
        <p:spPr>
          <a:xfrm>
            <a:off x="1000354" y="3576218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SCALE &amp; SCOPE</a:t>
            </a:r>
            <a:endParaRPr lang="en-US" sz="1000" dirty="0"/>
          </a:p>
        </p:txBody>
      </p:sp>
      <p:sp>
        <p:nvSpPr>
          <p:cNvPr id="42" name="Text 27"/>
          <p:cNvSpPr txBox="1"/>
          <p:nvPr/>
        </p:nvSpPr>
        <p:spPr>
          <a:xfrm>
            <a:off x="1723644" y="4071823"/>
            <a:ext cx="986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300+</a:t>
            </a:r>
            <a:endParaRPr lang="en-US" sz="2200" dirty="0"/>
          </a:p>
        </p:txBody>
      </p:sp>
      <p:sp>
        <p:nvSpPr>
          <p:cNvPr id="43" name="Text 28"/>
          <p:cNvSpPr txBox="1"/>
          <p:nvPr/>
        </p:nvSpPr>
        <p:spPr>
          <a:xfrm>
            <a:off x="1723644" y="4424782"/>
            <a:ext cx="11676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Eloquent Models</a:t>
            </a:r>
            <a:endParaRPr lang="en-US" sz="1000" dirty="0"/>
          </a:p>
        </p:txBody>
      </p:sp>
      <p:sp>
        <p:nvSpPr>
          <p:cNvPr id="44" name="Text 29"/>
          <p:cNvSpPr txBox="1"/>
          <p:nvPr/>
        </p:nvSpPr>
        <p:spPr>
          <a:xfrm>
            <a:off x="1723644" y="4833518"/>
            <a:ext cx="9765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500+</a:t>
            </a:r>
            <a:endParaRPr lang="en-US" sz="2200" dirty="0"/>
          </a:p>
        </p:txBody>
      </p:sp>
      <p:sp>
        <p:nvSpPr>
          <p:cNvPr id="45" name="Text 30"/>
          <p:cNvSpPr txBox="1"/>
          <p:nvPr/>
        </p:nvSpPr>
        <p:spPr>
          <a:xfrm>
            <a:off x="1723644" y="5186477"/>
            <a:ext cx="7955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Routes</a:t>
            </a:r>
            <a:endParaRPr lang="en-US" sz="1000" dirty="0"/>
          </a:p>
        </p:txBody>
      </p:sp>
      <p:sp>
        <p:nvSpPr>
          <p:cNvPr id="46" name="Text 31"/>
          <p:cNvSpPr txBox="1"/>
          <p:nvPr/>
        </p:nvSpPr>
        <p:spPr>
          <a:xfrm>
            <a:off x="1723644" y="5596128"/>
            <a:ext cx="7863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</a:t>
            </a:r>
            <a:endParaRPr lang="en-US" sz="2200" dirty="0"/>
          </a:p>
        </p:txBody>
      </p:sp>
      <p:sp>
        <p:nvSpPr>
          <p:cNvPr id="47" name="Text 32"/>
          <p:cNvSpPr txBox="1"/>
          <p:nvPr/>
        </p:nvSpPr>
        <p:spPr>
          <a:xfrm>
            <a:off x="1723644" y="5948172"/>
            <a:ext cx="14529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Examples</a:t>
            </a:r>
            <a:endParaRPr lang="en-US" sz="1000" dirty="0"/>
          </a:p>
        </p:txBody>
      </p:sp>
      <p:sp>
        <p:nvSpPr>
          <p:cNvPr id="48" name="Text 33"/>
          <p:cNvSpPr txBox="1"/>
          <p:nvPr/>
        </p:nvSpPr>
        <p:spPr>
          <a:xfrm>
            <a:off x="7905902" y="2009851"/>
            <a:ext cx="1686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Audience</a:t>
            </a:r>
            <a:endParaRPr lang="en-US" sz="1500" dirty="0"/>
          </a:p>
        </p:txBody>
      </p:sp>
      <p:sp>
        <p:nvSpPr>
          <p:cNvPr id="49" name="Text 34"/>
          <p:cNvSpPr txBox="1"/>
          <p:nvPr/>
        </p:nvSpPr>
        <p:spPr>
          <a:xfrm>
            <a:off x="7877556" y="2428646"/>
            <a:ext cx="1619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Developers</a:t>
            </a:r>
            <a:endParaRPr lang="en-US" sz="1200" dirty="0"/>
          </a:p>
        </p:txBody>
      </p:sp>
      <p:sp>
        <p:nvSpPr>
          <p:cNvPr id="50" name="Text 35"/>
          <p:cNvSpPr txBox="1"/>
          <p:nvPr/>
        </p:nvSpPr>
        <p:spPr>
          <a:xfrm>
            <a:off x="7877556" y="2771546"/>
            <a:ext cx="1448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Architects</a:t>
            </a:r>
            <a:endParaRPr lang="en-US" sz="1200" dirty="0"/>
          </a:p>
        </p:txBody>
      </p:sp>
      <p:sp>
        <p:nvSpPr>
          <p:cNvPr id="51" name="Text 36"/>
          <p:cNvSpPr txBox="1"/>
          <p:nvPr/>
        </p:nvSpPr>
        <p:spPr>
          <a:xfrm>
            <a:off x="7877556" y="3114446"/>
            <a:ext cx="1305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Leads</a:t>
            </a:r>
            <a:endParaRPr lang="en-US" sz="1200" dirty="0"/>
          </a:p>
        </p:txBody>
      </p:sp>
      <p:sp>
        <p:nvSpPr>
          <p:cNvPr id="52" name="Text 37"/>
          <p:cNvSpPr txBox="1"/>
          <p:nvPr/>
        </p:nvSpPr>
        <p:spPr>
          <a:xfrm>
            <a:off x="7886700" y="4048049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53" name="Text 38"/>
          <p:cNvSpPr txBox="1"/>
          <p:nvPr/>
        </p:nvSpPr>
        <p:spPr>
          <a:xfrm>
            <a:off x="8058607" y="4581144"/>
            <a:ext cx="103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Laravel 10</a:t>
            </a:r>
            <a:endParaRPr lang="en-US" sz="1200" dirty="0"/>
          </a:p>
        </p:txBody>
      </p:sp>
      <p:sp>
        <p:nvSpPr>
          <p:cNvPr id="54" name="Text 39"/>
          <p:cNvSpPr txBox="1"/>
          <p:nvPr/>
        </p:nvSpPr>
        <p:spPr>
          <a:xfrm>
            <a:off x="10189159" y="4610405"/>
            <a:ext cx="8577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</a:t>
            </a:r>
            <a:endParaRPr lang="en-US" sz="900" dirty="0"/>
          </a:p>
        </p:txBody>
      </p:sp>
      <p:sp>
        <p:nvSpPr>
          <p:cNvPr id="55" name="Text 40"/>
          <p:cNvSpPr txBox="1"/>
          <p:nvPr/>
        </p:nvSpPr>
        <p:spPr>
          <a:xfrm>
            <a:off x="8115300" y="5266944"/>
            <a:ext cx="8485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PHP 8.1+</a:t>
            </a:r>
            <a:endParaRPr lang="en-US" sz="1200" dirty="0"/>
          </a:p>
        </p:txBody>
      </p:sp>
      <p:sp>
        <p:nvSpPr>
          <p:cNvPr id="56" name="Text 41"/>
          <p:cNvSpPr txBox="1"/>
          <p:nvPr/>
        </p:nvSpPr>
        <p:spPr>
          <a:xfrm>
            <a:off x="10313518" y="5296205"/>
            <a:ext cx="7342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</a:t>
            </a:r>
            <a:endParaRPr lang="en-US" sz="900" dirty="0"/>
          </a:p>
        </p:txBody>
      </p:sp>
      <p:sp>
        <p:nvSpPr>
          <p:cNvPr id="57" name="Text 42"/>
          <p:cNvSpPr txBox="1"/>
          <p:nvPr/>
        </p:nvSpPr>
        <p:spPr>
          <a:xfrm>
            <a:off x="8020202" y="5952744"/>
            <a:ext cx="8485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API</a:t>
            </a:r>
            <a:endParaRPr lang="en-US" sz="1200" dirty="0"/>
          </a:p>
        </p:txBody>
      </p:sp>
      <p:sp>
        <p:nvSpPr>
          <p:cNvPr id="58" name="Text 43"/>
          <p:cNvSpPr txBox="1"/>
          <p:nvPr/>
        </p:nvSpPr>
        <p:spPr>
          <a:xfrm>
            <a:off x="10429646" y="5982005"/>
            <a:ext cx="619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</a:t>
            </a:r>
            <a:endParaRPr lang="en-US" sz="900" dirty="0"/>
          </a:p>
        </p:txBody>
      </p:sp>
      <p:sp>
        <p:nvSpPr>
          <p:cNvPr id="59" name="Text 44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2438705" y="-1429207"/>
            <a:ext cx="5715000" cy="5715000"/>
          </a:xfrm>
          <a:prstGeom prst="ellipse">
            <a:avLst/>
          </a:prstGeom>
          <a:solidFill>
            <a:srgbClr val="4F46E5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210605" y="4000500"/>
            <a:ext cx="4762195" cy="4762195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61695" y="571500"/>
            <a:ext cx="57607" cy="128564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1209751" y="671170"/>
            <a:ext cx="114300" cy="1335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99946" y="638251"/>
            <a:ext cx="5001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61695" y="2333549"/>
            <a:ext cx="5124298" cy="666598"/>
          </a:xfrm>
          <a:prstGeom prst="roundRect">
            <a:avLst>
              <a:gd name="adj" fmla="val 23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7"/>
          <p:cNvSpPr/>
          <p:nvPr/>
        </p:nvSpPr>
        <p:spPr>
          <a:xfrm>
            <a:off x="961949" y="2495398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1067105" y="2590495"/>
            <a:ext cx="133502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57707" y="3152851"/>
            <a:ext cx="5124298" cy="666598"/>
          </a:xfrm>
          <a:prstGeom prst="roundRect">
            <a:avLst>
              <a:gd name="adj" fmla="val 23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9"/>
          <p:cNvSpPr/>
          <p:nvPr/>
        </p:nvSpPr>
        <p:spPr>
          <a:xfrm>
            <a:off x="1057046" y="3314700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1162202" y="3409798"/>
            <a:ext cx="133502" cy="1527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61695" y="3972154"/>
            <a:ext cx="5124298" cy="666598"/>
          </a:xfrm>
          <a:prstGeom prst="roundRect">
            <a:avLst>
              <a:gd name="adj" fmla="val 23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1"/>
          <p:cNvSpPr/>
          <p:nvPr/>
        </p:nvSpPr>
        <p:spPr>
          <a:xfrm>
            <a:off x="961949" y="4134002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1067105" y="4229100"/>
            <a:ext cx="133502" cy="1527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57707" y="4791456"/>
            <a:ext cx="5124298" cy="666598"/>
          </a:xfrm>
          <a:prstGeom prst="roundRect">
            <a:avLst>
              <a:gd name="adj" fmla="val 23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3"/>
          <p:cNvSpPr/>
          <p:nvPr/>
        </p:nvSpPr>
        <p:spPr>
          <a:xfrm>
            <a:off x="1057046" y="4953305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1162202" y="5048402"/>
            <a:ext cx="133502" cy="15270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210605" y="2333549"/>
            <a:ext cx="5124298" cy="666598"/>
          </a:xfrm>
          <a:prstGeom prst="roundRect">
            <a:avLst>
              <a:gd name="adj" fmla="val 23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15"/>
          <p:cNvSpPr/>
          <p:nvPr/>
        </p:nvSpPr>
        <p:spPr>
          <a:xfrm>
            <a:off x="6409944" y="2495398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6515100" y="2590495"/>
            <a:ext cx="133502" cy="152705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305702" y="3152851"/>
            <a:ext cx="5124298" cy="666598"/>
          </a:xfrm>
          <a:prstGeom prst="roundRect">
            <a:avLst>
              <a:gd name="adj" fmla="val 23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17"/>
          <p:cNvSpPr/>
          <p:nvPr/>
        </p:nvSpPr>
        <p:spPr>
          <a:xfrm>
            <a:off x="6505956" y="3314700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6610198" y="3409798"/>
            <a:ext cx="133502" cy="152705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6210605" y="3972154"/>
            <a:ext cx="5124298" cy="666598"/>
          </a:xfrm>
          <a:prstGeom prst="roundRect">
            <a:avLst>
              <a:gd name="adj" fmla="val 23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Shape 19"/>
          <p:cNvSpPr/>
          <p:nvPr/>
        </p:nvSpPr>
        <p:spPr>
          <a:xfrm>
            <a:off x="6409944" y="4134002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6515100" y="4229100"/>
            <a:ext cx="133502" cy="152705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6305702" y="4791456"/>
            <a:ext cx="5124298" cy="666598"/>
          </a:xfrm>
          <a:prstGeom prst="roundRect">
            <a:avLst>
              <a:gd name="adj" fmla="val 23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1"/>
          <p:cNvSpPr/>
          <p:nvPr/>
        </p:nvSpPr>
        <p:spPr>
          <a:xfrm>
            <a:off x="6505956" y="4953305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6610198" y="5048402"/>
            <a:ext cx="133502" cy="152705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047902" y="571500"/>
            <a:ext cx="914400" cy="333756"/>
          </a:xfrm>
          <a:prstGeom prst="roundRect">
            <a:avLst>
              <a:gd name="adj" fmla="val 156556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23"/>
          <p:cNvSpPr txBox="1"/>
          <p:nvPr/>
        </p:nvSpPr>
        <p:spPr>
          <a:xfrm>
            <a:off x="1047902" y="1000354"/>
            <a:ext cx="45820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Outcomes</a:t>
            </a:r>
            <a:endParaRPr lang="en-US" sz="3600" dirty="0"/>
          </a:p>
        </p:txBody>
      </p:sp>
      <p:sp>
        <p:nvSpPr>
          <p:cNvPr id="35" name="Text 24"/>
          <p:cNvSpPr txBox="1"/>
          <p:nvPr/>
        </p:nvSpPr>
        <p:spPr>
          <a:xfrm>
            <a:off x="1047902" y="1609344"/>
            <a:ext cx="3848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&amp; Architecture Implementation</a:t>
            </a:r>
            <a:endParaRPr lang="en-US" sz="1500" dirty="0"/>
          </a:p>
        </p:txBody>
      </p:sp>
      <p:sp>
        <p:nvSpPr>
          <p:cNvPr id="36" name="Text 25"/>
          <p:cNvSpPr txBox="1"/>
          <p:nvPr/>
        </p:nvSpPr>
        <p:spPr>
          <a:xfrm>
            <a:off x="1457554" y="2565806"/>
            <a:ext cx="35579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complete project architecture</a:t>
            </a:r>
            <a:endParaRPr lang="en-US" sz="1300" dirty="0"/>
          </a:p>
        </p:txBody>
      </p:sp>
      <p:sp>
        <p:nvSpPr>
          <p:cNvPr id="37" name="Text 26"/>
          <p:cNvSpPr txBox="1"/>
          <p:nvPr/>
        </p:nvSpPr>
        <p:spPr>
          <a:xfrm>
            <a:off x="1552651" y="3385109"/>
            <a:ext cx="28629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with 300+ Eloquent models</a:t>
            </a:r>
            <a:endParaRPr lang="en-US" sz="1300" dirty="0"/>
          </a:p>
        </p:txBody>
      </p:sp>
      <p:sp>
        <p:nvSpPr>
          <p:cNvPr id="38" name="Text 27"/>
          <p:cNvSpPr txBox="1"/>
          <p:nvPr/>
        </p:nvSpPr>
        <p:spPr>
          <a:xfrm>
            <a:off x="1457554" y="4204411"/>
            <a:ext cx="33485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complex database relationships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1552651" y="5023714"/>
            <a:ext cx="32433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and optimize database queries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6905549" y="2565806"/>
            <a:ext cx="24149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RESTful API endpoints</a:t>
            </a:r>
            <a:endParaRPr lang="en-US" sz="1300" dirty="0"/>
          </a:p>
        </p:txBody>
      </p:sp>
      <p:sp>
        <p:nvSpPr>
          <p:cNvPr id="41" name="Text 30"/>
          <p:cNvSpPr txBox="1"/>
          <p:nvPr/>
        </p:nvSpPr>
        <p:spPr>
          <a:xfrm>
            <a:off x="7000646" y="3385109"/>
            <a:ext cx="35012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API responses with Resources</a:t>
            </a:r>
            <a:endParaRPr lang="en-US" sz="1300" dirty="0"/>
          </a:p>
        </p:txBody>
      </p:sp>
      <p:sp>
        <p:nvSpPr>
          <p:cNvPr id="42" name="Text 31"/>
          <p:cNvSpPr txBox="1"/>
          <p:nvPr/>
        </p:nvSpPr>
        <p:spPr>
          <a:xfrm>
            <a:off x="6905549" y="4204411"/>
            <a:ext cx="28629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robust input validation</a:t>
            </a:r>
            <a:endParaRPr lang="en-US" sz="1300" dirty="0"/>
          </a:p>
        </p:txBody>
      </p:sp>
      <p:sp>
        <p:nvSpPr>
          <p:cNvPr id="43" name="Text 32"/>
          <p:cNvSpPr txBox="1"/>
          <p:nvPr/>
        </p:nvSpPr>
        <p:spPr>
          <a:xfrm>
            <a:off x="7000646" y="5023714"/>
            <a:ext cx="30815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queries with eager loading</a:t>
            </a:r>
            <a:endParaRPr lang="en-US" sz="1300" dirty="0"/>
          </a:p>
        </p:txBody>
      </p:sp>
      <p:sp>
        <p:nvSpPr>
          <p:cNvPr id="44" name="Text 33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2438705" y="-1429207"/>
            <a:ext cx="5715000" cy="5715000"/>
          </a:xfrm>
          <a:prstGeom prst="ellipse">
            <a:avLst/>
          </a:prstGeom>
          <a:solidFill>
            <a:srgbClr val="4F46E5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210605" y="4000500"/>
            <a:ext cx="4762195" cy="4762195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61695" y="571500"/>
            <a:ext cx="57607" cy="128564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1209751" y="671170"/>
            <a:ext cx="114300" cy="1335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99946" y="638251"/>
            <a:ext cx="5001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61695" y="2333549"/>
            <a:ext cx="5124298" cy="666598"/>
          </a:xfrm>
          <a:prstGeom prst="roundRect">
            <a:avLst>
              <a:gd name="adj" fmla="val 23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7"/>
          <p:cNvSpPr/>
          <p:nvPr/>
        </p:nvSpPr>
        <p:spPr>
          <a:xfrm>
            <a:off x="961949" y="2495398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1067105" y="2590495"/>
            <a:ext cx="133502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57707" y="3152851"/>
            <a:ext cx="5124298" cy="666598"/>
          </a:xfrm>
          <a:prstGeom prst="roundRect">
            <a:avLst>
              <a:gd name="adj" fmla="val 23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9"/>
          <p:cNvSpPr/>
          <p:nvPr/>
        </p:nvSpPr>
        <p:spPr>
          <a:xfrm>
            <a:off x="1057046" y="3314700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1162202" y="3409798"/>
            <a:ext cx="133502" cy="1527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61695" y="3972154"/>
            <a:ext cx="5124298" cy="666598"/>
          </a:xfrm>
          <a:prstGeom prst="roundRect">
            <a:avLst>
              <a:gd name="adj" fmla="val 23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1"/>
          <p:cNvSpPr/>
          <p:nvPr/>
        </p:nvSpPr>
        <p:spPr>
          <a:xfrm>
            <a:off x="961949" y="4134002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1067105" y="4229100"/>
            <a:ext cx="133502" cy="1527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57707" y="4791456"/>
            <a:ext cx="5124298" cy="666598"/>
          </a:xfrm>
          <a:prstGeom prst="roundRect">
            <a:avLst>
              <a:gd name="adj" fmla="val 23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3"/>
          <p:cNvSpPr/>
          <p:nvPr/>
        </p:nvSpPr>
        <p:spPr>
          <a:xfrm>
            <a:off x="1057046" y="4953305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1162202" y="5048402"/>
            <a:ext cx="133502" cy="15270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210605" y="2333549"/>
            <a:ext cx="5124298" cy="666598"/>
          </a:xfrm>
          <a:prstGeom prst="roundRect">
            <a:avLst>
              <a:gd name="adj" fmla="val 23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15"/>
          <p:cNvSpPr/>
          <p:nvPr/>
        </p:nvSpPr>
        <p:spPr>
          <a:xfrm>
            <a:off x="6409944" y="2495398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6515100" y="2590495"/>
            <a:ext cx="133502" cy="152705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305702" y="3152851"/>
            <a:ext cx="5124298" cy="666598"/>
          </a:xfrm>
          <a:prstGeom prst="roundRect">
            <a:avLst>
              <a:gd name="adj" fmla="val 23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17"/>
          <p:cNvSpPr/>
          <p:nvPr/>
        </p:nvSpPr>
        <p:spPr>
          <a:xfrm>
            <a:off x="6505956" y="3314700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6610198" y="3409798"/>
            <a:ext cx="133502" cy="152705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6210605" y="3972154"/>
            <a:ext cx="5124298" cy="666598"/>
          </a:xfrm>
          <a:prstGeom prst="roundRect">
            <a:avLst>
              <a:gd name="adj" fmla="val 23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Shape 19"/>
          <p:cNvSpPr/>
          <p:nvPr/>
        </p:nvSpPr>
        <p:spPr>
          <a:xfrm>
            <a:off x="6409944" y="4134002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6515100" y="4229100"/>
            <a:ext cx="133502" cy="152705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6305702" y="4791456"/>
            <a:ext cx="5124298" cy="666598"/>
          </a:xfrm>
          <a:prstGeom prst="roundRect">
            <a:avLst>
              <a:gd name="adj" fmla="val 23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1"/>
          <p:cNvSpPr/>
          <p:nvPr/>
        </p:nvSpPr>
        <p:spPr>
          <a:xfrm>
            <a:off x="6505956" y="4953305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6610198" y="5048402"/>
            <a:ext cx="133502" cy="152705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1047902" y="571500"/>
            <a:ext cx="914400" cy="333756"/>
          </a:xfrm>
          <a:prstGeom prst="roundRect">
            <a:avLst>
              <a:gd name="adj" fmla="val 156556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23"/>
          <p:cNvSpPr txBox="1"/>
          <p:nvPr/>
        </p:nvSpPr>
        <p:spPr>
          <a:xfrm>
            <a:off x="1047902" y="1000354"/>
            <a:ext cx="45820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Outcomes</a:t>
            </a:r>
            <a:endParaRPr lang="en-US" sz="3600" dirty="0"/>
          </a:p>
        </p:txBody>
      </p:sp>
      <p:sp>
        <p:nvSpPr>
          <p:cNvPr id="35" name="Text 24"/>
          <p:cNvSpPr txBox="1"/>
          <p:nvPr/>
        </p:nvSpPr>
        <p:spPr>
          <a:xfrm>
            <a:off x="1047902" y="1609344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Patterns &amp; Implementation</a:t>
            </a:r>
            <a:endParaRPr lang="en-US" sz="1500" dirty="0"/>
          </a:p>
        </p:txBody>
      </p:sp>
      <p:sp>
        <p:nvSpPr>
          <p:cNvPr id="36" name="Text 25"/>
          <p:cNvSpPr txBox="1"/>
          <p:nvPr/>
        </p:nvSpPr>
        <p:spPr>
          <a:xfrm>
            <a:off x="1457554" y="2565806"/>
            <a:ext cx="39867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JWT &amp; Keycloak SSO authentication</a:t>
            </a:r>
            <a:endParaRPr lang="en-US" sz="1300" dirty="0"/>
          </a:p>
        </p:txBody>
      </p:sp>
      <p:sp>
        <p:nvSpPr>
          <p:cNvPr id="37" name="Text 26"/>
          <p:cNvSpPr txBox="1"/>
          <p:nvPr/>
        </p:nvSpPr>
        <p:spPr>
          <a:xfrm>
            <a:off x="1552651" y="3385109"/>
            <a:ext cx="33576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permission-based authorization</a:t>
            </a:r>
            <a:endParaRPr lang="en-US" sz="1300" dirty="0"/>
          </a:p>
        </p:txBody>
      </p:sp>
      <p:sp>
        <p:nvSpPr>
          <p:cNvPr id="38" name="Text 27"/>
          <p:cNvSpPr txBox="1"/>
          <p:nvPr/>
        </p:nvSpPr>
        <p:spPr>
          <a:xfrm>
            <a:off x="1457554" y="4204411"/>
            <a:ext cx="33869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complex business logic services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1552651" y="5023714"/>
            <a:ext cx="35295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file uploads &amp; media management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6905549" y="2565806"/>
            <a:ext cx="25008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data to Excel and PDF</a:t>
            </a:r>
            <a:endParaRPr lang="en-US" sz="1300" dirty="0"/>
          </a:p>
        </p:txBody>
      </p:sp>
      <p:sp>
        <p:nvSpPr>
          <p:cNvPr id="41" name="Text 30"/>
          <p:cNvSpPr txBox="1"/>
          <p:nvPr/>
        </p:nvSpPr>
        <p:spPr>
          <a:xfrm>
            <a:off x="7000646" y="3385109"/>
            <a:ext cx="34344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robust database transactions</a:t>
            </a:r>
            <a:endParaRPr lang="en-US" sz="1300" dirty="0"/>
          </a:p>
        </p:txBody>
      </p:sp>
      <p:sp>
        <p:nvSpPr>
          <p:cNvPr id="42" name="Text 31"/>
          <p:cNvSpPr txBox="1"/>
          <p:nvPr/>
        </p:nvSpPr>
        <p:spPr>
          <a:xfrm>
            <a:off x="6905549" y="4204411"/>
            <a:ext cx="37865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performance &amp; avoid N+1 problems</a:t>
            </a:r>
            <a:endParaRPr lang="en-US" sz="1300" dirty="0"/>
          </a:p>
        </p:txBody>
      </p:sp>
      <p:sp>
        <p:nvSpPr>
          <p:cNvPr id="43" name="Text 32"/>
          <p:cNvSpPr txBox="1"/>
          <p:nvPr/>
        </p:nvSpPr>
        <p:spPr>
          <a:xfrm>
            <a:off x="7000646" y="5023714"/>
            <a:ext cx="28053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event-driven architecture</a:t>
            </a:r>
            <a:endParaRPr lang="en-US" sz="1300" dirty="0"/>
          </a:p>
        </p:txBody>
      </p:sp>
      <p:sp>
        <p:nvSpPr>
          <p:cNvPr id="44" name="Text 33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3771900" y="-952805"/>
            <a:ext cx="4762195" cy="476219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1218895" y="4476902"/>
            <a:ext cx="3810305" cy="3810305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61695" y="1485900"/>
            <a:ext cx="5143500" cy="4895698"/>
          </a:xfrm>
          <a:prstGeom prst="roundRect">
            <a:avLst>
              <a:gd name="adj" fmla="val 72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771754" y="1495044"/>
            <a:ext cx="5124298" cy="847649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771754" y="2333549"/>
            <a:ext cx="5124298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1000354" y="168615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3856" y="1819656"/>
            <a:ext cx="190195" cy="190195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9880" r="-9880"/>
          <a:stretch/>
        </p:blipFill>
        <p:spPr>
          <a:xfrm>
            <a:off x="1114654" y="2704795"/>
            <a:ext cx="228600" cy="152705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24850" r="-24850"/>
          <a:stretch/>
        </p:blipFill>
        <p:spPr>
          <a:xfrm>
            <a:off x="1114654" y="3276295"/>
            <a:ext cx="228600" cy="152705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35543" r="-35543"/>
          <a:stretch/>
        </p:blipFill>
        <p:spPr>
          <a:xfrm>
            <a:off x="1114654" y="3847795"/>
            <a:ext cx="228600" cy="152705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l="-24850" r="-24850"/>
          <a:stretch/>
        </p:blipFill>
        <p:spPr>
          <a:xfrm>
            <a:off x="1114654" y="4419295"/>
            <a:ext cx="228600" cy="15270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 l="-16534" r="-16534"/>
          <a:stretch/>
        </p:blipFill>
        <p:spPr>
          <a:xfrm>
            <a:off x="1114654" y="4990795"/>
            <a:ext cx="228600" cy="152705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rcRect l="-16534" r="-16534"/>
          <a:stretch/>
        </p:blipFill>
        <p:spPr>
          <a:xfrm>
            <a:off x="1114654" y="5562295"/>
            <a:ext cx="228600" cy="152705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6286500" y="1485900"/>
            <a:ext cx="5143500" cy="4895698"/>
          </a:xfrm>
          <a:prstGeom prst="roundRect">
            <a:avLst>
              <a:gd name="adj" fmla="val 72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8" name="Shape 9"/>
          <p:cNvSpPr/>
          <p:nvPr/>
        </p:nvSpPr>
        <p:spPr>
          <a:xfrm>
            <a:off x="6295644" y="1495044"/>
            <a:ext cx="5124298" cy="847649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Shape 10"/>
          <p:cNvSpPr/>
          <p:nvPr/>
        </p:nvSpPr>
        <p:spPr>
          <a:xfrm>
            <a:off x="6295644" y="2333549"/>
            <a:ext cx="5124298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33972" y="1819656"/>
            <a:ext cx="237744" cy="190195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rcRect l="-9880" r="-9880"/>
          <a:stretch/>
        </p:blipFill>
        <p:spPr>
          <a:xfrm>
            <a:off x="6638544" y="2704795"/>
            <a:ext cx="228600" cy="152705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2"/>
          <a:srcRect l="-24850" r="-24850"/>
          <a:stretch/>
        </p:blipFill>
        <p:spPr>
          <a:xfrm>
            <a:off x="6638544" y="3276295"/>
            <a:ext cx="228600" cy="152705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3"/>
          <a:srcRect l="-35543" r="-35543"/>
          <a:stretch/>
        </p:blipFill>
        <p:spPr>
          <a:xfrm>
            <a:off x="6638544" y="3847795"/>
            <a:ext cx="228600" cy="152705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4"/>
          <a:srcRect l="-9880" r="-9880"/>
          <a:stretch/>
        </p:blipFill>
        <p:spPr>
          <a:xfrm>
            <a:off x="6638544" y="4419295"/>
            <a:ext cx="228600" cy="152705"/>
          </a:xfrm>
          <a:prstGeom prst="rect">
            <a:avLst/>
          </a:prstGeom>
        </p:spPr>
      </p:pic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15"/>
          <a:srcRect l="-35543" r="-35543"/>
          <a:stretch/>
        </p:blipFill>
        <p:spPr>
          <a:xfrm>
            <a:off x="6638544" y="4990795"/>
            <a:ext cx="228600" cy="152705"/>
          </a:xfrm>
          <a:prstGeom prst="rect">
            <a:avLst/>
          </a:prstGeom>
        </p:spPr>
      </p:pic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6"/>
          <a:srcRect l="-24850" r="-24850"/>
          <a:stretch/>
        </p:blipFill>
        <p:spPr>
          <a:xfrm>
            <a:off x="6638544" y="5562295"/>
            <a:ext cx="228600" cy="152705"/>
          </a:xfrm>
          <a:prstGeom prst="rect">
            <a:avLst/>
          </a:prstGeom>
        </p:spPr>
      </p:pic>
      <p:sp>
        <p:nvSpPr>
          <p:cNvPr id="27" name="Text 11"/>
          <p:cNvSpPr txBox="1"/>
          <p:nvPr/>
        </p:nvSpPr>
        <p:spPr>
          <a:xfrm>
            <a:off x="4286707" y="457200"/>
            <a:ext cx="38770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Pre-requisites &amp; Setup</a:t>
            </a:r>
            <a:endParaRPr lang="en-US" sz="2700" dirty="0"/>
          </a:p>
        </p:txBody>
      </p:sp>
      <p:sp>
        <p:nvSpPr>
          <p:cNvPr id="28" name="Text 12"/>
          <p:cNvSpPr txBox="1"/>
          <p:nvPr/>
        </p:nvSpPr>
        <p:spPr>
          <a:xfrm>
            <a:off x="4085539" y="961949"/>
            <a:ext cx="41577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your environment for the training sessions</a:t>
            </a:r>
            <a:endParaRPr lang="en-US" sz="1300" dirty="0"/>
          </a:p>
        </p:txBody>
      </p:sp>
      <p:sp>
        <p:nvSpPr>
          <p:cNvPr id="29" name="Text 13"/>
          <p:cNvSpPr txBox="1"/>
          <p:nvPr/>
        </p:nvSpPr>
        <p:spPr>
          <a:xfrm>
            <a:off x="1609344" y="1705356"/>
            <a:ext cx="2076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Knowledge</a:t>
            </a:r>
            <a:endParaRPr lang="en-US" sz="1500" dirty="0"/>
          </a:p>
        </p:txBody>
      </p:sp>
      <p:sp>
        <p:nvSpPr>
          <p:cNvPr id="30" name="Text 14"/>
          <p:cNvSpPr txBox="1"/>
          <p:nvPr/>
        </p:nvSpPr>
        <p:spPr>
          <a:xfrm>
            <a:off x="1609344" y="1962302"/>
            <a:ext cx="11960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&amp; Concepts</a:t>
            </a:r>
            <a:endParaRPr lang="en-US" sz="1000" dirty="0"/>
          </a:p>
        </p:txBody>
      </p:sp>
      <p:sp>
        <p:nvSpPr>
          <p:cNvPr id="31" name="Text 15"/>
          <p:cNvSpPr txBox="1"/>
          <p:nvPr/>
        </p:nvSpPr>
        <p:spPr>
          <a:xfrm>
            <a:off x="1495044" y="2686507"/>
            <a:ext cx="1276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PHP 8.1+ Basics</a:t>
            </a:r>
            <a:endParaRPr lang="en-US" sz="1200" dirty="0"/>
          </a:p>
        </p:txBody>
      </p:sp>
      <p:sp>
        <p:nvSpPr>
          <p:cNvPr id="32" name="Text 16"/>
          <p:cNvSpPr txBox="1"/>
          <p:nvPr/>
        </p:nvSpPr>
        <p:spPr>
          <a:xfrm>
            <a:off x="1495044" y="3258007"/>
            <a:ext cx="20674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Laravel 9/10 Fundamentals</a:t>
            </a:r>
            <a:endParaRPr lang="en-US" sz="1200" dirty="0"/>
          </a:p>
        </p:txBody>
      </p:sp>
      <p:sp>
        <p:nvSpPr>
          <p:cNvPr id="33" name="Text 17"/>
          <p:cNvSpPr txBox="1"/>
          <p:nvPr/>
        </p:nvSpPr>
        <p:spPr>
          <a:xfrm>
            <a:off x="1495044" y="3829507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Concepts</a:t>
            </a:r>
            <a:endParaRPr lang="en-US" sz="1200" dirty="0"/>
          </a:p>
        </p:txBody>
      </p:sp>
      <p:sp>
        <p:nvSpPr>
          <p:cNvPr id="34" name="Text 18"/>
          <p:cNvSpPr txBox="1"/>
          <p:nvPr/>
        </p:nvSpPr>
        <p:spPr>
          <a:xfrm>
            <a:off x="1495044" y="4401007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 Basics</a:t>
            </a:r>
            <a:endParaRPr lang="en-US" sz="1200" dirty="0"/>
          </a:p>
        </p:txBody>
      </p:sp>
      <p:sp>
        <p:nvSpPr>
          <p:cNvPr id="35" name="Text 19"/>
          <p:cNvSpPr txBox="1"/>
          <p:nvPr/>
        </p:nvSpPr>
        <p:spPr>
          <a:xfrm>
            <a:off x="1495044" y="4972507"/>
            <a:ext cx="2315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Object-Oriented Programming</a:t>
            </a:r>
            <a:endParaRPr lang="en-US" sz="1200" dirty="0"/>
          </a:p>
        </p:txBody>
      </p:sp>
      <p:sp>
        <p:nvSpPr>
          <p:cNvPr id="36" name="Text 20"/>
          <p:cNvSpPr txBox="1"/>
          <p:nvPr/>
        </p:nvSpPr>
        <p:spPr>
          <a:xfrm>
            <a:off x="1495044" y="5544007"/>
            <a:ext cx="1705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Command-line Usage</a:t>
            </a:r>
            <a:endParaRPr lang="en-US" sz="1200" dirty="0"/>
          </a:p>
        </p:txBody>
      </p:sp>
      <p:sp>
        <p:nvSpPr>
          <p:cNvPr id="37" name="Text 21"/>
          <p:cNvSpPr txBox="1"/>
          <p:nvPr/>
        </p:nvSpPr>
        <p:spPr>
          <a:xfrm>
            <a:off x="7134149" y="1705356"/>
            <a:ext cx="1867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Software</a:t>
            </a:r>
            <a:endParaRPr lang="en-US" sz="1500" dirty="0"/>
          </a:p>
        </p:txBody>
      </p:sp>
      <p:sp>
        <p:nvSpPr>
          <p:cNvPr id="38" name="Text 22"/>
          <p:cNvSpPr txBox="1"/>
          <p:nvPr/>
        </p:nvSpPr>
        <p:spPr>
          <a:xfrm>
            <a:off x="7134149" y="1962302"/>
            <a:ext cx="13962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&amp; Environment</a:t>
            </a:r>
            <a:endParaRPr lang="en-US" sz="1000" dirty="0"/>
          </a:p>
        </p:txBody>
      </p:sp>
      <p:sp>
        <p:nvSpPr>
          <p:cNvPr id="39" name="Text 23"/>
          <p:cNvSpPr txBox="1"/>
          <p:nvPr/>
        </p:nvSpPr>
        <p:spPr>
          <a:xfrm>
            <a:off x="7019849" y="2686507"/>
            <a:ext cx="1353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PHP 8.1 or higher</a:t>
            </a:r>
            <a:endParaRPr lang="en-US" sz="1200" dirty="0"/>
          </a:p>
        </p:txBody>
      </p:sp>
      <p:sp>
        <p:nvSpPr>
          <p:cNvPr id="40" name="Text 24"/>
          <p:cNvSpPr txBox="1"/>
          <p:nvPr/>
        </p:nvSpPr>
        <p:spPr>
          <a:xfrm>
            <a:off x="7019849" y="3258007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Composer v2+</a:t>
            </a:r>
            <a:endParaRPr lang="en-US" sz="1200" dirty="0"/>
          </a:p>
        </p:txBody>
      </p:sp>
      <p:sp>
        <p:nvSpPr>
          <p:cNvPr id="41" name="Text 25"/>
          <p:cNvSpPr txBox="1"/>
          <p:nvPr/>
        </p:nvSpPr>
        <p:spPr>
          <a:xfrm>
            <a:off x="7019849" y="3829507"/>
            <a:ext cx="1772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</a:p>
        </p:txBody>
      </p:sp>
      <p:sp>
        <p:nvSpPr>
          <p:cNvPr id="42" name="Text 26"/>
          <p:cNvSpPr txBox="1"/>
          <p:nvPr/>
        </p:nvSpPr>
        <p:spPr>
          <a:xfrm>
            <a:off x="7019849" y="4401007"/>
            <a:ext cx="1752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 or similar IDE</a:t>
            </a:r>
            <a:endParaRPr lang="en-US" sz="1200" dirty="0"/>
          </a:p>
        </p:txBody>
      </p:sp>
      <p:sp>
        <p:nvSpPr>
          <p:cNvPr id="43" name="Text 27"/>
          <p:cNvSpPr txBox="1"/>
          <p:nvPr/>
        </p:nvSpPr>
        <p:spPr>
          <a:xfrm>
            <a:off x="7019849" y="4972507"/>
            <a:ext cx="1495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Version Control</a:t>
            </a:r>
            <a:endParaRPr lang="en-US" sz="1200" dirty="0"/>
          </a:p>
        </p:txBody>
      </p:sp>
      <p:sp>
        <p:nvSpPr>
          <p:cNvPr id="44" name="Text 28"/>
          <p:cNvSpPr txBox="1"/>
          <p:nvPr/>
        </p:nvSpPr>
        <p:spPr>
          <a:xfrm>
            <a:off x="7019849" y="5544007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Postman / Insomnia</a:t>
            </a:r>
            <a:endParaRPr lang="en-US" sz="1200" dirty="0"/>
          </a:p>
        </p:txBody>
      </p:sp>
      <p:sp>
        <p:nvSpPr>
          <p:cNvPr id="45" name="Text 29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3238805" y="-952805"/>
            <a:ext cx="5715000" cy="57150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0" y="6365138"/>
            <a:ext cx="12191695" cy="523951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0" y="6365138"/>
            <a:ext cx="12191695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68703" y="6537046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74113" y="6537046"/>
            <a:ext cx="80677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 Understanding system architecture, building basic functionality, and optimizing database interactions.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" y="1258214"/>
            <a:ext cx="11048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571500" y="362102"/>
            <a:ext cx="26956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Schedule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571500" y="828446"/>
            <a:ext cx="22622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&amp; Architecture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904695" y="1695298"/>
            <a:ext cx="19202" cy="4076395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2029054" y="1888236"/>
            <a:ext cx="133502" cy="133502"/>
          </a:xfrm>
          <a:prstGeom prst="ellipse">
            <a:avLst/>
          </a:prstGeom>
          <a:solidFill>
            <a:srgbClr val="0F172A"/>
          </a:solidFill>
          <a:ln w="381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2476195" y="1552651"/>
            <a:ext cx="8953805" cy="809244"/>
          </a:xfrm>
          <a:prstGeom prst="roundRect">
            <a:avLst>
              <a:gd name="adj" fmla="val 15952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2"/>
          <p:cNvSpPr txBox="1"/>
          <p:nvPr/>
        </p:nvSpPr>
        <p:spPr>
          <a:xfrm>
            <a:off x="1018642" y="1750162"/>
            <a:ext cx="71689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09:00 - 10:30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704795" y="1742846"/>
            <a:ext cx="37673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1.1: Project Overview &amp; Architecture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704795" y="2018995"/>
            <a:ext cx="3770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design principles • Folder structure • Request lifecycle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029054" y="2807208"/>
            <a:ext cx="133502" cy="133502"/>
          </a:xfrm>
          <a:prstGeom prst="ellipse">
            <a:avLst/>
          </a:prstGeom>
          <a:solidFill>
            <a:srgbClr val="0F172A"/>
          </a:solidFill>
          <a:ln w="381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6"/>
          <p:cNvSpPr/>
          <p:nvPr/>
        </p:nvSpPr>
        <p:spPr>
          <a:xfrm>
            <a:off x="2476195" y="2471623"/>
            <a:ext cx="8953805" cy="809244"/>
          </a:xfrm>
          <a:prstGeom prst="roundRect">
            <a:avLst>
              <a:gd name="adj" fmla="val 15952"/>
            </a:avLst>
          </a:prstGeom>
          <a:solidFill>
            <a:srgbClr val="F59E0B">
              <a:alpha val="5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Shape 17"/>
          <p:cNvSpPr/>
          <p:nvPr/>
        </p:nvSpPr>
        <p:spPr>
          <a:xfrm>
            <a:off x="10378440" y="2740457"/>
            <a:ext cx="857707" cy="267005"/>
          </a:xfrm>
          <a:prstGeom prst="roundRect">
            <a:avLst>
              <a:gd name="adj" fmla="val 73385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10483596" y="2817266"/>
            <a:ext cx="105156" cy="1143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0645445" y="2788006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1.1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018642" y="2669134"/>
            <a:ext cx="71689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10:45 - 12:15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2704795" y="2661818"/>
            <a:ext cx="35295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1.2: Database &amp; Eloquent Models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2704795" y="2938882"/>
            <a:ext cx="30458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 design • Relationships • Model factories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029054" y="3727094"/>
            <a:ext cx="133502" cy="133502"/>
          </a:xfrm>
          <a:prstGeom prst="ellipse">
            <a:avLst/>
          </a:prstGeom>
          <a:solidFill>
            <a:srgbClr val="0F172A"/>
          </a:solidFill>
          <a:ln w="381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Shape 23"/>
          <p:cNvSpPr/>
          <p:nvPr/>
        </p:nvSpPr>
        <p:spPr>
          <a:xfrm>
            <a:off x="2476195" y="3390595"/>
            <a:ext cx="8953805" cy="809244"/>
          </a:xfrm>
          <a:prstGeom prst="roundRect">
            <a:avLst>
              <a:gd name="adj" fmla="val 15952"/>
            </a:avLst>
          </a:prstGeom>
          <a:solidFill>
            <a:srgbClr val="F59E0B">
              <a:alpha val="5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Shape 24"/>
          <p:cNvSpPr/>
          <p:nvPr/>
        </p:nvSpPr>
        <p:spPr>
          <a:xfrm>
            <a:off x="10378440" y="3660343"/>
            <a:ext cx="857707" cy="267005"/>
          </a:xfrm>
          <a:prstGeom prst="roundRect">
            <a:avLst>
              <a:gd name="adj" fmla="val 73385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10483596" y="3736238"/>
            <a:ext cx="105156" cy="1143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0645445" y="3707892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1.2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018642" y="3588106"/>
            <a:ext cx="71689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01:00 - 03:00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2704795" y="3581705"/>
            <a:ext cx="30339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1.3: Building API Endpoints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2704795" y="3857854"/>
            <a:ext cx="27130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Controllers • Resources • Requests • Routes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2029054" y="4646066"/>
            <a:ext cx="133502" cy="133502"/>
          </a:xfrm>
          <a:prstGeom prst="ellipse">
            <a:avLst/>
          </a:prstGeom>
          <a:solidFill>
            <a:srgbClr val="0F172A"/>
          </a:solidFill>
          <a:ln w="381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30"/>
          <p:cNvSpPr/>
          <p:nvPr/>
        </p:nvSpPr>
        <p:spPr>
          <a:xfrm>
            <a:off x="2476195" y="4310482"/>
            <a:ext cx="8953805" cy="809244"/>
          </a:xfrm>
          <a:prstGeom prst="roundRect">
            <a:avLst>
              <a:gd name="adj" fmla="val 15952"/>
            </a:avLst>
          </a:prstGeom>
          <a:solidFill>
            <a:srgbClr val="F59E0B">
              <a:alpha val="5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Shape 31"/>
          <p:cNvSpPr/>
          <p:nvPr/>
        </p:nvSpPr>
        <p:spPr>
          <a:xfrm>
            <a:off x="10378440" y="4579315"/>
            <a:ext cx="857707" cy="267005"/>
          </a:xfrm>
          <a:prstGeom prst="roundRect">
            <a:avLst>
              <a:gd name="adj" fmla="val 73385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10483596" y="4655210"/>
            <a:ext cx="105156" cy="11430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10645445" y="4626864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1.3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1018642" y="4507992"/>
            <a:ext cx="71689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03:15 - 04:45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2704795" y="4500677"/>
            <a:ext cx="27770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1.4: Query Optimization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2704795" y="4776826"/>
            <a:ext cx="33512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Eager loading • Debugging N+1 • Performance profiling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2029054" y="5565038"/>
            <a:ext cx="133502" cy="133502"/>
          </a:xfrm>
          <a:prstGeom prst="ellipse">
            <a:avLst/>
          </a:prstGeom>
          <a:solidFill>
            <a:srgbClr val="0F172A"/>
          </a:solidFill>
          <a:ln w="381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Shape 37"/>
          <p:cNvSpPr/>
          <p:nvPr/>
        </p:nvSpPr>
        <p:spPr>
          <a:xfrm>
            <a:off x="2476195" y="5229454"/>
            <a:ext cx="8953805" cy="809244"/>
          </a:xfrm>
          <a:prstGeom prst="roundRect">
            <a:avLst>
              <a:gd name="adj" fmla="val 15952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38"/>
          <p:cNvSpPr txBox="1"/>
          <p:nvPr/>
        </p:nvSpPr>
        <p:spPr>
          <a:xfrm>
            <a:off x="1018642" y="5426964"/>
            <a:ext cx="71689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04:45 - 05:45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2704795" y="5419649"/>
            <a:ext cx="24624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1.5: Wrap-up &amp; Q&amp;A</a:t>
            </a:r>
            <a:endParaRPr lang="en-US" sz="1300" dirty="0"/>
          </a:p>
        </p:txBody>
      </p:sp>
      <p:sp>
        <p:nvSpPr>
          <p:cNvPr id="46" name="Text 40"/>
          <p:cNvSpPr txBox="1"/>
          <p:nvPr/>
        </p:nvSpPr>
        <p:spPr>
          <a:xfrm>
            <a:off x="2704795" y="5695798"/>
            <a:ext cx="31702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review • Implementation challenges discussion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10465308" y="6344107"/>
            <a:ext cx="1543507" cy="323698"/>
          </a:xfrm>
          <a:prstGeom prst="roundRect">
            <a:avLst>
              <a:gd name="adj" fmla="val 33234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10465308" y="6344107"/>
            <a:ext cx="1543507" cy="323698"/>
          </a:xfrm>
          <a:prstGeom prst="roundRect">
            <a:avLst>
              <a:gd name="adj" fmla="val 33234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3238805" y="-952805"/>
            <a:ext cx="5715000" cy="5715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0" y="6334049"/>
            <a:ext cx="12191695" cy="523951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0" y="6334049"/>
            <a:ext cx="12191695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3123" y="6505956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48533" y="6505956"/>
            <a:ext cx="59152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 Complex operations, real-world implementation, and advanced patterns.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" y="1258214"/>
            <a:ext cx="11048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 txBox="1"/>
          <p:nvPr/>
        </p:nvSpPr>
        <p:spPr>
          <a:xfrm>
            <a:off x="571500" y="362102"/>
            <a:ext cx="27624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Schedule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571500" y="828446"/>
            <a:ext cx="31674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Patterns &amp; Implementation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904695" y="1600200"/>
            <a:ext cx="19202" cy="397215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2029054" y="1773936"/>
            <a:ext cx="133502" cy="133502"/>
          </a:xfrm>
          <a:prstGeom prst="ellipse">
            <a:avLst/>
          </a:prstGeom>
          <a:solidFill>
            <a:srgbClr val="0F172A"/>
          </a:solidFill>
          <a:ln w="381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2476195" y="1457554"/>
            <a:ext cx="8953805" cy="771754"/>
          </a:xfrm>
          <a:prstGeom prst="roundRect">
            <a:avLst>
              <a:gd name="adj" fmla="val 17553"/>
            </a:avLst>
          </a:prstGeom>
          <a:solidFill>
            <a:srgbClr val="F59E0B">
              <a:alpha val="5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2"/>
          <p:cNvSpPr/>
          <p:nvPr/>
        </p:nvSpPr>
        <p:spPr>
          <a:xfrm>
            <a:off x="10378440" y="1707185"/>
            <a:ext cx="857707" cy="267005"/>
          </a:xfrm>
          <a:prstGeom prst="roundRect">
            <a:avLst>
              <a:gd name="adj" fmla="val 73385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10483596" y="1783994"/>
            <a:ext cx="105156" cy="1143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645445" y="1754734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2.1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018642" y="1635862"/>
            <a:ext cx="71689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09:00 - 10:30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2704795" y="1628546"/>
            <a:ext cx="36914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2.1: Authentication &amp; Authorization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2704795" y="1904695"/>
            <a:ext cx="39227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• Keycloak SSO • RBAC Implementation • Spatie Permission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029054" y="2663647"/>
            <a:ext cx="133502" cy="133502"/>
          </a:xfrm>
          <a:prstGeom prst="ellipse">
            <a:avLst/>
          </a:prstGeom>
          <a:solidFill>
            <a:srgbClr val="0F172A"/>
          </a:solidFill>
          <a:ln w="381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18"/>
          <p:cNvSpPr/>
          <p:nvPr/>
        </p:nvSpPr>
        <p:spPr>
          <a:xfrm>
            <a:off x="2476195" y="2346350"/>
            <a:ext cx="8953805" cy="771754"/>
          </a:xfrm>
          <a:prstGeom prst="roundRect">
            <a:avLst>
              <a:gd name="adj" fmla="val 17553"/>
            </a:avLst>
          </a:prstGeom>
          <a:solidFill>
            <a:srgbClr val="F59E0B">
              <a:alpha val="5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19"/>
          <p:cNvSpPr/>
          <p:nvPr/>
        </p:nvSpPr>
        <p:spPr>
          <a:xfrm>
            <a:off x="10378440" y="2596896"/>
            <a:ext cx="857707" cy="267005"/>
          </a:xfrm>
          <a:prstGeom prst="roundRect">
            <a:avLst>
              <a:gd name="adj" fmla="val 73385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10483596" y="2672791"/>
            <a:ext cx="105156" cy="1143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0645445" y="2644445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2.2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018642" y="2525573"/>
            <a:ext cx="71689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10:45 - 12:15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2704795" y="2518258"/>
            <a:ext cx="3777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2.2: Service Layer &amp; Business Logic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2704795" y="2794406"/>
            <a:ext cx="36457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Pattern • Transaction Management • Business Rules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2029054" y="3552444"/>
            <a:ext cx="133502" cy="133502"/>
          </a:xfrm>
          <a:prstGeom prst="ellipse">
            <a:avLst/>
          </a:prstGeom>
          <a:solidFill>
            <a:srgbClr val="0F172A"/>
          </a:solidFill>
          <a:ln w="381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Shape 25"/>
          <p:cNvSpPr/>
          <p:nvPr/>
        </p:nvSpPr>
        <p:spPr>
          <a:xfrm>
            <a:off x="2476195" y="3236062"/>
            <a:ext cx="8953805" cy="771754"/>
          </a:xfrm>
          <a:prstGeom prst="roundRect">
            <a:avLst>
              <a:gd name="adj" fmla="val 17553"/>
            </a:avLst>
          </a:prstGeom>
          <a:solidFill>
            <a:srgbClr val="F59E0B">
              <a:alpha val="5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6"/>
          <p:cNvSpPr/>
          <p:nvPr/>
        </p:nvSpPr>
        <p:spPr>
          <a:xfrm>
            <a:off x="10378440" y="3486607"/>
            <a:ext cx="857707" cy="267005"/>
          </a:xfrm>
          <a:prstGeom prst="roundRect">
            <a:avLst>
              <a:gd name="adj" fmla="val 73385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10483596" y="3562502"/>
            <a:ext cx="105156" cy="11430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0645445" y="3534156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2.3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018642" y="3414370"/>
            <a:ext cx="71689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01:00 - 02:30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2704795" y="3407969"/>
            <a:ext cx="37865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2.3: File Management &amp; Data Export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2704795" y="3684118"/>
            <a:ext cx="28273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Library • Excel Export • PDF Generation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2029054" y="4442155"/>
            <a:ext cx="133502" cy="133502"/>
          </a:xfrm>
          <a:prstGeom prst="ellipse">
            <a:avLst/>
          </a:prstGeom>
          <a:solidFill>
            <a:srgbClr val="0F172A"/>
          </a:solidFill>
          <a:ln w="381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Shape 32"/>
          <p:cNvSpPr/>
          <p:nvPr/>
        </p:nvSpPr>
        <p:spPr>
          <a:xfrm>
            <a:off x="2476195" y="4125773"/>
            <a:ext cx="8953805" cy="771754"/>
          </a:xfrm>
          <a:prstGeom prst="roundRect">
            <a:avLst>
              <a:gd name="adj" fmla="val 17553"/>
            </a:avLst>
          </a:prstGeom>
          <a:solidFill>
            <a:srgbClr val="F59E0B">
              <a:alpha val="5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Shape 33"/>
          <p:cNvSpPr/>
          <p:nvPr/>
        </p:nvSpPr>
        <p:spPr>
          <a:xfrm>
            <a:off x="10378440" y="4375404"/>
            <a:ext cx="857707" cy="267005"/>
          </a:xfrm>
          <a:prstGeom prst="roundRect">
            <a:avLst>
              <a:gd name="adj" fmla="val 73385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10483596" y="4451299"/>
            <a:ext cx="105156" cy="11430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0645445" y="4422953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2.4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1018642" y="4304081"/>
            <a:ext cx="71689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02:45 - 04:15</a:t>
            </a:r>
            <a:endParaRPr lang="en-US" sz="1100" dirty="0"/>
          </a:p>
        </p:txBody>
      </p:sp>
      <p:sp>
        <p:nvSpPr>
          <p:cNvPr id="43" name="Text 36"/>
          <p:cNvSpPr txBox="1"/>
          <p:nvPr/>
        </p:nvSpPr>
        <p:spPr>
          <a:xfrm>
            <a:off x="2704795" y="4296766"/>
            <a:ext cx="33768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2.4: Performance Optimization</a:t>
            </a:r>
            <a:endParaRPr lang="en-US" sz="1300" dirty="0"/>
          </a:p>
        </p:txBody>
      </p:sp>
      <p:sp>
        <p:nvSpPr>
          <p:cNvPr id="44" name="Text 37"/>
          <p:cNvSpPr txBox="1"/>
          <p:nvPr/>
        </p:nvSpPr>
        <p:spPr>
          <a:xfrm>
            <a:off x="2704795" y="4572914"/>
            <a:ext cx="3513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Caching Strategies • Redis • Cache Tags • Query Profiling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2029054" y="5331866"/>
            <a:ext cx="133502" cy="133502"/>
          </a:xfrm>
          <a:prstGeom prst="ellipse">
            <a:avLst/>
          </a:prstGeom>
          <a:solidFill>
            <a:srgbClr val="0F172A"/>
          </a:solidFill>
          <a:ln w="381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Shape 39"/>
          <p:cNvSpPr/>
          <p:nvPr/>
        </p:nvSpPr>
        <p:spPr>
          <a:xfrm>
            <a:off x="2476195" y="5014570"/>
            <a:ext cx="8953805" cy="771754"/>
          </a:xfrm>
          <a:prstGeom prst="roundRect">
            <a:avLst>
              <a:gd name="adj" fmla="val 17553"/>
            </a:avLst>
          </a:prstGeom>
          <a:solidFill>
            <a:srgbClr val="F59E0B">
              <a:alpha val="5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7" name="Shape 40"/>
          <p:cNvSpPr/>
          <p:nvPr/>
        </p:nvSpPr>
        <p:spPr>
          <a:xfrm>
            <a:off x="10378440" y="5265115"/>
            <a:ext cx="857707" cy="267005"/>
          </a:xfrm>
          <a:prstGeom prst="roundRect">
            <a:avLst>
              <a:gd name="adj" fmla="val 73385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10483596" y="5341010"/>
            <a:ext cx="105156" cy="11430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10645445" y="5312664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2.5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1018642" y="5193792"/>
            <a:ext cx="71689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04:30 - 05:45</a:t>
            </a:r>
            <a:endParaRPr lang="en-US" sz="1100" dirty="0"/>
          </a:p>
        </p:txBody>
      </p:sp>
      <p:sp>
        <p:nvSpPr>
          <p:cNvPr id="51" name="Text 43"/>
          <p:cNvSpPr txBox="1"/>
          <p:nvPr/>
        </p:nvSpPr>
        <p:spPr>
          <a:xfrm>
            <a:off x="2704795" y="5186477"/>
            <a:ext cx="41678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2.5: Advanced Patterns &amp; Best Practices</a:t>
            </a:r>
            <a:endParaRPr lang="en-US" sz="1300" dirty="0"/>
          </a:p>
        </p:txBody>
      </p:sp>
      <p:sp>
        <p:nvSpPr>
          <p:cNvPr id="52" name="Text 44"/>
          <p:cNvSpPr txBox="1"/>
          <p:nvPr/>
        </p:nvSpPr>
        <p:spPr>
          <a:xfrm>
            <a:off x="2704795" y="5462626"/>
            <a:ext cx="33412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Polymorphic Relations • Observers • Testing • Security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10465308" y="6344107"/>
            <a:ext cx="1543507" cy="323698"/>
          </a:xfrm>
          <a:prstGeom prst="roundRect">
            <a:avLst>
              <a:gd name="adj" fmla="val 33234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10465308" y="6344107"/>
            <a:ext cx="1543507" cy="323698"/>
          </a:xfrm>
          <a:prstGeom prst="roundRect">
            <a:avLst>
              <a:gd name="adj" fmla="val 33234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79608" y="6439205"/>
            <a:ext cx="133502" cy="133502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1218895" y="685800"/>
            <a:ext cx="4762195" cy="4762195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210605" y="1410005"/>
            <a:ext cx="4762195" cy="4762195"/>
          </a:xfrm>
          <a:prstGeom prst="ellipse">
            <a:avLst/>
          </a:prstGeom>
          <a:solidFill>
            <a:srgbClr val="EC4899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4391863" y="362102"/>
            <a:ext cx="36676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Layered Architecture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4547311" y="866851"/>
            <a:ext cx="32342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Lifecycle &amp; Code Organization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6246" y="1772107"/>
            <a:ext cx="19202" cy="4324198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6029554" y="2371954"/>
            <a:ext cx="133502" cy="133502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6029554" y="3419856"/>
            <a:ext cx="133502" cy="133502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6029554" y="4466844"/>
            <a:ext cx="133502" cy="133502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6029554" y="5514746"/>
            <a:ext cx="133502" cy="13350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787298" y="1762049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ENTRY POINT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3238805" y="1495044"/>
            <a:ext cx="5715000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Shape 10"/>
          <p:cNvSpPr/>
          <p:nvPr/>
        </p:nvSpPr>
        <p:spPr>
          <a:xfrm>
            <a:off x="3504895" y="164774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43F5E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10051" y="1752905"/>
            <a:ext cx="171907" cy="17190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076395" y="1635862"/>
            <a:ext cx="10433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Routes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4076395" y="1892808"/>
            <a:ext cx="11411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routes/api.php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7272223" y="1671523"/>
            <a:ext cx="1447495" cy="333756"/>
          </a:xfrm>
          <a:prstGeom prst="roundRect">
            <a:avLst>
              <a:gd name="adj" fmla="val 4696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4"/>
          <p:cNvSpPr txBox="1"/>
          <p:nvPr/>
        </p:nvSpPr>
        <p:spPr>
          <a:xfrm>
            <a:off x="7395667" y="1757477"/>
            <a:ext cx="13002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 Definition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967435" y="2809951"/>
            <a:ext cx="7434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3238805" y="2542946"/>
            <a:ext cx="5715000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Shape 17"/>
          <p:cNvSpPr/>
          <p:nvPr/>
        </p:nvSpPr>
        <p:spPr>
          <a:xfrm>
            <a:off x="3504895" y="26956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3600907" y="2800807"/>
            <a:ext cx="190195" cy="17190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076395" y="2683764"/>
            <a:ext cx="10625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Controllers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4076395" y="2940710"/>
            <a:ext cx="158831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App/Http/Controllers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7070141" y="2719426"/>
            <a:ext cx="1647749" cy="333756"/>
          </a:xfrm>
          <a:prstGeom prst="roundRect">
            <a:avLst>
              <a:gd name="adj" fmla="val 4696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1"/>
          <p:cNvSpPr txBox="1"/>
          <p:nvPr/>
        </p:nvSpPr>
        <p:spPr>
          <a:xfrm>
            <a:off x="7194499" y="2805379"/>
            <a:ext cx="15005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&amp; Response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1239926" y="3857854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3238805" y="3590849"/>
            <a:ext cx="5715000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2" name="Shape 24"/>
          <p:cNvSpPr/>
          <p:nvPr/>
        </p:nvSpPr>
        <p:spPr>
          <a:xfrm>
            <a:off x="3504895" y="374355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3586277" y="3847795"/>
            <a:ext cx="219456" cy="171907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4076395" y="3731666"/>
            <a:ext cx="8723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4076395" y="3988613"/>
            <a:ext cx="9884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App/Services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6548933" y="3767328"/>
            <a:ext cx="2171700" cy="333756"/>
          </a:xfrm>
          <a:prstGeom prst="roundRect">
            <a:avLst>
              <a:gd name="adj" fmla="val 4696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" name="Text 28"/>
          <p:cNvSpPr txBox="1"/>
          <p:nvPr/>
        </p:nvSpPr>
        <p:spPr>
          <a:xfrm>
            <a:off x="6672377" y="3853282"/>
            <a:ext cx="20244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Logic &amp; Transactions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1296619" y="4905756"/>
            <a:ext cx="409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3238805" y="4638751"/>
            <a:ext cx="5715000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0" name="Shape 31"/>
          <p:cNvSpPr/>
          <p:nvPr/>
        </p:nvSpPr>
        <p:spPr>
          <a:xfrm>
            <a:off x="3504895" y="479145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10051" y="4895698"/>
            <a:ext cx="171907" cy="171907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4076395" y="4779569"/>
            <a:ext cx="7479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4076395" y="5036515"/>
            <a:ext cx="8458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App/Models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6997903" y="4815230"/>
            <a:ext cx="1723644" cy="333756"/>
          </a:xfrm>
          <a:prstGeom prst="roundRect">
            <a:avLst>
              <a:gd name="adj" fmla="val 4696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" name="Text 35"/>
          <p:cNvSpPr txBox="1"/>
          <p:nvPr/>
        </p:nvSpPr>
        <p:spPr>
          <a:xfrm>
            <a:off x="7122262" y="4900270"/>
            <a:ext cx="15764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Relationships &amp; Scopes</a:t>
            </a:r>
            <a:endParaRPr lang="en-US" sz="1000" dirty="0"/>
          </a:p>
        </p:txBody>
      </p:sp>
      <p:sp>
        <p:nvSpPr>
          <p:cNvPr id="46" name="Text 36"/>
          <p:cNvSpPr txBox="1"/>
          <p:nvPr/>
        </p:nvSpPr>
        <p:spPr>
          <a:xfrm>
            <a:off x="1037844" y="5952744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3238805" y="5686654"/>
            <a:ext cx="5715000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8" name="Shape 38"/>
          <p:cNvSpPr/>
          <p:nvPr/>
        </p:nvSpPr>
        <p:spPr>
          <a:xfrm>
            <a:off x="3504895" y="58384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8"/>
          <a:srcRect l="-760" r="-760"/>
          <a:stretch/>
        </p:blipFill>
        <p:spPr>
          <a:xfrm>
            <a:off x="3619195" y="5943600"/>
            <a:ext cx="152705" cy="171907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4076395" y="5826557"/>
            <a:ext cx="929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300" dirty="0"/>
          </a:p>
        </p:txBody>
      </p:sp>
      <p:sp>
        <p:nvSpPr>
          <p:cNvPr id="51" name="Text 40"/>
          <p:cNvSpPr txBox="1"/>
          <p:nvPr/>
        </p:nvSpPr>
        <p:spPr>
          <a:xfrm>
            <a:off x="4076395" y="6084418"/>
            <a:ext cx="1436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MySQL / Migrations</a:t>
            </a:r>
            <a:endParaRPr lang="en-US" sz="900" dirty="0"/>
          </a:p>
        </p:txBody>
      </p:sp>
      <p:sp>
        <p:nvSpPr>
          <p:cNvPr id="52" name="Shape 41"/>
          <p:cNvSpPr/>
          <p:nvPr/>
        </p:nvSpPr>
        <p:spPr>
          <a:xfrm>
            <a:off x="7402068" y="5862218"/>
            <a:ext cx="1314907" cy="333756"/>
          </a:xfrm>
          <a:prstGeom prst="roundRect">
            <a:avLst>
              <a:gd name="adj" fmla="val 4696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3" name="Text 42"/>
          <p:cNvSpPr txBox="1"/>
          <p:nvPr/>
        </p:nvSpPr>
        <p:spPr>
          <a:xfrm>
            <a:off x="7525512" y="5948172"/>
            <a:ext cx="11676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Persistence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953098" y="-952805"/>
            <a:ext cx="5715000" cy="5715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-476402" y="3047695"/>
            <a:ext cx="4762195" cy="4762195"/>
          </a:xfrm>
          <a:prstGeom prst="ellipse">
            <a:avLst/>
          </a:prstGeom>
          <a:solidFill>
            <a:srgbClr val="EC4899">
              <a:alpha val="12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66598" y="5286146"/>
            <a:ext cx="10858500" cy="657454"/>
          </a:xfrm>
          <a:prstGeom prst="roundRect">
            <a:avLst>
              <a:gd name="adj" fmla="val 24188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5256" y="5519318"/>
            <a:ext cx="190195" cy="1901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20010" y="5447995"/>
            <a:ext cx="1752905" cy="333756"/>
          </a:xfrm>
          <a:prstGeom prst="roundRect">
            <a:avLst>
              <a:gd name="adj" fmla="val 156556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7"/>
          <p:cNvSpPr/>
          <p:nvPr/>
        </p:nvSpPr>
        <p:spPr>
          <a:xfrm>
            <a:off x="2981858" y="5586070"/>
            <a:ext cx="57607" cy="57607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 txBox="1"/>
          <p:nvPr/>
        </p:nvSpPr>
        <p:spPr>
          <a:xfrm>
            <a:off x="3115361" y="5514746"/>
            <a:ext cx="13962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Processing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79899" y="5447995"/>
            <a:ext cx="1257300" cy="333756"/>
          </a:xfrm>
          <a:prstGeom prst="roundRect">
            <a:avLst>
              <a:gd name="adj" fmla="val 156556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4841748" y="5586070"/>
            <a:ext cx="57607" cy="57607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1"/>
          <p:cNvSpPr txBox="1"/>
          <p:nvPr/>
        </p:nvSpPr>
        <p:spPr>
          <a:xfrm>
            <a:off x="4975250" y="5514746"/>
            <a:ext cx="9006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45098" y="5447995"/>
            <a:ext cx="1295705" cy="333756"/>
          </a:xfrm>
          <a:prstGeom prst="roundRect">
            <a:avLst>
              <a:gd name="adj" fmla="val 156556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3"/>
          <p:cNvSpPr/>
          <p:nvPr/>
        </p:nvSpPr>
        <p:spPr>
          <a:xfrm>
            <a:off x="6206947" y="5586070"/>
            <a:ext cx="57607" cy="57607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4"/>
          <p:cNvSpPr txBox="1"/>
          <p:nvPr/>
        </p:nvSpPr>
        <p:spPr>
          <a:xfrm>
            <a:off x="6339535" y="5514746"/>
            <a:ext cx="9390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Safety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52360" y="5447995"/>
            <a:ext cx="1133856" cy="333756"/>
          </a:xfrm>
          <a:prstGeom prst="roundRect">
            <a:avLst>
              <a:gd name="adj" fmla="val 156556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6"/>
          <p:cNvSpPr/>
          <p:nvPr/>
        </p:nvSpPr>
        <p:spPr>
          <a:xfrm>
            <a:off x="7614209" y="5586070"/>
            <a:ext cx="57607" cy="57607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Text 17"/>
          <p:cNvSpPr txBox="1"/>
          <p:nvPr/>
        </p:nvSpPr>
        <p:spPr>
          <a:xfrm>
            <a:off x="7747711" y="5514746"/>
            <a:ext cx="7763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66598" y="457200"/>
            <a:ext cx="29718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Modules</a:t>
            </a:r>
            <a:endParaRPr lang="en-US" sz="2700" dirty="0"/>
          </a:p>
        </p:txBody>
      </p:sp>
      <p:sp>
        <p:nvSpPr>
          <p:cNvPr id="22" name="Text 19"/>
          <p:cNvSpPr txBox="1"/>
          <p:nvPr/>
        </p:nvSpPr>
        <p:spPr>
          <a:xfrm>
            <a:off x="666598" y="961949"/>
            <a:ext cx="36530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components breakdown by complexity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564978" y="685800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TOTAL MODELS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0839298" y="866851"/>
            <a:ext cx="90982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410+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1171346" y="5519318"/>
            <a:ext cx="1543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Additional Modules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66598" y="1781251"/>
            <a:ext cx="3467405" cy="1524305"/>
          </a:xfrm>
          <a:prstGeom prst="roundRect">
            <a:avLst>
              <a:gd name="adj" fmla="val 5999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Shape 24"/>
          <p:cNvSpPr/>
          <p:nvPr/>
        </p:nvSpPr>
        <p:spPr>
          <a:xfrm>
            <a:off x="905256" y="20482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4070" y="2180844"/>
            <a:ext cx="237744" cy="19019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3415284" y="2000707"/>
            <a:ext cx="6858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818C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70+</a:t>
            </a:r>
            <a:endParaRPr lang="en-US" sz="2100" dirty="0"/>
          </a:p>
        </p:txBody>
      </p:sp>
      <p:sp>
        <p:nvSpPr>
          <p:cNvPr id="30" name="Text 26"/>
          <p:cNvSpPr txBox="1"/>
          <p:nvPr/>
        </p:nvSpPr>
        <p:spPr>
          <a:xfrm>
            <a:off x="3424428" y="2361895"/>
            <a:ext cx="5550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</a:t>
            </a:r>
            <a:endParaRPr lang="en-US" sz="800" dirty="0"/>
          </a:p>
        </p:txBody>
      </p:sp>
      <p:sp>
        <p:nvSpPr>
          <p:cNvPr id="31" name="Text 27"/>
          <p:cNvSpPr txBox="1"/>
          <p:nvPr/>
        </p:nvSpPr>
        <p:spPr>
          <a:xfrm>
            <a:off x="905256" y="2838298"/>
            <a:ext cx="18626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Management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4362602" y="1781251"/>
            <a:ext cx="3467405" cy="1524305"/>
          </a:xfrm>
          <a:prstGeom prst="roundRect">
            <a:avLst>
              <a:gd name="adj" fmla="val 5999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29"/>
          <p:cNvSpPr/>
          <p:nvPr/>
        </p:nvSpPr>
        <p:spPr>
          <a:xfrm>
            <a:off x="4600346" y="20482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43F5E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4719218" y="2180844"/>
            <a:ext cx="219456" cy="190195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951269" y="2000707"/>
            <a:ext cx="84856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120+</a:t>
            </a:r>
            <a:endParaRPr lang="en-US" sz="2100" dirty="0"/>
          </a:p>
        </p:txBody>
      </p:sp>
      <p:sp>
        <p:nvSpPr>
          <p:cNvPr id="36" name="Text 31"/>
          <p:cNvSpPr txBox="1"/>
          <p:nvPr/>
        </p:nvSpPr>
        <p:spPr>
          <a:xfrm>
            <a:off x="7120433" y="2361895"/>
            <a:ext cx="5550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</a:t>
            </a:r>
            <a:endParaRPr lang="en-US" sz="800" dirty="0"/>
          </a:p>
        </p:txBody>
      </p:sp>
      <p:sp>
        <p:nvSpPr>
          <p:cNvPr id="37" name="Text 32"/>
          <p:cNvSpPr txBox="1"/>
          <p:nvPr/>
        </p:nvSpPr>
        <p:spPr>
          <a:xfrm>
            <a:off x="4600346" y="2838298"/>
            <a:ext cx="17199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 Management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8058607" y="1781251"/>
            <a:ext cx="3467405" cy="1524305"/>
          </a:xfrm>
          <a:prstGeom prst="roundRect">
            <a:avLst>
              <a:gd name="adj" fmla="val 5999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Shape 34"/>
          <p:cNvSpPr/>
          <p:nvPr/>
        </p:nvSpPr>
        <p:spPr>
          <a:xfrm>
            <a:off x="8296351" y="20482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A5E9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06079" y="2180844"/>
            <a:ext cx="237744" cy="190195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10807294" y="2000707"/>
            <a:ext cx="6858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80+</a:t>
            </a:r>
            <a:endParaRPr lang="en-US" sz="2100" dirty="0"/>
          </a:p>
        </p:txBody>
      </p:sp>
      <p:sp>
        <p:nvSpPr>
          <p:cNvPr id="42" name="Text 36"/>
          <p:cNvSpPr txBox="1"/>
          <p:nvPr/>
        </p:nvSpPr>
        <p:spPr>
          <a:xfrm>
            <a:off x="10815523" y="2361895"/>
            <a:ext cx="5550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</a:t>
            </a:r>
            <a:endParaRPr lang="en-US" sz="800" dirty="0"/>
          </a:p>
        </p:txBody>
      </p:sp>
      <p:sp>
        <p:nvSpPr>
          <p:cNvPr id="43" name="Text 37"/>
          <p:cNvSpPr txBox="1"/>
          <p:nvPr/>
        </p:nvSpPr>
        <p:spPr>
          <a:xfrm>
            <a:off x="8296351" y="2838298"/>
            <a:ext cx="18818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&amp; Agency Mgmt</a:t>
            </a:r>
            <a:endParaRPr lang="en-US" sz="1300" dirty="0"/>
          </a:p>
        </p:txBody>
      </p:sp>
      <p:sp>
        <p:nvSpPr>
          <p:cNvPr id="44" name="Shape 38"/>
          <p:cNvSpPr/>
          <p:nvPr/>
        </p:nvSpPr>
        <p:spPr>
          <a:xfrm>
            <a:off x="666598" y="3534156"/>
            <a:ext cx="3467405" cy="1524305"/>
          </a:xfrm>
          <a:prstGeom prst="roundRect">
            <a:avLst>
              <a:gd name="adj" fmla="val 5999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" name="Shape 39"/>
          <p:cNvSpPr/>
          <p:nvPr/>
        </p:nvSpPr>
        <p:spPr>
          <a:xfrm>
            <a:off x="905256" y="380024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55F7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1047902" y="3933749"/>
            <a:ext cx="171907" cy="190195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3415284" y="3752698"/>
            <a:ext cx="6858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70+</a:t>
            </a:r>
            <a:endParaRPr lang="en-US" sz="2100" dirty="0"/>
          </a:p>
        </p:txBody>
      </p:sp>
      <p:sp>
        <p:nvSpPr>
          <p:cNvPr id="48" name="Text 41"/>
          <p:cNvSpPr txBox="1"/>
          <p:nvPr/>
        </p:nvSpPr>
        <p:spPr>
          <a:xfrm>
            <a:off x="3424428" y="4114800"/>
            <a:ext cx="5550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</a:t>
            </a:r>
            <a:endParaRPr lang="en-US" sz="800" dirty="0"/>
          </a:p>
        </p:txBody>
      </p:sp>
      <p:sp>
        <p:nvSpPr>
          <p:cNvPr id="49" name="Text 42"/>
          <p:cNvSpPr txBox="1"/>
          <p:nvPr/>
        </p:nvSpPr>
        <p:spPr>
          <a:xfrm>
            <a:off x="905256" y="4591202"/>
            <a:ext cx="11768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Inspectorate</a:t>
            </a:r>
            <a:endParaRPr lang="en-US" sz="1300" dirty="0"/>
          </a:p>
        </p:txBody>
      </p:sp>
      <p:sp>
        <p:nvSpPr>
          <p:cNvPr id="50" name="Shape 43"/>
          <p:cNvSpPr/>
          <p:nvPr/>
        </p:nvSpPr>
        <p:spPr>
          <a:xfrm>
            <a:off x="4362602" y="3534156"/>
            <a:ext cx="3467405" cy="1524305"/>
          </a:xfrm>
          <a:prstGeom prst="roundRect">
            <a:avLst>
              <a:gd name="adj" fmla="val 5999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1" name="Shape 44"/>
          <p:cNvSpPr/>
          <p:nvPr/>
        </p:nvSpPr>
        <p:spPr>
          <a:xfrm>
            <a:off x="4600346" y="380024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748B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10074" y="3933749"/>
            <a:ext cx="237744" cy="190195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7111289" y="3752698"/>
            <a:ext cx="6858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40+</a:t>
            </a:r>
            <a:endParaRPr lang="en-US" sz="2100" dirty="0"/>
          </a:p>
        </p:txBody>
      </p:sp>
      <p:sp>
        <p:nvSpPr>
          <p:cNvPr id="54" name="Text 46"/>
          <p:cNvSpPr txBox="1"/>
          <p:nvPr/>
        </p:nvSpPr>
        <p:spPr>
          <a:xfrm>
            <a:off x="7120433" y="4114800"/>
            <a:ext cx="5550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</a:t>
            </a:r>
            <a:endParaRPr lang="en-US" sz="800" dirty="0"/>
          </a:p>
        </p:txBody>
      </p:sp>
      <p:sp>
        <p:nvSpPr>
          <p:cNvPr id="55" name="Text 47"/>
          <p:cNvSpPr txBox="1"/>
          <p:nvPr/>
        </p:nvSpPr>
        <p:spPr>
          <a:xfrm>
            <a:off x="4600346" y="4591202"/>
            <a:ext cx="19385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Configuration</a:t>
            </a:r>
            <a:endParaRPr lang="en-US" sz="1300" dirty="0"/>
          </a:p>
        </p:txBody>
      </p:sp>
      <p:sp>
        <p:nvSpPr>
          <p:cNvPr id="56" name="Shape 48"/>
          <p:cNvSpPr/>
          <p:nvPr/>
        </p:nvSpPr>
        <p:spPr>
          <a:xfrm>
            <a:off x="8058607" y="3534156"/>
            <a:ext cx="3467405" cy="1524305"/>
          </a:xfrm>
          <a:prstGeom prst="roundRect">
            <a:avLst>
              <a:gd name="adj" fmla="val 5999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7" name="Shape 49"/>
          <p:cNvSpPr/>
          <p:nvPr/>
        </p:nvSpPr>
        <p:spPr>
          <a:xfrm>
            <a:off x="8296351" y="380024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53628" y="3933749"/>
            <a:ext cx="142646" cy="190195"/>
          </a:xfrm>
          <a:prstGeom prst="rect">
            <a:avLst/>
          </a:prstGeom>
        </p:spPr>
      </p:pic>
      <p:sp>
        <p:nvSpPr>
          <p:cNvPr id="59" name="Text 50"/>
          <p:cNvSpPr txBox="1"/>
          <p:nvPr/>
        </p:nvSpPr>
        <p:spPr>
          <a:xfrm>
            <a:off x="10807294" y="3752698"/>
            <a:ext cx="6858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30+</a:t>
            </a:r>
            <a:endParaRPr lang="en-US" sz="2100" dirty="0"/>
          </a:p>
        </p:txBody>
      </p:sp>
      <p:sp>
        <p:nvSpPr>
          <p:cNvPr id="60" name="Text 51"/>
          <p:cNvSpPr txBox="1"/>
          <p:nvPr/>
        </p:nvSpPr>
        <p:spPr>
          <a:xfrm>
            <a:off x="10815523" y="4114800"/>
            <a:ext cx="5550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</a:t>
            </a:r>
            <a:endParaRPr lang="en-US" sz="800" dirty="0"/>
          </a:p>
        </p:txBody>
      </p:sp>
      <p:sp>
        <p:nvSpPr>
          <p:cNvPr id="61" name="Text 52"/>
          <p:cNvSpPr txBox="1"/>
          <p:nvPr/>
        </p:nvSpPr>
        <p:spPr>
          <a:xfrm>
            <a:off x="8296351" y="4591202"/>
            <a:ext cx="18626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 Management</a:t>
            </a:r>
            <a:endParaRPr lang="en-US" sz="1300" dirty="0"/>
          </a:p>
        </p:txBody>
      </p:sp>
      <p:sp>
        <p:nvSpPr>
          <p:cNvPr id="62" name="Text 53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210605" y="-952805"/>
            <a:ext cx="4762195" cy="4762195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09905" y="4000500"/>
            <a:ext cx="4286707" cy="4286707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61695" y="1390802"/>
            <a:ext cx="106683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761695" y="2257654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961949" y="242407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1080821" y="2557577"/>
            <a:ext cx="219456" cy="1901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1695" y="3238805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8"/>
          <p:cNvSpPr/>
          <p:nvPr/>
        </p:nvSpPr>
        <p:spPr>
          <a:xfrm>
            <a:off x="961949" y="340522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2" name="Shape 9"/>
          <p:cNvSpPr/>
          <p:nvPr/>
        </p:nvSpPr>
        <p:spPr>
          <a:xfrm>
            <a:off x="761695" y="4219956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961949" y="4386377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43F5E">
              <a:alpha val="15000"/>
            </a:srgbClr>
          </a:solidFill>
          <a:ln w="12700">
            <a:solidFill>
              <a:srgbClr val="F43F5E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1080821" y="4519879"/>
            <a:ext cx="219456" cy="19019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61695" y="5201107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2"/>
          <p:cNvSpPr/>
          <p:nvPr/>
        </p:nvSpPr>
        <p:spPr>
          <a:xfrm>
            <a:off x="961949" y="5367528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71677" y="5501030"/>
            <a:ext cx="237744" cy="19019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86500" y="2257654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4"/>
          <p:cNvSpPr/>
          <p:nvPr/>
        </p:nvSpPr>
        <p:spPr>
          <a:xfrm>
            <a:off x="6486754" y="242407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20256" y="2557577"/>
            <a:ext cx="190195" cy="19019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286500" y="3238805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16"/>
          <p:cNvSpPr/>
          <p:nvPr/>
        </p:nvSpPr>
        <p:spPr>
          <a:xfrm>
            <a:off x="6486754" y="340522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Shape 17"/>
          <p:cNvSpPr/>
          <p:nvPr/>
        </p:nvSpPr>
        <p:spPr>
          <a:xfrm>
            <a:off x="6286500" y="4219956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Shape 18"/>
          <p:cNvSpPr/>
          <p:nvPr/>
        </p:nvSpPr>
        <p:spPr>
          <a:xfrm>
            <a:off x="6486754" y="4386377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6629400" y="4519879"/>
            <a:ext cx="171907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61695" y="457200"/>
            <a:ext cx="65635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Concepts: Eloquent Relationships</a:t>
            </a:r>
            <a:endParaRPr lang="en-US" sz="2700" dirty="0"/>
          </a:p>
        </p:txBody>
      </p:sp>
      <p:sp>
        <p:nvSpPr>
          <p:cNvPr id="27" name="Text 20"/>
          <p:cNvSpPr txBox="1"/>
          <p:nvPr/>
        </p:nvSpPr>
        <p:spPr>
          <a:xfrm>
            <a:off x="761695" y="961949"/>
            <a:ext cx="37481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Mastering data associations &amp; model features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800100" y="1790395"/>
            <a:ext cx="1848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ASSOCIATIONS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1609344" y="2428646"/>
            <a:ext cx="1124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One-to-Many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609344" y="2695651"/>
            <a:ext cx="60259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</a:t>
            </a:r>
            <a:endParaRPr lang="en-US" sz="11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2154326" y="2738628"/>
            <a:ext cx="105156" cy="1143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2316175" y="2695651"/>
            <a:ext cx="71689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1609344" y="3409798"/>
            <a:ext cx="20391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Many-to-One (Inverse)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609344" y="3676802"/>
            <a:ext cx="71689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</a:t>
            </a:r>
            <a:endParaRPr lang="en-US" sz="11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2273198" y="3719779"/>
            <a:ext cx="105156" cy="1143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2435047" y="3676802"/>
            <a:ext cx="60259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1609344" y="4390949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Many-to-Many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1609344" y="4657954"/>
            <a:ext cx="37847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through pivot tables (e.g., Roles &amp; Permissions)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1609344" y="5372100"/>
            <a:ext cx="15819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Has-Many-Through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1609344" y="5639105"/>
            <a:ext cx="2707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chains across distant models</a:t>
            </a:r>
            <a:endParaRPr lang="en-US" sz="1100" dirty="0"/>
          </a:p>
        </p:txBody>
      </p:sp>
      <p:sp>
        <p:nvSpPr>
          <p:cNvPr id="41" name="Text 32"/>
          <p:cNvSpPr txBox="1"/>
          <p:nvPr/>
        </p:nvSpPr>
        <p:spPr>
          <a:xfrm>
            <a:off x="6324905" y="1790395"/>
            <a:ext cx="23911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PATTERNS &amp; FEATURES</a:t>
            </a:r>
            <a:endParaRPr lang="en-US" sz="900" dirty="0"/>
          </a:p>
        </p:txBody>
      </p:sp>
      <p:sp>
        <p:nvSpPr>
          <p:cNvPr id="42" name="Text 33"/>
          <p:cNvSpPr txBox="1"/>
          <p:nvPr/>
        </p:nvSpPr>
        <p:spPr>
          <a:xfrm>
            <a:off x="7134149" y="2428646"/>
            <a:ext cx="1124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Polymorphic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7134149" y="2695651"/>
            <a:ext cx="39081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logs related to any model type via type/id columns</a:t>
            </a:r>
            <a:endParaRPr lang="en-US" sz="1100" dirty="0"/>
          </a:p>
        </p:txBody>
      </p:sp>
      <p:sp>
        <p:nvSpPr>
          <p:cNvPr id="44" name="Text 35"/>
          <p:cNvSpPr txBox="1"/>
          <p:nvPr/>
        </p:nvSpPr>
        <p:spPr>
          <a:xfrm>
            <a:off x="7134149" y="3409798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 Casting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7134149" y="3676802"/>
            <a:ext cx="38322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Auto-encode/decode arrays to DB columns seamlessly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7134149" y="4390949"/>
            <a:ext cx="1305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Eager Loading</a:t>
            </a:r>
            <a:endParaRPr lang="en-US" sz="1200" dirty="0"/>
          </a:p>
        </p:txBody>
      </p:sp>
      <p:sp>
        <p:nvSpPr>
          <p:cNvPr id="47" name="Text 38"/>
          <p:cNvSpPr txBox="1"/>
          <p:nvPr/>
        </p:nvSpPr>
        <p:spPr>
          <a:xfrm>
            <a:off x="7134149" y="4657954"/>
            <a:ext cx="35652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performance &amp; avoid N+1 query problems</a:t>
            </a:r>
            <a:endParaRPr lang="en-US" sz="1100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1104595" y="3538728"/>
            <a:ext cx="171907" cy="190195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6286500" y="5639105"/>
            <a:ext cx="5143500" cy="743407"/>
          </a:xfrm>
          <a:prstGeom prst="roundRect">
            <a:avLst>
              <a:gd name="adj" fmla="val 1261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0"/>
          <p:cNvSpPr txBox="1"/>
          <p:nvPr/>
        </p:nvSpPr>
        <p:spPr>
          <a:xfrm>
            <a:off x="6448349" y="5810098"/>
            <a:ext cx="11914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>
                    <a:alpha val="8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Example Usage</a:t>
            </a:r>
            <a:endParaRPr lang="en-US" sz="900" dirty="0"/>
          </a:p>
        </p:txBody>
      </p:sp>
      <p:sp>
        <p:nvSpPr>
          <p:cNvPr id="51" name="Text 41"/>
          <p:cNvSpPr txBox="1"/>
          <p:nvPr/>
        </p:nvSpPr>
        <p:spPr>
          <a:xfrm>
            <a:off x="6448349" y="6048756"/>
            <a:ext cx="33101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>
                    <a:alpha val="8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$user-&gt;posts()-&gt;with('comments')-&gt;get();</a:t>
            </a:r>
            <a:endParaRPr lang="en-US" sz="1000" dirty="0"/>
          </a:p>
        </p:txBody>
      </p:sp>
      <p:sp>
        <p:nvSpPr>
          <p:cNvPr id="52" name="Text 42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210605" y="-952805"/>
            <a:ext cx="4762195" cy="476219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09905" y="4000500"/>
            <a:ext cx="4286707" cy="4286707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61695" y="1390802"/>
            <a:ext cx="106683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761695" y="1686154"/>
            <a:ext cx="5191049" cy="4695444"/>
          </a:xfrm>
          <a:prstGeom prst="roundRect">
            <a:avLst>
              <a:gd name="adj" fmla="val 63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771754" y="1695298"/>
            <a:ext cx="5171846" cy="4288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771754" y="2115007"/>
            <a:ext cx="51718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961949" y="1836115"/>
            <a:ext cx="171907" cy="1335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52898" y="18553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Shape 9"/>
          <p:cNvSpPr/>
          <p:nvPr/>
        </p:nvSpPr>
        <p:spPr>
          <a:xfrm>
            <a:off x="5505602" y="18553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5658307" y="18553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1314907" y="2348179"/>
            <a:ext cx="9144" cy="32095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Shape 12"/>
          <p:cNvSpPr/>
          <p:nvPr/>
        </p:nvSpPr>
        <p:spPr>
          <a:xfrm>
            <a:off x="6238951" y="1686154"/>
            <a:ext cx="5191049" cy="4695444"/>
          </a:xfrm>
          <a:prstGeom prst="roundRect">
            <a:avLst>
              <a:gd name="adj" fmla="val 63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Shape 13"/>
          <p:cNvSpPr/>
          <p:nvPr/>
        </p:nvSpPr>
        <p:spPr>
          <a:xfrm>
            <a:off x="6248095" y="1695298"/>
            <a:ext cx="5171846" cy="4288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Shape 14"/>
          <p:cNvSpPr/>
          <p:nvPr/>
        </p:nvSpPr>
        <p:spPr>
          <a:xfrm>
            <a:off x="6248095" y="2115007"/>
            <a:ext cx="51718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6439205" y="1836115"/>
            <a:ext cx="171907" cy="13350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830154" y="18553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6"/>
          <p:cNvSpPr/>
          <p:nvPr/>
        </p:nvSpPr>
        <p:spPr>
          <a:xfrm>
            <a:off x="10981944" y="18553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Shape 17"/>
          <p:cNvSpPr/>
          <p:nvPr/>
        </p:nvSpPr>
        <p:spPr>
          <a:xfrm>
            <a:off x="11134649" y="18553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Shape 18"/>
          <p:cNvSpPr/>
          <p:nvPr/>
        </p:nvSpPr>
        <p:spPr>
          <a:xfrm>
            <a:off x="6791249" y="2348179"/>
            <a:ext cx="9144" cy="2781605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Shape 19"/>
          <p:cNvSpPr/>
          <p:nvPr/>
        </p:nvSpPr>
        <p:spPr>
          <a:xfrm>
            <a:off x="6951269" y="4324198"/>
            <a:ext cx="4248302" cy="390449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Shape 20"/>
          <p:cNvSpPr/>
          <p:nvPr/>
        </p:nvSpPr>
        <p:spPr>
          <a:xfrm>
            <a:off x="6951269" y="4324198"/>
            <a:ext cx="28346" cy="390449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rcRect l="-1358" r="-1358"/>
          <a:stretch/>
        </p:blipFill>
        <p:spPr>
          <a:xfrm>
            <a:off x="7123176" y="4455871"/>
            <a:ext cx="95098" cy="1234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61695" y="457200"/>
            <a:ext cx="48490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Relationships Code Example</a:t>
            </a:r>
            <a:endParaRPr lang="en-US" sz="2700" dirty="0"/>
          </a:p>
        </p:txBody>
      </p:sp>
      <p:sp>
        <p:nvSpPr>
          <p:cNvPr id="27" name="Text 22"/>
          <p:cNvSpPr txBox="1"/>
          <p:nvPr/>
        </p:nvSpPr>
        <p:spPr>
          <a:xfrm>
            <a:off x="761695" y="961949"/>
            <a:ext cx="43196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associations &amp; optimizations in Laravel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1228954" y="1819656"/>
            <a:ext cx="16550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app/Models/Course.php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000354" y="236738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1000354" y="258043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1000354" y="279349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1000354" y="300746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000354" y="322051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1000354" y="343448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1000354" y="364754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1000354" y="386059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1000354" y="407456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1000354" y="428762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1000354" y="4501591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1000354" y="471464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1000354" y="492770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1000354" y="5141671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1000354" y="535472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1474927" y="2348179"/>
            <a:ext cx="1848002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" name="Text 40"/>
          <p:cNvSpPr txBox="1"/>
          <p:nvPr/>
        </p:nvSpPr>
        <p:spPr>
          <a:xfrm>
            <a:off x="1579169" y="2404872"/>
            <a:ext cx="17172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ONE-TO-MANY RELATIONSHIP</a:t>
            </a:r>
            <a:endParaRPr lang="en-US" sz="800" dirty="0"/>
          </a:p>
        </p:txBody>
      </p:sp>
      <p:sp>
        <p:nvSpPr>
          <p:cNvPr id="46" name="Text 41"/>
          <p:cNvSpPr txBox="1"/>
          <p:nvPr/>
        </p:nvSpPr>
        <p:spPr>
          <a:xfrm>
            <a:off x="1474927" y="2705710"/>
            <a:ext cx="13002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function</a:t>
            </a:r>
            <a:endParaRPr lang="en-US" sz="1000" dirty="0"/>
          </a:p>
        </p:txBody>
      </p:sp>
      <p:sp>
        <p:nvSpPr>
          <p:cNvPr id="47" name="Text 42"/>
          <p:cNvSpPr txBox="1"/>
          <p:nvPr/>
        </p:nvSpPr>
        <p:spPr>
          <a:xfrm>
            <a:off x="2674620" y="2705710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sessions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3314700" y="2705710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000" dirty="0"/>
          </a:p>
        </p:txBody>
      </p:sp>
      <p:sp>
        <p:nvSpPr>
          <p:cNvPr id="49" name="Text 44"/>
          <p:cNvSpPr txBox="1"/>
          <p:nvPr/>
        </p:nvSpPr>
        <p:spPr>
          <a:xfrm>
            <a:off x="3474720" y="2705710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3555187" y="2705710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HasMany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4114800" y="2705710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52" name="Text 47"/>
          <p:cNvSpPr txBox="1"/>
          <p:nvPr/>
        </p:nvSpPr>
        <p:spPr>
          <a:xfrm>
            <a:off x="1474927" y="2919679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1954987" y="2919679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$this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2354580" y="2919679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55" name="Text 50"/>
          <p:cNvSpPr txBox="1"/>
          <p:nvPr/>
        </p:nvSpPr>
        <p:spPr>
          <a:xfrm>
            <a:off x="2514600" y="2919679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hasMany</a:t>
            </a:r>
            <a:endParaRPr lang="en-US" sz="1000" dirty="0"/>
          </a:p>
        </p:txBody>
      </p:sp>
      <p:sp>
        <p:nvSpPr>
          <p:cNvPr id="56" name="Text 51"/>
          <p:cNvSpPr txBox="1"/>
          <p:nvPr/>
        </p:nvSpPr>
        <p:spPr>
          <a:xfrm>
            <a:off x="3075127" y="2919679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57" name="Text 52"/>
          <p:cNvSpPr txBox="1"/>
          <p:nvPr/>
        </p:nvSpPr>
        <p:spPr>
          <a:xfrm>
            <a:off x="3155594" y="2919679"/>
            <a:ext cx="11484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CourseSession</a:t>
            </a:r>
            <a:endParaRPr lang="en-US" sz="1000" dirty="0"/>
          </a:p>
        </p:txBody>
      </p:sp>
      <p:sp>
        <p:nvSpPr>
          <p:cNvPr id="58" name="Text 53"/>
          <p:cNvSpPr txBox="1"/>
          <p:nvPr/>
        </p:nvSpPr>
        <p:spPr>
          <a:xfrm>
            <a:off x="4195267" y="2919679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1000" dirty="0"/>
          </a:p>
        </p:txBody>
      </p:sp>
      <p:sp>
        <p:nvSpPr>
          <p:cNvPr id="59" name="Text 54"/>
          <p:cNvSpPr txBox="1"/>
          <p:nvPr/>
        </p:nvSpPr>
        <p:spPr>
          <a:xfrm>
            <a:off x="4355287" y="2919679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class);</a:t>
            </a:r>
            <a:endParaRPr lang="en-US" sz="1000" dirty="0"/>
          </a:p>
        </p:txBody>
      </p:sp>
      <p:sp>
        <p:nvSpPr>
          <p:cNvPr id="60" name="Text 55"/>
          <p:cNvSpPr txBox="1"/>
          <p:nvPr/>
        </p:nvSpPr>
        <p:spPr>
          <a:xfrm>
            <a:off x="1474927" y="313273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61" name="Shape 56"/>
          <p:cNvSpPr/>
          <p:nvPr/>
        </p:nvSpPr>
        <p:spPr>
          <a:xfrm>
            <a:off x="1474927" y="3479292"/>
            <a:ext cx="1028700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 57"/>
          <p:cNvSpPr txBox="1"/>
          <p:nvPr/>
        </p:nvSpPr>
        <p:spPr>
          <a:xfrm>
            <a:off x="1579169" y="3536899"/>
            <a:ext cx="8979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 CASTING</a:t>
            </a:r>
            <a:endParaRPr lang="en-US" sz="800" dirty="0"/>
          </a:p>
        </p:txBody>
      </p:sp>
      <p:sp>
        <p:nvSpPr>
          <p:cNvPr id="63" name="Text 58"/>
          <p:cNvSpPr txBox="1"/>
          <p:nvPr/>
        </p:nvSpPr>
        <p:spPr>
          <a:xfrm>
            <a:off x="1474927" y="3837737"/>
            <a:ext cx="31482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Automatically convert JSON to array</a:t>
            </a:r>
            <a:endParaRPr lang="en-US" sz="1000" dirty="0"/>
          </a:p>
        </p:txBody>
      </p:sp>
      <p:sp>
        <p:nvSpPr>
          <p:cNvPr id="64" name="Text 59"/>
          <p:cNvSpPr txBox="1"/>
          <p:nvPr/>
        </p:nvSpPr>
        <p:spPr>
          <a:xfrm>
            <a:off x="1474927" y="4050792"/>
            <a:ext cx="8247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protected</a:t>
            </a:r>
            <a:endParaRPr lang="en-US" sz="1000" dirty="0"/>
          </a:p>
        </p:txBody>
      </p:sp>
      <p:sp>
        <p:nvSpPr>
          <p:cNvPr id="65" name="Text 60"/>
          <p:cNvSpPr txBox="1"/>
          <p:nvPr/>
        </p:nvSpPr>
        <p:spPr>
          <a:xfrm>
            <a:off x="2194560" y="4050792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$casts</a:t>
            </a:r>
            <a:endParaRPr lang="en-US" sz="1000" dirty="0"/>
          </a:p>
        </p:txBody>
      </p:sp>
      <p:sp>
        <p:nvSpPr>
          <p:cNvPr id="66" name="Text 61"/>
          <p:cNvSpPr txBox="1"/>
          <p:nvPr/>
        </p:nvSpPr>
        <p:spPr>
          <a:xfrm>
            <a:off x="2674620" y="405079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1000" dirty="0"/>
          </a:p>
        </p:txBody>
      </p:sp>
      <p:sp>
        <p:nvSpPr>
          <p:cNvPr id="67" name="Text 62"/>
          <p:cNvSpPr txBox="1"/>
          <p:nvPr/>
        </p:nvSpPr>
        <p:spPr>
          <a:xfrm>
            <a:off x="2755087" y="405079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</a:t>
            </a:r>
            <a:endParaRPr lang="en-US" sz="1000" dirty="0"/>
          </a:p>
        </p:txBody>
      </p:sp>
      <p:sp>
        <p:nvSpPr>
          <p:cNvPr id="68" name="Text 63"/>
          <p:cNvSpPr txBox="1"/>
          <p:nvPr/>
        </p:nvSpPr>
        <p:spPr>
          <a:xfrm>
            <a:off x="1474927" y="4264762"/>
            <a:ext cx="8247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'open_to'</a:t>
            </a:r>
            <a:endParaRPr lang="en-US" sz="1000" dirty="0"/>
          </a:p>
        </p:txBody>
      </p:sp>
      <p:sp>
        <p:nvSpPr>
          <p:cNvPr id="69" name="Text 64"/>
          <p:cNvSpPr txBox="1"/>
          <p:nvPr/>
        </p:nvSpPr>
        <p:spPr>
          <a:xfrm>
            <a:off x="2194560" y="426476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1000" dirty="0"/>
          </a:p>
        </p:txBody>
      </p:sp>
      <p:sp>
        <p:nvSpPr>
          <p:cNvPr id="70" name="Text 65"/>
          <p:cNvSpPr txBox="1"/>
          <p:nvPr/>
        </p:nvSpPr>
        <p:spPr>
          <a:xfrm>
            <a:off x="2354580" y="4264762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'array'</a:t>
            </a:r>
            <a:endParaRPr lang="en-US" sz="1000" dirty="0"/>
          </a:p>
        </p:txBody>
      </p:sp>
      <p:sp>
        <p:nvSpPr>
          <p:cNvPr id="71" name="Text 66"/>
          <p:cNvSpPr txBox="1"/>
          <p:nvPr/>
        </p:nvSpPr>
        <p:spPr>
          <a:xfrm>
            <a:off x="2915107" y="426476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72" name="Text 67"/>
          <p:cNvSpPr txBox="1"/>
          <p:nvPr/>
        </p:nvSpPr>
        <p:spPr>
          <a:xfrm>
            <a:off x="1474927" y="4477817"/>
            <a:ext cx="10625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'special_to'</a:t>
            </a:r>
            <a:endParaRPr lang="en-US" sz="1000" dirty="0"/>
          </a:p>
        </p:txBody>
      </p:sp>
      <p:sp>
        <p:nvSpPr>
          <p:cNvPr id="73" name="Text 68"/>
          <p:cNvSpPr txBox="1"/>
          <p:nvPr/>
        </p:nvSpPr>
        <p:spPr>
          <a:xfrm>
            <a:off x="2435047" y="447781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1000" dirty="0"/>
          </a:p>
        </p:txBody>
      </p:sp>
      <p:sp>
        <p:nvSpPr>
          <p:cNvPr id="74" name="Text 69"/>
          <p:cNvSpPr txBox="1"/>
          <p:nvPr/>
        </p:nvSpPr>
        <p:spPr>
          <a:xfrm>
            <a:off x="2595067" y="4477817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'array'</a:t>
            </a:r>
            <a:endParaRPr lang="en-US" sz="1000" dirty="0"/>
          </a:p>
        </p:txBody>
      </p:sp>
      <p:sp>
        <p:nvSpPr>
          <p:cNvPr id="75" name="Text 70"/>
          <p:cNvSpPr txBox="1"/>
          <p:nvPr/>
        </p:nvSpPr>
        <p:spPr>
          <a:xfrm>
            <a:off x="3155594" y="447781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76" name="Text 71"/>
          <p:cNvSpPr txBox="1"/>
          <p:nvPr/>
        </p:nvSpPr>
        <p:spPr>
          <a:xfrm>
            <a:off x="1474927" y="4691786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'status'</a:t>
            </a:r>
            <a:endParaRPr lang="en-US" sz="1000" dirty="0"/>
          </a:p>
        </p:txBody>
      </p:sp>
      <p:sp>
        <p:nvSpPr>
          <p:cNvPr id="77" name="Text 72"/>
          <p:cNvSpPr txBox="1"/>
          <p:nvPr/>
        </p:nvSpPr>
        <p:spPr>
          <a:xfrm>
            <a:off x="2115007" y="469178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1000" dirty="0"/>
          </a:p>
        </p:txBody>
      </p:sp>
      <p:sp>
        <p:nvSpPr>
          <p:cNvPr id="78" name="Text 73"/>
          <p:cNvSpPr txBox="1"/>
          <p:nvPr/>
        </p:nvSpPr>
        <p:spPr>
          <a:xfrm>
            <a:off x="2275027" y="4691786"/>
            <a:ext cx="10625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CourseStatus</a:t>
            </a:r>
            <a:endParaRPr lang="en-US" sz="1000" dirty="0"/>
          </a:p>
        </p:txBody>
      </p:sp>
      <p:sp>
        <p:nvSpPr>
          <p:cNvPr id="79" name="Text 74"/>
          <p:cNvSpPr txBox="1"/>
          <p:nvPr/>
        </p:nvSpPr>
        <p:spPr>
          <a:xfrm>
            <a:off x="3235147" y="469178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1000" dirty="0"/>
          </a:p>
        </p:txBody>
      </p:sp>
      <p:sp>
        <p:nvSpPr>
          <p:cNvPr id="80" name="Text 75"/>
          <p:cNvSpPr txBox="1"/>
          <p:nvPr/>
        </p:nvSpPr>
        <p:spPr>
          <a:xfrm>
            <a:off x="3395167" y="4691786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class,</a:t>
            </a:r>
            <a:endParaRPr lang="en-US" sz="1000" dirty="0"/>
          </a:p>
        </p:txBody>
      </p:sp>
      <p:sp>
        <p:nvSpPr>
          <p:cNvPr id="81" name="Text 76"/>
          <p:cNvSpPr txBox="1"/>
          <p:nvPr/>
        </p:nvSpPr>
        <p:spPr>
          <a:xfrm>
            <a:off x="1474927" y="490484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];</a:t>
            </a:r>
            <a:endParaRPr lang="en-US" sz="1000" dirty="0"/>
          </a:p>
        </p:txBody>
      </p:sp>
      <p:sp>
        <p:nvSpPr>
          <p:cNvPr id="82" name="Text 77"/>
          <p:cNvSpPr txBox="1"/>
          <p:nvPr/>
        </p:nvSpPr>
        <p:spPr>
          <a:xfrm>
            <a:off x="6705295" y="1819656"/>
            <a:ext cx="31409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app/Http/Controllers/CourseController.php</a:t>
            </a:r>
            <a:endParaRPr lang="en-US" sz="900" dirty="0"/>
          </a:p>
        </p:txBody>
      </p:sp>
      <p:sp>
        <p:nvSpPr>
          <p:cNvPr id="83" name="Text 78"/>
          <p:cNvSpPr txBox="1"/>
          <p:nvPr/>
        </p:nvSpPr>
        <p:spPr>
          <a:xfrm>
            <a:off x="6476695" y="236738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</a:t>
            </a:r>
            <a:endParaRPr lang="en-US" sz="1000" dirty="0"/>
          </a:p>
        </p:txBody>
      </p:sp>
      <p:sp>
        <p:nvSpPr>
          <p:cNvPr id="84" name="Text 79"/>
          <p:cNvSpPr txBox="1"/>
          <p:nvPr/>
        </p:nvSpPr>
        <p:spPr>
          <a:xfrm>
            <a:off x="6476695" y="258043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</a:t>
            </a:r>
            <a:endParaRPr lang="en-US" sz="1000" dirty="0"/>
          </a:p>
        </p:txBody>
      </p:sp>
      <p:sp>
        <p:nvSpPr>
          <p:cNvPr id="85" name="Text 80"/>
          <p:cNvSpPr txBox="1"/>
          <p:nvPr/>
        </p:nvSpPr>
        <p:spPr>
          <a:xfrm>
            <a:off x="6476695" y="279349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47</a:t>
            </a:r>
            <a:endParaRPr lang="en-US" sz="1000" dirty="0"/>
          </a:p>
        </p:txBody>
      </p:sp>
      <p:sp>
        <p:nvSpPr>
          <p:cNvPr id="86" name="Text 81"/>
          <p:cNvSpPr txBox="1"/>
          <p:nvPr/>
        </p:nvSpPr>
        <p:spPr>
          <a:xfrm>
            <a:off x="6476695" y="300746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48</a:t>
            </a:r>
            <a:endParaRPr lang="en-US" sz="1000" dirty="0"/>
          </a:p>
        </p:txBody>
      </p:sp>
      <p:sp>
        <p:nvSpPr>
          <p:cNvPr id="87" name="Text 82"/>
          <p:cNvSpPr txBox="1"/>
          <p:nvPr/>
        </p:nvSpPr>
        <p:spPr>
          <a:xfrm>
            <a:off x="6476695" y="322051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</a:t>
            </a:r>
            <a:endParaRPr lang="en-US" sz="1000" dirty="0"/>
          </a:p>
        </p:txBody>
      </p:sp>
      <p:sp>
        <p:nvSpPr>
          <p:cNvPr id="88" name="Text 83"/>
          <p:cNvSpPr txBox="1"/>
          <p:nvPr/>
        </p:nvSpPr>
        <p:spPr>
          <a:xfrm>
            <a:off x="6476695" y="343448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</a:t>
            </a:r>
            <a:endParaRPr lang="en-US" sz="1000" dirty="0"/>
          </a:p>
        </p:txBody>
      </p:sp>
      <p:sp>
        <p:nvSpPr>
          <p:cNvPr id="89" name="Text 84"/>
          <p:cNvSpPr txBox="1"/>
          <p:nvPr/>
        </p:nvSpPr>
        <p:spPr>
          <a:xfrm>
            <a:off x="6476695" y="364754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51</a:t>
            </a:r>
            <a:endParaRPr lang="en-US" sz="1000" dirty="0"/>
          </a:p>
        </p:txBody>
      </p:sp>
      <p:sp>
        <p:nvSpPr>
          <p:cNvPr id="90" name="Text 85"/>
          <p:cNvSpPr txBox="1"/>
          <p:nvPr/>
        </p:nvSpPr>
        <p:spPr>
          <a:xfrm>
            <a:off x="6476695" y="386059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52</a:t>
            </a:r>
            <a:endParaRPr lang="en-US" sz="1000" dirty="0"/>
          </a:p>
        </p:txBody>
      </p:sp>
      <p:sp>
        <p:nvSpPr>
          <p:cNvPr id="91" name="Text 86"/>
          <p:cNvSpPr txBox="1"/>
          <p:nvPr/>
        </p:nvSpPr>
        <p:spPr>
          <a:xfrm>
            <a:off x="6476695" y="407456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53</a:t>
            </a:r>
            <a:endParaRPr lang="en-US" sz="1000" dirty="0"/>
          </a:p>
        </p:txBody>
      </p:sp>
      <p:sp>
        <p:nvSpPr>
          <p:cNvPr id="92" name="Text 87"/>
          <p:cNvSpPr txBox="1"/>
          <p:nvPr/>
        </p:nvSpPr>
        <p:spPr>
          <a:xfrm>
            <a:off x="6476695" y="428762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54</a:t>
            </a:r>
            <a:endParaRPr lang="en-US" sz="1000" dirty="0"/>
          </a:p>
        </p:txBody>
      </p:sp>
      <p:sp>
        <p:nvSpPr>
          <p:cNvPr id="93" name="Text 88"/>
          <p:cNvSpPr txBox="1"/>
          <p:nvPr/>
        </p:nvSpPr>
        <p:spPr>
          <a:xfrm>
            <a:off x="6476695" y="4501591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55</a:t>
            </a:r>
            <a:endParaRPr lang="en-US" sz="1000" dirty="0"/>
          </a:p>
        </p:txBody>
      </p:sp>
      <p:sp>
        <p:nvSpPr>
          <p:cNvPr id="94" name="Text 89"/>
          <p:cNvSpPr txBox="1"/>
          <p:nvPr/>
        </p:nvSpPr>
        <p:spPr>
          <a:xfrm>
            <a:off x="6476695" y="471464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56</a:t>
            </a:r>
            <a:endParaRPr lang="en-US" sz="1000" dirty="0"/>
          </a:p>
        </p:txBody>
      </p:sp>
      <p:sp>
        <p:nvSpPr>
          <p:cNvPr id="95" name="Text 90"/>
          <p:cNvSpPr txBox="1"/>
          <p:nvPr/>
        </p:nvSpPr>
        <p:spPr>
          <a:xfrm>
            <a:off x="6476695" y="492770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57</a:t>
            </a:r>
            <a:endParaRPr lang="en-US" sz="1000" dirty="0"/>
          </a:p>
        </p:txBody>
      </p:sp>
      <p:sp>
        <p:nvSpPr>
          <p:cNvPr id="96" name="Shape 91"/>
          <p:cNvSpPr/>
          <p:nvPr/>
        </p:nvSpPr>
        <p:spPr>
          <a:xfrm>
            <a:off x="6951269" y="2348179"/>
            <a:ext cx="2057400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7" name="Text 92"/>
          <p:cNvSpPr txBox="1"/>
          <p:nvPr/>
        </p:nvSpPr>
        <p:spPr>
          <a:xfrm>
            <a:off x="7056425" y="2404872"/>
            <a:ext cx="19266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EAGER LOADING (PERFORMANCE)</a:t>
            </a:r>
            <a:endParaRPr lang="en-US" sz="800" dirty="0"/>
          </a:p>
        </p:txBody>
      </p:sp>
      <p:sp>
        <p:nvSpPr>
          <p:cNvPr id="98" name="Text 93"/>
          <p:cNvSpPr txBox="1"/>
          <p:nvPr/>
        </p:nvSpPr>
        <p:spPr>
          <a:xfrm>
            <a:off x="6951269" y="2705710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$courses</a:t>
            </a:r>
            <a:endParaRPr lang="en-US" sz="1000" dirty="0"/>
          </a:p>
        </p:txBody>
      </p:sp>
      <p:sp>
        <p:nvSpPr>
          <p:cNvPr id="99" name="Text 94"/>
          <p:cNvSpPr txBox="1"/>
          <p:nvPr/>
        </p:nvSpPr>
        <p:spPr>
          <a:xfrm>
            <a:off x="7591349" y="2705710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1000" dirty="0"/>
          </a:p>
        </p:txBody>
      </p:sp>
      <p:sp>
        <p:nvSpPr>
          <p:cNvPr id="100" name="Text 95"/>
          <p:cNvSpPr txBox="1"/>
          <p:nvPr/>
        </p:nvSpPr>
        <p:spPr>
          <a:xfrm>
            <a:off x="7671816" y="2705710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</a:t>
            </a:r>
            <a:endParaRPr lang="en-US" sz="1000" dirty="0"/>
          </a:p>
        </p:txBody>
      </p:sp>
      <p:sp>
        <p:nvSpPr>
          <p:cNvPr id="101" name="Text 96"/>
          <p:cNvSpPr txBox="1"/>
          <p:nvPr/>
        </p:nvSpPr>
        <p:spPr>
          <a:xfrm>
            <a:off x="8151876" y="2705710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1000" dirty="0"/>
          </a:p>
        </p:txBody>
      </p:sp>
      <p:sp>
        <p:nvSpPr>
          <p:cNvPr id="102" name="Text 97"/>
          <p:cNvSpPr txBox="1"/>
          <p:nvPr/>
        </p:nvSpPr>
        <p:spPr>
          <a:xfrm>
            <a:off x="8311896" y="2705710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</a:t>
            </a:r>
            <a:endParaRPr lang="en-US" sz="1000" dirty="0"/>
          </a:p>
        </p:txBody>
      </p:sp>
      <p:sp>
        <p:nvSpPr>
          <p:cNvPr id="103" name="Text 98"/>
          <p:cNvSpPr txBox="1"/>
          <p:nvPr/>
        </p:nvSpPr>
        <p:spPr>
          <a:xfrm>
            <a:off x="8631936" y="2705710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([</a:t>
            </a:r>
            <a:endParaRPr lang="en-US" sz="1000" dirty="0"/>
          </a:p>
        </p:txBody>
      </p:sp>
      <p:sp>
        <p:nvSpPr>
          <p:cNvPr id="104" name="Text 99"/>
          <p:cNvSpPr txBox="1"/>
          <p:nvPr/>
        </p:nvSpPr>
        <p:spPr>
          <a:xfrm>
            <a:off x="6951269" y="2919679"/>
            <a:ext cx="11484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'subCategory'</a:t>
            </a:r>
            <a:endParaRPr lang="en-US" sz="1000" dirty="0"/>
          </a:p>
        </p:txBody>
      </p:sp>
      <p:sp>
        <p:nvSpPr>
          <p:cNvPr id="105" name="Text 100"/>
          <p:cNvSpPr txBox="1"/>
          <p:nvPr/>
        </p:nvSpPr>
        <p:spPr>
          <a:xfrm>
            <a:off x="7991856" y="2919679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106" name="Text 101"/>
          <p:cNvSpPr txBox="1"/>
          <p:nvPr/>
        </p:nvSpPr>
        <p:spPr>
          <a:xfrm>
            <a:off x="6951269" y="3132734"/>
            <a:ext cx="9866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'createdBy'</a:t>
            </a:r>
            <a:endParaRPr lang="en-US" sz="1000" dirty="0"/>
          </a:p>
        </p:txBody>
      </p:sp>
      <p:sp>
        <p:nvSpPr>
          <p:cNvPr id="107" name="Text 102"/>
          <p:cNvSpPr txBox="1"/>
          <p:nvPr/>
        </p:nvSpPr>
        <p:spPr>
          <a:xfrm>
            <a:off x="7831836" y="313273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108" name="Text 103"/>
          <p:cNvSpPr txBox="1"/>
          <p:nvPr/>
        </p:nvSpPr>
        <p:spPr>
          <a:xfrm>
            <a:off x="6951269" y="3346704"/>
            <a:ext cx="9006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'sessions'</a:t>
            </a:r>
            <a:endParaRPr lang="en-US" sz="1000" dirty="0"/>
          </a:p>
        </p:txBody>
      </p:sp>
      <p:sp>
        <p:nvSpPr>
          <p:cNvPr id="109" name="Text 104"/>
          <p:cNvSpPr txBox="1"/>
          <p:nvPr/>
        </p:nvSpPr>
        <p:spPr>
          <a:xfrm>
            <a:off x="7751369" y="334670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1000" dirty="0"/>
          </a:p>
        </p:txBody>
      </p:sp>
      <p:sp>
        <p:nvSpPr>
          <p:cNvPr id="110" name="Text 105"/>
          <p:cNvSpPr txBox="1"/>
          <p:nvPr/>
        </p:nvSpPr>
        <p:spPr>
          <a:xfrm>
            <a:off x="7911389" y="334670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fn</a:t>
            </a:r>
            <a:endParaRPr lang="en-US" sz="1000" dirty="0"/>
          </a:p>
        </p:txBody>
      </p:sp>
      <p:sp>
        <p:nvSpPr>
          <p:cNvPr id="111" name="Text 106"/>
          <p:cNvSpPr txBox="1"/>
          <p:nvPr/>
        </p:nvSpPr>
        <p:spPr>
          <a:xfrm>
            <a:off x="8071409" y="334670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112" name="Text 107"/>
          <p:cNvSpPr txBox="1"/>
          <p:nvPr/>
        </p:nvSpPr>
        <p:spPr>
          <a:xfrm>
            <a:off x="8151876" y="334670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$q</a:t>
            </a:r>
            <a:endParaRPr lang="en-US" sz="1000" dirty="0"/>
          </a:p>
        </p:txBody>
      </p:sp>
      <p:sp>
        <p:nvSpPr>
          <p:cNvPr id="113" name="Text 108"/>
          <p:cNvSpPr txBox="1"/>
          <p:nvPr/>
        </p:nvSpPr>
        <p:spPr>
          <a:xfrm>
            <a:off x="8311896" y="334670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114" name="Text 109"/>
          <p:cNvSpPr txBox="1"/>
          <p:nvPr/>
        </p:nvSpPr>
        <p:spPr>
          <a:xfrm>
            <a:off x="8392363" y="334670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1000" dirty="0"/>
          </a:p>
        </p:txBody>
      </p:sp>
      <p:sp>
        <p:nvSpPr>
          <p:cNvPr id="115" name="Text 110"/>
          <p:cNvSpPr txBox="1"/>
          <p:nvPr/>
        </p:nvSpPr>
        <p:spPr>
          <a:xfrm>
            <a:off x="8552383" y="334670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$q</a:t>
            </a:r>
            <a:endParaRPr lang="en-US" sz="1000" dirty="0"/>
          </a:p>
        </p:txBody>
      </p:sp>
      <p:sp>
        <p:nvSpPr>
          <p:cNvPr id="116" name="Text 111"/>
          <p:cNvSpPr txBox="1"/>
          <p:nvPr/>
        </p:nvSpPr>
        <p:spPr>
          <a:xfrm>
            <a:off x="8712403" y="334670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117" name="Text 112"/>
          <p:cNvSpPr txBox="1"/>
          <p:nvPr/>
        </p:nvSpPr>
        <p:spPr>
          <a:xfrm>
            <a:off x="8872423" y="3346704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orderBy</a:t>
            </a:r>
            <a:endParaRPr lang="en-US" sz="1000" dirty="0"/>
          </a:p>
        </p:txBody>
      </p:sp>
      <p:sp>
        <p:nvSpPr>
          <p:cNvPr id="118" name="Text 113"/>
          <p:cNvSpPr txBox="1"/>
          <p:nvPr/>
        </p:nvSpPr>
        <p:spPr>
          <a:xfrm>
            <a:off x="9432950" y="334670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119" name="Text 114"/>
          <p:cNvSpPr txBox="1"/>
          <p:nvPr/>
        </p:nvSpPr>
        <p:spPr>
          <a:xfrm>
            <a:off x="9512503" y="3346704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'date'</a:t>
            </a:r>
            <a:endParaRPr lang="en-US" sz="1000" dirty="0"/>
          </a:p>
        </p:txBody>
      </p:sp>
      <p:sp>
        <p:nvSpPr>
          <p:cNvPr id="120" name="Text 115"/>
          <p:cNvSpPr txBox="1"/>
          <p:nvPr/>
        </p:nvSpPr>
        <p:spPr>
          <a:xfrm>
            <a:off x="9992563" y="334670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121" name="Text 116"/>
          <p:cNvSpPr txBox="1"/>
          <p:nvPr/>
        </p:nvSpPr>
        <p:spPr>
          <a:xfrm>
            <a:off x="6951269" y="3559759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</a:t>
            </a:r>
            <a:endParaRPr lang="en-US" sz="1000" dirty="0"/>
          </a:p>
        </p:txBody>
      </p:sp>
      <p:sp>
        <p:nvSpPr>
          <p:cNvPr id="122" name="Text 117"/>
          <p:cNvSpPr txBox="1"/>
          <p:nvPr/>
        </p:nvSpPr>
        <p:spPr>
          <a:xfrm>
            <a:off x="6951269" y="377281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123" name="Text 118"/>
          <p:cNvSpPr txBox="1"/>
          <p:nvPr/>
        </p:nvSpPr>
        <p:spPr>
          <a:xfrm>
            <a:off x="7111289" y="3772814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endParaRPr lang="en-US" sz="1000" dirty="0"/>
          </a:p>
        </p:txBody>
      </p:sp>
      <p:sp>
        <p:nvSpPr>
          <p:cNvPr id="124" name="Text 119"/>
          <p:cNvSpPr txBox="1"/>
          <p:nvPr/>
        </p:nvSpPr>
        <p:spPr>
          <a:xfrm>
            <a:off x="7511796" y="377281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125" name="Text 120"/>
          <p:cNvSpPr txBox="1"/>
          <p:nvPr/>
        </p:nvSpPr>
        <p:spPr>
          <a:xfrm>
            <a:off x="7591349" y="3772814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'status'</a:t>
            </a:r>
            <a:endParaRPr lang="en-US" sz="1000" dirty="0"/>
          </a:p>
        </p:txBody>
      </p:sp>
      <p:sp>
        <p:nvSpPr>
          <p:cNvPr id="126" name="Text 121"/>
          <p:cNvSpPr txBox="1"/>
          <p:nvPr/>
        </p:nvSpPr>
        <p:spPr>
          <a:xfrm>
            <a:off x="8231429" y="377281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127" name="Text 122"/>
          <p:cNvSpPr txBox="1"/>
          <p:nvPr/>
        </p:nvSpPr>
        <p:spPr>
          <a:xfrm>
            <a:off x="8311896" y="3772814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'active'</a:t>
            </a:r>
            <a:endParaRPr lang="en-US" sz="1000" dirty="0"/>
          </a:p>
        </p:txBody>
      </p:sp>
      <p:sp>
        <p:nvSpPr>
          <p:cNvPr id="128" name="Text 123"/>
          <p:cNvSpPr txBox="1"/>
          <p:nvPr/>
        </p:nvSpPr>
        <p:spPr>
          <a:xfrm>
            <a:off x="8951976" y="377281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129" name="Text 124"/>
          <p:cNvSpPr txBox="1"/>
          <p:nvPr/>
        </p:nvSpPr>
        <p:spPr>
          <a:xfrm>
            <a:off x="6951269" y="398678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130" name="Text 125"/>
          <p:cNvSpPr txBox="1"/>
          <p:nvPr/>
        </p:nvSpPr>
        <p:spPr>
          <a:xfrm>
            <a:off x="7111289" y="3986784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paginate</a:t>
            </a:r>
            <a:endParaRPr lang="en-US" sz="1000" dirty="0"/>
          </a:p>
        </p:txBody>
      </p:sp>
      <p:sp>
        <p:nvSpPr>
          <p:cNvPr id="131" name="Text 126"/>
          <p:cNvSpPr txBox="1"/>
          <p:nvPr/>
        </p:nvSpPr>
        <p:spPr>
          <a:xfrm>
            <a:off x="7751369" y="398678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132" name="Text 127"/>
          <p:cNvSpPr txBox="1"/>
          <p:nvPr/>
        </p:nvSpPr>
        <p:spPr>
          <a:xfrm>
            <a:off x="7831836" y="398678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000" dirty="0"/>
          </a:p>
        </p:txBody>
      </p:sp>
      <p:sp>
        <p:nvSpPr>
          <p:cNvPr id="133" name="Text 128"/>
          <p:cNvSpPr txBox="1"/>
          <p:nvPr/>
        </p:nvSpPr>
        <p:spPr>
          <a:xfrm>
            <a:off x="7991856" y="398678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000" dirty="0"/>
          </a:p>
        </p:txBody>
      </p:sp>
      <p:sp>
        <p:nvSpPr>
          <p:cNvPr id="134" name="Text 129"/>
          <p:cNvSpPr txBox="1"/>
          <p:nvPr/>
        </p:nvSpPr>
        <p:spPr>
          <a:xfrm>
            <a:off x="7294169" y="4428439"/>
            <a:ext cx="37417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Reduces queries from N+1 (300+) to just 3 queries</a:t>
            </a:r>
            <a:endParaRPr lang="en-US" sz="900" dirty="0"/>
          </a:p>
        </p:txBody>
      </p:sp>
      <p:sp>
        <p:nvSpPr>
          <p:cNvPr id="135" name="Text 130"/>
          <p:cNvSpPr txBox="1"/>
          <p:nvPr/>
        </p:nvSpPr>
        <p:spPr>
          <a:xfrm>
            <a:off x="6951269" y="4922215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endParaRPr lang="en-US" sz="1000" dirty="0"/>
          </a:p>
        </p:txBody>
      </p:sp>
      <p:sp>
        <p:nvSpPr>
          <p:cNvPr id="136" name="Text 131"/>
          <p:cNvSpPr txBox="1"/>
          <p:nvPr/>
        </p:nvSpPr>
        <p:spPr>
          <a:xfrm>
            <a:off x="7431329" y="4922215"/>
            <a:ext cx="12243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CourseResource</a:t>
            </a:r>
            <a:endParaRPr lang="en-US" sz="1000" dirty="0"/>
          </a:p>
        </p:txBody>
      </p:sp>
      <p:sp>
        <p:nvSpPr>
          <p:cNvPr id="137" name="Text 132"/>
          <p:cNvSpPr txBox="1"/>
          <p:nvPr/>
        </p:nvSpPr>
        <p:spPr>
          <a:xfrm>
            <a:off x="8551469" y="4922215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1000" dirty="0"/>
          </a:p>
        </p:txBody>
      </p:sp>
      <p:sp>
        <p:nvSpPr>
          <p:cNvPr id="138" name="Text 133"/>
          <p:cNvSpPr txBox="1"/>
          <p:nvPr/>
        </p:nvSpPr>
        <p:spPr>
          <a:xfrm>
            <a:off x="8712403" y="4922215"/>
            <a:ext cx="9006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139" name="Text 134"/>
          <p:cNvSpPr txBox="1"/>
          <p:nvPr/>
        </p:nvSpPr>
        <p:spPr>
          <a:xfrm>
            <a:off x="9512503" y="4922215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140" name="Text 135"/>
          <p:cNvSpPr txBox="1"/>
          <p:nvPr/>
        </p:nvSpPr>
        <p:spPr>
          <a:xfrm>
            <a:off x="9592056" y="4922215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$courses</a:t>
            </a:r>
            <a:endParaRPr lang="en-US" sz="1000" dirty="0"/>
          </a:p>
        </p:txBody>
      </p:sp>
      <p:sp>
        <p:nvSpPr>
          <p:cNvPr id="141" name="Text 136"/>
          <p:cNvSpPr txBox="1"/>
          <p:nvPr/>
        </p:nvSpPr>
        <p:spPr>
          <a:xfrm>
            <a:off x="10232136" y="4922215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000" dirty="0"/>
          </a:p>
        </p:txBody>
      </p:sp>
      <p:sp>
        <p:nvSpPr>
          <p:cNvPr id="142" name="Text 137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210605" y="-952805"/>
            <a:ext cx="4762195" cy="4762195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09905" y="4000500"/>
            <a:ext cx="4286707" cy="4286707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61695" y="1390802"/>
            <a:ext cx="106683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761695" y="2257654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961949" y="242407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5451" y="2557577"/>
            <a:ext cx="190195" cy="1901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1695" y="3238805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8"/>
          <p:cNvSpPr/>
          <p:nvPr/>
        </p:nvSpPr>
        <p:spPr>
          <a:xfrm>
            <a:off x="961949" y="340522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95451" y="3538728"/>
            <a:ext cx="190195" cy="19019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61695" y="4219956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0"/>
          <p:cNvSpPr/>
          <p:nvPr/>
        </p:nvSpPr>
        <p:spPr>
          <a:xfrm>
            <a:off x="961949" y="4386377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5451" y="4519879"/>
            <a:ext cx="190195" cy="19019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61695" y="5201107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2"/>
          <p:cNvSpPr/>
          <p:nvPr/>
        </p:nvSpPr>
        <p:spPr>
          <a:xfrm>
            <a:off x="961949" y="5367528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64748B">
              <a:alpha val="15000"/>
            </a:srgbClr>
          </a:solidFill>
          <a:ln w="12700">
            <a:solidFill>
              <a:srgbClr val="64748B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5451" y="5501030"/>
            <a:ext cx="190195" cy="19019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86500" y="2257654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Shape 14"/>
          <p:cNvSpPr/>
          <p:nvPr/>
        </p:nvSpPr>
        <p:spPr>
          <a:xfrm>
            <a:off x="6486754" y="242407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6605626" y="2557577"/>
            <a:ext cx="219456" cy="19019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286500" y="3238805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16"/>
          <p:cNvSpPr/>
          <p:nvPr/>
        </p:nvSpPr>
        <p:spPr>
          <a:xfrm>
            <a:off x="6486754" y="340522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44030" y="3538728"/>
            <a:ext cx="142646" cy="190195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286500" y="4219956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Shape 18"/>
          <p:cNvSpPr/>
          <p:nvPr/>
        </p:nvSpPr>
        <p:spPr>
          <a:xfrm>
            <a:off x="6486754" y="4386377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43F5E">
              <a:alpha val="15000"/>
            </a:srgbClr>
          </a:solidFill>
          <a:ln w="12700">
            <a:solidFill>
              <a:srgbClr val="F43F5E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644030" y="4519879"/>
            <a:ext cx="142646" cy="19019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61695" y="457200"/>
            <a:ext cx="33723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RESTful API Design</a:t>
            </a:r>
            <a:endParaRPr lang="en-US" sz="2700" dirty="0"/>
          </a:p>
        </p:txBody>
      </p:sp>
      <p:sp>
        <p:nvSpPr>
          <p:cNvPr id="29" name="Text 20"/>
          <p:cNvSpPr txBox="1"/>
          <p:nvPr/>
        </p:nvSpPr>
        <p:spPr>
          <a:xfrm>
            <a:off x="761695" y="961949"/>
            <a:ext cx="30723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Standards, Methods &amp; Best Practices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800100" y="1790395"/>
            <a:ext cx="12673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PRINCIPLES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1609344" y="2428646"/>
            <a:ext cx="1677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Resource-Oriented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1609344" y="2695651"/>
            <a:ext cx="32223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 as nouns, not verbs (e.g. /courses)</a:t>
            </a:r>
            <a:endParaRPr lang="en-US" sz="1100" dirty="0"/>
          </a:p>
        </p:txBody>
      </p:sp>
      <p:sp>
        <p:nvSpPr>
          <p:cNvPr id="33" name="Text 24"/>
          <p:cNvSpPr txBox="1"/>
          <p:nvPr/>
        </p:nvSpPr>
        <p:spPr>
          <a:xfrm>
            <a:off x="1609344" y="3409798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 Methods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1609344" y="3676802"/>
            <a:ext cx="279349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GET, POST, PUT, DELETE for semantics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1609344" y="4390949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 Codes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1609344" y="4657954"/>
            <a:ext cx="26032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codes (200, 201, 404, 500)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1609344" y="5372100"/>
            <a:ext cx="1124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1609344" y="5639105"/>
            <a:ext cx="26032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Uniform request/response structures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6324905" y="1790395"/>
            <a:ext cx="20007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FEATURES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7134149" y="2428646"/>
            <a:ext cx="103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Pagination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7134149" y="2695651"/>
            <a:ext cx="245059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handling of large datasets</a:t>
            </a:r>
            <a:endParaRPr lang="en-US" sz="1100" dirty="0"/>
          </a:p>
        </p:txBody>
      </p:sp>
      <p:sp>
        <p:nvSpPr>
          <p:cNvPr id="42" name="Text 33"/>
          <p:cNvSpPr txBox="1"/>
          <p:nvPr/>
        </p:nvSpPr>
        <p:spPr>
          <a:xfrm>
            <a:off x="7134149" y="3409798"/>
            <a:ext cx="1305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 Resources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7134149" y="3676802"/>
            <a:ext cx="21936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 layer (Eloquent</a:t>
            </a:r>
            <a:endParaRPr lang="en-US" sz="11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9269273" y="3719779"/>
            <a:ext cx="105156" cy="11430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9431122" y="3676802"/>
            <a:ext cx="55504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JSON)</a:t>
            </a:r>
            <a:endParaRPr lang="en-US" sz="1100" dirty="0"/>
          </a:p>
        </p:txBody>
      </p:sp>
      <p:sp>
        <p:nvSpPr>
          <p:cNvPr id="46" name="Text 36"/>
          <p:cNvSpPr txBox="1"/>
          <p:nvPr/>
        </p:nvSpPr>
        <p:spPr>
          <a:xfrm>
            <a:off x="7134149" y="4390949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Form Validation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7134149" y="4657954"/>
            <a:ext cx="23079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input validation logic</a:t>
            </a:r>
            <a:endParaRPr lang="en-US" sz="1100" dirty="0"/>
          </a:p>
        </p:txBody>
      </p:sp>
      <p:sp>
        <p:nvSpPr>
          <p:cNvPr id="48" name="Shape 38"/>
          <p:cNvSpPr/>
          <p:nvPr/>
        </p:nvSpPr>
        <p:spPr>
          <a:xfrm>
            <a:off x="6286500" y="5600700"/>
            <a:ext cx="5143500" cy="780898"/>
          </a:xfrm>
          <a:prstGeom prst="roundRect">
            <a:avLst>
              <a:gd name="adj" fmla="val 11424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9" name="Shape 39"/>
          <p:cNvSpPr/>
          <p:nvPr/>
        </p:nvSpPr>
        <p:spPr>
          <a:xfrm>
            <a:off x="11192256" y="606704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6366F1">
              <a:alpha val="9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0" name="Text 40"/>
          <p:cNvSpPr txBox="1"/>
          <p:nvPr/>
        </p:nvSpPr>
        <p:spPr>
          <a:xfrm>
            <a:off x="6448349" y="5772607"/>
            <a:ext cx="9811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>
                    <a:alpha val="9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PROJECT SCALE</a:t>
            </a:r>
            <a:endParaRPr lang="en-US" sz="900" dirty="0"/>
          </a:p>
        </p:txBody>
      </p:sp>
      <p:sp>
        <p:nvSpPr>
          <p:cNvPr id="51" name="Text 41"/>
          <p:cNvSpPr txBox="1"/>
          <p:nvPr/>
        </p:nvSpPr>
        <p:spPr>
          <a:xfrm>
            <a:off x="6448349" y="5971946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500+ Endpoints</a:t>
            </a:r>
            <a:endParaRPr lang="en-US" sz="1500" dirty="0"/>
          </a:p>
        </p:txBody>
      </p:sp>
      <p:sp>
        <p:nvSpPr>
          <p:cNvPr id="52" name="Text 42"/>
          <p:cNvSpPr txBox="1"/>
          <p:nvPr/>
        </p:nvSpPr>
        <p:spPr>
          <a:xfrm>
            <a:off x="9965131" y="5848502"/>
            <a:ext cx="13908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8FAFC">
                    <a:alpha val="9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Organized by Module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210605" y="-952805"/>
            <a:ext cx="4762195" cy="476219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09905" y="4000500"/>
            <a:ext cx="4286707" cy="4286707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61695" y="1390802"/>
            <a:ext cx="106683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761695" y="1686154"/>
            <a:ext cx="5191049" cy="4695444"/>
          </a:xfrm>
          <a:prstGeom prst="roundRect">
            <a:avLst>
              <a:gd name="adj" fmla="val 63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771754" y="1695298"/>
            <a:ext cx="5171846" cy="4288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771754" y="2115007"/>
            <a:ext cx="51718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961949" y="1836115"/>
            <a:ext cx="171907" cy="1335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52898" y="18553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Shape 9"/>
          <p:cNvSpPr/>
          <p:nvPr/>
        </p:nvSpPr>
        <p:spPr>
          <a:xfrm>
            <a:off x="5505602" y="18553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5658307" y="18553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1305763" y="2348179"/>
            <a:ext cx="9144" cy="3267151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Shape 12"/>
          <p:cNvSpPr/>
          <p:nvPr/>
        </p:nvSpPr>
        <p:spPr>
          <a:xfrm>
            <a:off x="6238951" y="1686154"/>
            <a:ext cx="5191049" cy="4695444"/>
          </a:xfrm>
          <a:prstGeom prst="roundRect">
            <a:avLst>
              <a:gd name="adj" fmla="val 63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Shape 13"/>
          <p:cNvSpPr/>
          <p:nvPr/>
        </p:nvSpPr>
        <p:spPr>
          <a:xfrm>
            <a:off x="6248095" y="1695298"/>
            <a:ext cx="5171846" cy="4288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Shape 14"/>
          <p:cNvSpPr/>
          <p:nvPr/>
        </p:nvSpPr>
        <p:spPr>
          <a:xfrm>
            <a:off x="6248095" y="2115007"/>
            <a:ext cx="51718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6439205" y="1836115"/>
            <a:ext cx="171907" cy="13350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830154" y="18553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6"/>
          <p:cNvSpPr/>
          <p:nvPr/>
        </p:nvSpPr>
        <p:spPr>
          <a:xfrm>
            <a:off x="10981944" y="18553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Shape 17"/>
          <p:cNvSpPr/>
          <p:nvPr/>
        </p:nvSpPr>
        <p:spPr>
          <a:xfrm>
            <a:off x="11134649" y="18553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Shape 18"/>
          <p:cNvSpPr/>
          <p:nvPr/>
        </p:nvSpPr>
        <p:spPr>
          <a:xfrm>
            <a:off x="6782105" y="2348179"/>
            <a:ext cx="9144" cy="4162349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Text 19"/>
          <p:cNvSpPr txBox="1"/>
          <p:nvPr/>
        </p:nvSpPr>
        <p:spPr>
          <a:xfrm>
            <a:off x="761695" y="457200"/>
            <a:ext cx="5334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 &amp; Validation Example</a:t>
            </a:r>
            <a:endParaRPr lang="en-US" sz="2700" dirty="0"/>
          </a:p>
        </p:txBody>
      </p:sp>
      <p:sp>
        <p:nvSpPr>
          <p:cNvPr id="24" name="Text 20"/>
          <p:cNvSpPr txBox="1"/>
          <p:nvPr/>
        </p:nvSpPr>
        <p:spPr>
          <a:xfrm>
            <a:off x="761695" y="961949"/>
            <a:ext cx="54059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robust input handling &amp; API response transformation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1228954" y="1819656"/>
            <a:ext cx="32177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app/Http/Requests/StoreCategoryRequest.php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000354" y="235732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000354" y="255574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000354" y="275325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000354" y="295168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1000354" y="315010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1000354" y="334761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1000354" y="354604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1000354" y="374446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1000354" y="394197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000354" y="414040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1000354" y="433791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1000354" y="453633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1000354" y="473476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1000354" y="493227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1000354" y="513069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1463040" y="2348179"/>
            <a:ext cx="1304849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Text 38"/>
          <p:cNvSpPr txBox="1"/>
          <p:nvPr/>
        </p:nvSpPr>
        <p:spPr>
          <a:xfrm>
            <a:off x="1568196" y="2404872"/>
            <a:ext cx="11740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VALIDATION LOGIC</a:t>
            </a:r>
            <a:endParaRPr lang="en-US" sz="800" dirty="0"/>
          </a:p>
        </p:txBody>
      </p:sp>
      <p:sp>
        <p:nvSpPr>
          <p:cNvPr id="43" name="Text 39"/>
          <p:cNvSpPr txBox="1"/>
          <p:nvPr/>
        </p:nvSpPr>
        <p:spPr>
          <a:xfrm>
            <a:off x="1463040" y="2696566"/>
            <a:ext cx="12170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function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2577694" y="2696566"/>
            <a:ext cx="7699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authorize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3246120" y="269656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3395167" y="269656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3469234" y="2696566"/>
            <a:ext cx="3977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1463040" y="2894990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1463040" y="3092501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endParaRPr lang="en-US" sz="900" dirty="0"/>
          </a:p>
        </p:txBody>
      </p:sp>
      <p:sp>
        <p:nvSpPr>
          <p:cNvPr id="50" name="Text 46"/>
          <p:cNvSpPr txBox="1"/>
          <p:nvPr/>
        </p:nvSpPr>
        <p:spPr>
          <a:xfrm>
            <a:off x="1909267" y="3092501"/>
            <a:ext cx="3977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endParaRPr lang="en-US" sz="900" dirty="0"/>
          </a:p>
        </p:txBody>
      </p:sp>
      <p:sp>
        <p:nvSpPr>
          <p:cNvPr id="51" name="Text 47"/>
          <p:cNvSpPr txBox="1"/>
          <p:nvPr/>
        </p:nvSpPr>
        <p:spPr>
          <a:xfrm>
            <a:off x="2206447" y="3092501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900" dirty="0"/>
          </a:p>
        </p:txBody>
      </p:sp>
      <p:sp>
        <p:nvSpPr>
          <p:cNvPr id="52" name="Text 48"/>
          <p:cNvSpPr txBox="1"/>
          <p:nvPr/>
        </p:nvSpPr>
        <p:spPr>
          <a:xfrm>
            <a:off x="2280514" y="3092501"/>
            <a:ext cx="22558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Auth checked by middleware</a:t>
            </a:r>
            <a:endParaRPr lang="en-US" sz="900" dirty="0"/>
          </a:p>
        </p:txBody>
      </p:sp>
      <p:sp>
        <p:nvSpPr>
          <p:cNvPr id="53" name="Text 49"/>
          <p:cNvSpPr txBox="1"/>
          <p:nvPr/>
        </p:nvSpPr>
        <p:spPr>
          <a:xfrm>
            <a:off x="1463040" y="329092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sp>
        <p:nvSpPr>
          <p:cNvPr id="54" name="Text 50"/>
          <p:cNvSpPr txBox="1"/>
          <p:nvPr/>
        </p:nvSpPr>
        <p:spPr>
          <a:xfrm>
            <a:off x="1463040" y="3686861"/>
            <a:ext cx="12170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function</a:t>
            </a:r>
            <a:endParaRPr lang="en-US" sz="900" dirty="0"/>
          </a:p>
        </p:txBody>
      </p:sp>
      <p:sp>
        <p:nvSpPr>
          <p:cNvPr id="55" name="Text 51"/>
          <p:cNvSpPr txBox="1"/>
          <p:nvPr/>
        </p:nvSpPr>
        <p:spPr>
          <a:xfrm>
            <a:off x="2577694" y="3686861"/>
            <a:ext cx="4745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rules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2948940" y="368686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3097987" y="3686861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900" dirty="0"/>
          </a:p>
        </p:txBody>
      </p:sp>
      <p:sp>
        <p:nvSpPr>
          <p:cNvPr id="58" name="Text 54"/>
          <p:cNvSpPr txBox="1"/>
          <p:nvPr/>
        </p:nvSpPr>
        <p:spPr>
          <a:xfrm>
            <a:off x="3172054" y="3686861"/>
            <a:ext cx="4745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array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1463040" y="388528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00" dirty="0"/>
          </a:p>
        </p:txBody>
      </p:sp>
      <p:sp>
        <p:nvSpPr>
          <p:cNvPr id="60" name="Text 56"/>
          <p:cNvSpPr txBox="1"/>
          <p:nvPr/>
        </p:nvSpPr>
        <p:spPr>
          <a:xfrm>
            <a:off x="1463040" y="4082796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endParaRPr lang="en-US" sz="900" dirty="0"/>
          </a:p>
        </p:txBody>
      </p:sp>
      <p:sp>
        <p:nvSpPr>
          <p:cNvPr id="61" name="Text 57"/>
          <p:cNvSpPr txBox="1"/>
          <p:nvPr/>
        </p:nvSpPr>
        <p:spPr>
          <a:xfrm>
            <a:off x="1909267" y="408279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</a:t>
            </a:r>
            <a:endParaRPr lang="en-US" sz="900" dirty="0"/>
          </a:p>
        </p:txBody>
      </p:sp>
      <p:sp>
        <p:nvSpPr>
          <p:cNvPr id="62" name="Text 58"/>
          <p:cNvSpPr txBox="1"/>
          <p:nvPr/>
        </p:nvSpPr>
        <p:spPr>
          <a:xfrm>
            <a:off x="1463040" y="4281221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'name'</a:t>
            </a:r>
            <a:endParaRPr lang="en-US" sz="900" dirty="0"/>
          </a:p>
        </p:txBody>
      </p:sp>
      <p:sp>
        <p:nvSpPr>
          <p:cNvPr id="63" name="Text 59"/>
          <p:cNvSpPr txBox="1"/>
          <p:nvPr/>
        </p:nvSpPr>
        <p:spPr>
          <a:xfrm>
            <a:off x="1909267" y="428122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900" dirty="0"/>
          </a:p>
        </p:txBody>
      </p:sp>
      <p:sp>
        <p:nvSpPr>
          <p:cNvPr id="64" name="Text 60"/>
          <p:cNvSpPr txBox="1"/>
          <p:nvPr/>
        </p:nvSpPr>
        <p:spPr>
          <a:xfrm>
            <a:off x="2057400" y="4281221"/>
            <a:ext cx="19604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'required|string|max:255'</a:t>
            </a:r>
            <a:endParaRPr lang="en-US" sz="900" dirty="0"/>
          </a:p>
        </p:txBody>
      </p:sp>
      <p:sp>
        <p:nvSpPr>
          <p:cNvPr id="65" name="Text 61"/>
          <p:cNvSpPr txBox="1"/>
          <p:nvPr/>
        </p:nvSpPr>
        <p:spPr>
          <a:xfrm>
            <a:off x="3915461" y="4281221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66" name="Text 62"/>
          <p:cNvSpPr txBox="1"/>
          <p:nvPr/>
        </p:nvSpPr>
        <p:spPr>
          <a:xfrm>
            <a:off x="1463040" y="4479646"/>
            <a:ext cx="10652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'description'</a:t>
            </a:r>
            <a:endParaRPr lang="en-US" sz="900" dirty="0"/>
          </a:p>
        </p:txBody>
      </p:sp>
      <p:sp>
        <p:nvSpPr>
          <p:cNvPr id="67" name="Text 63"/>
          <p:cNvSpPr txBox="1"/>
          <p:nvPr/>
        </p:nvSpPr>
        <p:spPr>
          <a:xfrm>
            <a:off x="2428646" y="447964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2577694" y="4479646"/>
            <a:ext cx="20272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'nullable|string|max:1000'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4509821" y="447964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1463040" y="4677156"/>
            <a:ext cx="6931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'status'</a:t>
            </a:r>
            <a:endParaRPr lang="en-US" sz="900" dirty="0"/>
          </a:p>
        </p:txBody>
      </p:sp>
      <p:sp>
        <p:nvSpPr>
          <p:cNvPr id="71" name="Text 67"/>
          <p:cNvSpPr txBox="1"/>
          <p:nvPr/>
        </p:nvSpPr>
        <p:spPr>
          <a:xfrm>
            <a:off x="2057400" y="467715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900" dirty="0"/>
          </a:p>
        </p:txBody>
      </p:sp>
      <p:sp>
        <p:nvSpPr>
          <p:cNvPr id="72" name="Text 68"/>
          <p:cNvSpPr txBox="1"/>
          <p:nvPr/>
        </p:nvSpPr>
        <p:spPr>
          <a:xfrm>
            <a:off x="2206447" y="4677156"/>
            <a:ext cx="20272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'required|in:active,draft'</a:t>
            </a:r>
            <a:endParaRPr lang="en-US" sz="900" dirty="0"/>
          </a:p>
        </p:txBody>
      </p:sp>
      <p:sp>
        <p:nvSpPr>
          <p:cNvPr id="73" name="Text 69"/>
          <p:cNvSpPr txBox="1"/>
          <p:nvPr/>
        </p:nvSpPr>
        <p:spPr>
          <a:xfrm>
            <a:off x="4137660" y="467715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74" name="Text 70"/>
          <p:cNvSpPr txBox="1"/>
          <p:nvPr/>
        </p:nvSpPr>
        <p:spPr>
          <a:xfrm>
            <a:off x="1463040" y="4875581"/>
            <a:ext cx="9125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'is_public'</a:t>
            </a:r>
            <a:endParaRPr lang="en-US" sz="900" dirty="0"/>
          </a:p>
        </p:txBody>
      </p:sp>
      <p:sp>
        <p:nvSpPr>
          <p:cNvPr id="75" name="Text 71"/>
          <p:cNvSpPr txBox="1"/>
          <p:nvPr/>
        </p:nvSpPr>
        <p:spPr>
          <a:xfrm>
            <a:off x="2280514" y="487558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900" dirty="0"/>
          </a:p>
        </p:txBody>
      </p:sp>
      <p:sp>
        <p:nvSpPr>
          <p:cNvPr id="76" name="Text 72"/>
          <p:cNvSpPr txBox="1"/>
          <p:nvPr/>
        </p:nvSpPr>
        <p:spPr>
          <a:xfrm>
            <a:off x="2429561" y="4875581"/>
            <a:ext cx="7699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'boolean'</a:t>
            </a:r>
            <a:endParaRPr lang="en-US" sz="900" dirty="0"/>
          </a:p>
        </p:txBody>
      </p:sp>
      <p:sp>
        <p:nvSpPr>
          <p:cNvPr id="77" name="Text 73"/>
          <p:cNvSpPr txBox="1"/>
          <p:nvPr/>
        </p:nvSpPr>
        <p:spPr>
          <a:xfrm>
            <a:off x="1463040" y="507400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];</a:t>
            </a:r>
            <a:endParaRPr lang="en-US" sz="900" dirty="0"/>
          </a:p>
        </p:txBody>
      </p:sp>
      <p:sp>
        <p:nvSpPr>
          <p:cNvPr id="78" name="Text 74"/>
          <p:cNvSpPr txBox="1"/>
          <p:nvPr/>
        </p:nvSpPr>
        <p:spPr>
          <a:xfrm>
            <a:off x="1463040" y="527151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sp>
        <p:nvSpPr>
          <p:cNvPr id="79" name="Text 75"/>
          <p:cNvSpPr txBox="1"/>
          <p:nvPr/>
        </p:nvSpPr>
        <p:spPr>
          <a:xfrm>
            <a:off x="6705295" y="1819656"/>
            <a:ext cx="37417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app/Http/Controllers/CourseCategoryController.php</a:t>
            </a:r>
            <a:endParaRPr lang="en-US" sz="900" dirty="0"/>
          </a:p>
        </p:txBody>
      </p:sp>
      <p:sp>
        <p:nvSpPr>
          <p:cNvPr id="80" name="Text 76"/>
          <p:cNvSpPr txBox="1"/>
          <p:nvPr/>
        </p:nvSpPr>
        <p:spPr>
          <a:xfrm>
            <a:off x="6476695" y="235732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endParaRPr lang="en-US" sz="900" dirty="0"/>
          </a:p>
        </p:txBody>
      </p:sp>
      <p:sp>
        <p:nvSpPr>
          <p:cNvPr id="81" name="Text 77"/>
          <p:cNvSpPr txBox="1"/>
          <p:nvPr/>
        </p:nvSpPr>
        <p:spPr>
          <a:xfrm>
            <a:off x="6476695" y="255574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endParaRPr lang="en-US" sz="900" dirty="0"/>
          </a:p>
        </p:txBody>
      </p:sp>
      <p:sp>
        <p:nvSpPr>
          <p:cNvPr id="82" name="Text 78"/>
          <p:cNvSpPr txBox="1"/>
          <p:nvPr/>
        </p:nvSpPr>
        <p:spPr>
          <a:xfrm>
            <a:off x="6476695" y="275325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</a:t>
            </a:r>
            <a:endParaRPr lang="en-US" sz="900" dirty="0"/>
          </a:p>
        </p:txBody>
      </p:sp>
      <p:sp>
        <p:nvSpPr>
          <p:cNvPr id="83" name="Text 79"/>
          <p:cNvSpPr txBox="1"/>
          <p:nvPr/>
        </p:nvSpPr>
        <p:spPr>
          <a:xfrm>
            <a:off x="6476695" y="295168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</a:t>
            </a:r>
            <a:endParaRPr lang="en-US" sz="900" dirty="0"/>
          </a:p>
        </p:txBody>
      </p:sp>
      <p:sp>
        <p:nvSpPr>
          <p:cNvPr id="84" name="Text 80"/>
          <p:cNvSpPr txBox="1"/>
          <p:nvPr/>
        </p:nvSpPr>
        <p:spPr>
          <a:xfrm>
            <a:off x="6476695" y="315010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</a:t>
            </a:r>
            <a:endParaRPr lang="en-US" sz="900" dirty="0"/>
          </a:p>
        </p:txBody>
      </p:sp>
      <p:sp>
        <p:nvSpPr>
          <p:cNvPr id="85" name="Text 81"/>
          <p:cNvSpPr txBox="1"/>
          <p:nvPr/>
        </p:nvSpPr>
        <p:spPr>
          <a:xfrm>
            <a:off x="6476695" y="334761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endParaRPr lang="en-US" sz="900" dirty="0"/>
          </a:p>
        </p:txBody>
      </p:sp>
      <p:sp>
        <p:nvSpPr>
          <p:cNvPr id="86" name="Text 82"/>
          <p:cNvSpPr txBox="1"/>
          <p:nvPr/>
        </p:nvSpPr>
        <p:spPr>
          <a:xfrm>
            <a:off x="6476695" y="354604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</a:t>
            </a:r>
            <a:endParaRPr lang="en-US" sz="900" dirty="0"/>
          </a:p>
        </p:txBody>
      </p:sp>
      <p:sp>
        <p:nvSpPr>
          <p:cNvPr id="87" name="Text 83"/>
          <p:cNvSpPr txBox="1"/>
          <p:nvPr/>
        </p:nvSpPr>
        <p:spPr>
          <a:xfrm>
            <a:off x="6476695" y="374446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</a:t>
            </a:r>
            <a:endParaRPr lang="en-US" sz="900" dirty="0"/>
          </a:p>
        </p:txBody>
      </p:sp>
      <p:sp>
        <p:nvSpPr>
          <p:cNvPr id="88" name="Text 84"/>
          <p:cNvSpPr txBox="1"/>
          <p:nvPr/>
        </p:nvSpPr>
        <p:spPr>
          <a:xfrm>
            <a:off x="6476695" y="394197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</a:t>
            </a:r>
            <a:endParaRPr lang="en-US" sz="900" dirty="0"/>
          </a:p>
        </p:txBody>
      </p:sp>
      <p:sp>
        <p:nvSpPr>
          <p:cNvPr id="89" name="Text 85"/>
          <p:cNvSpPr txBox="1"/>
          <p:nvPr/>
        </p:nvSpPr>
        <p:spPr>
          <a:xfrm>
            <a:off x="6476695" y="414040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</a:t>
            </a:r>
            <a:endParaRPr lang="en-US" sz="900" dirty="0"/>
          </a:p>
        </p:txBody>
      </p:sp>
      <p:sp>
        <p:nvSpPr>
          <p:cNvPr id="90" name="Text 86"/>
          <p:cNvSpPr txBox="1"/>
          <p:nvPr/>
        </p:nvSpPr>
        <p:spPr>
          <a:xfrm>
            <a:off x="6476695" y="433791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</a:t>
            </a:r>
            <a:endParaRPr lang="en-US" sz="900" dirty="0"/>
          </a:p>
        </p:txBody>
      </p:sp>
      <p:sp>
        <p:nvSpPr>
          <p:cNvPr id="91" name="Text 87"/>
          <p:cNvSpPr txBox="1"/>
          <p:nvPr/>
        </p:nvSpPr>
        <p:spPr>
          <a:xfrm>
            <a:off x="6476695" y="453633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</a:t>
            </a:r>
            <a:endParaRPr lang="en-US" sz="900" dirty="0"/>
          </a:p>
        </p:txBody>
      </p:sp>
      <p:sp>
        <p:nvSpPr>
          <p:cNvPr id="92" name="Text 88"/>
          <p:cNvSpPr txBox="1"/>
          <p:nvPr/>
        </p:nvSpPr>
        <p:spPr>
          <a:xfrm>
            <a:off x="6476695" y="473476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</a:t>
            </a:r>
            <a:endParaRPr lang="en-US" sz="900" dirty="0"/>
          </a:p>
        </p:txBody>
      </p:sp>
      <p:sp>
        <p:nvSpPr>
          <p:cNvPr id="93" name="Text 89"/>
          <p:cNvSpPr txBox="1"/>
          <p:nvPr/>
        </p:nvSpPr>
        <p:spPr>
          <a:xfrm>
            <a:off x="6476695" y="493227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</a:t>
            </a:r>
            <a:endParaRPr lang="en-US" sz="900" dirty="0"/>
          </a:p>
        </p:txBody>
      </p:sp>
      <p:sp>
        <p:nvSpPr>
          <p:cNvPr id="94" name="Text 90"/>
          <p:cNvSpPr txBox="1"/>
          <p:nvPr/>
        </p:nvSpPr>
        <p:spPr>
          <a:xfrm>
            <a:off x="6476695" y="513069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</a:t>
            </a:r>
            <a:endParaRPr lang="en-US" sz="900" dirty="0"/>
          </a:p>
        </p:txBody>
      </p:sp>
      <p:sp>
        <p:nvSpPr>
          <p:cNvPr id="95" name="Text 91"/>
          <p:cNvSpPr txBox="1"/>
          <p:nvPr/>
        </p:nvSpPr>
        <p:spPr>
          <a:xfrm>
            <a:off x="6476695" y="532912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</a:t>
            </a:r>
            <a:endParaRPr lang="en-US" sz="900" dirty="0"/>
          </a:p>
        </p:txBody>
      </p:sp>
      <p:sp>
        <p:nvSpPr>
          <p:cNvPr id="96" name="Text 92"/>
          <p:cNvSpPr txBox="1"/>
          <p:nvPr/>
        </p:nvSpPr>
        <p:spPr>
          <a:xfrm>
            <a:off x="6476695" y="552663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</a:t>
            </a:r>
            <a:endParaRPr lang="en-US" sz="900" dirty="0"/>
          </a:p>
        </p:txBody>
      </p:sp>
      <p:sp>
        <p:nvSpPr>
          <p:cNvPr id="97" name="Text 93"/>
          <p:cNvSpPr txBox="1"/>
          <p:nvPr/>
        </p:nvSpPr>
        <p:spPr>
          <a:xfrm>
            <a:off x="6476695" y="572505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</a:t>
            </a:r>
            <a:endParaRPr lang="en-US" sz="900" dirty="0"/>
          </a:p>
        </p:txBody>
      </p:sp>
      <p:sp>
        <p:nvSpPr>
          <p:cNvPr id="98" name="Text 94"/>
          <p:cNvSpPr txBox="1"/>
          <p:nvPr/>
        </p:nvSpPr>
        <p:spPr>
          <a:xfrm>
            <a:off x="6476695" y="592348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</a:t>
            </a:r>
            <a:endParaRPr lang="en-US" sz="900" dirty="0"/>
          </a:p>
        </p:txBody>
      </p:sp>
      <p:sp>
        <p:nvSpPr>
          <p:cNvPr id="99" name="Text 95"/>
          <p:cNvSpPr txBox="1"/>
          <p:nvPr/>
        </p:nvSpPr>
        <p:spPr>
          <a:xfrm>
            <a:off x="6476695" y="612099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</a:t>
            </a:r>
            <a:endParaRPr lang="en-US" sz="900" dirty="0"/>
          </a:p>
        </p:txBody>
      </p:sp>
      <p:sp>
        <p:nvSpPr>
          <p:cNvPr id="100" name="Text 96"/>
          <p:cNvSpPr txBox="1"/>
          <p:nvPr/>
        </p:nvSpPr>
        <p:spPr>
          <a:xfrm>
            <a:off x="6476695" y="631941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6940296" y="2348179"/>
            <a:ext cx="1438351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2" name="Text 98"/>
          <p:cNvSpPr txBox="1"/>
          <p:nvPr/>
        </p:nvSpPr>
        <p:spPr>
          <a:xfrm>
            <a:off x="7044538" y="2404872"/>
            <a:ext cx="13075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SAFE DATA HANDLING</a:t>
            </a:r>
            <a:endParaRPr lang="en-US" sz="800" dirty="0"/>
          </a:p>
        </p:txBody>
      </p:sp>
      <p:sp>
        <p:nvSpPr>
          <p:cNvPr id="103" name="Text 99"/>
          <p:cNvSpPr txBox="1"/>
          <p:nvPr/>
        </p:nvSpPr>
        <p:spPr>
          <a:xfrm>
            <a:off x="6940296" y="2696566"/>
            <a:ext cx="12170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function</a:t>
            </a:r>
            <a:endParaRPr lang="en-US" sz="900" dirty="0"/>
          </a:p>
        </p:txBody>
      </p:sp>
      <p:sp>
        <p:nvSpPr>
          <p:cNvPr id="104" name="Text 100"/>
          <p:cNvSpPr txBox="1"/>
          <p:nvPr/>
        </p:nvSpPr>
        <p:spPr>
          <a:xfrm>
            <a:off x="8054950" y="2696566"/>
            <a:ext cx="4745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</a:t>
            </a:r>
            <a:endParaRPr lang="en-US" sz="900" dirty="0"/>
          </a:p>
        </p:txBody>
      </p:sp>
      <p:sp>
        <p:nvSpPr>
          <p:cNvPr id="105" name="Text 101"/>
          <p:cNvSpPr txBox="1"/>
          <p:nvPr/>
        </p:nvSpPr>
        <p:spPr>
          <a:xfrm>
            <a:off x="8426196" y="269656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06" name="Text 102"/>
          <p:cNvSpPr txBox="1"/>
          <p:nvPr/>
        </p:nvSpPr>
        <p:spPr>
          <a:xfrm>
            <a:off x="8500262" y="2696566"/>
            <a:ext cx="158831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StoreCategoryRequest</a:t>
            </a:r>
            <a:endParaRPr lang="en-US" sz="900" dirty="0"/>
          </a:p>
        </p:txBody>
      </p:sp>
      <p:sp>
        <p:nvSpPr>
          <p:cNvPr id="107" name="Text 103"/>
          <p:cNvSpPr txBox="1"/>
          <p:nvPr/>
        </p:nvSpPr>
        <p:spPr>
          <a:xfrm>
            <a:off x="9987077" y="2696566"/>
            <a:ext cx="6931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$request</a:t>
            </a:r>
            <a:endParaRPr lang="en-US" sz="900" dirty="0"/>
          </a:p>
        </p:txBody>
      </p:sp>
      <p:sp>
        <p:nvSpPr>
          <p:cNvPr id="108" name="Text 104"/>
          <p:cNvSpPr txBox="1"/>
          <p:nvPr/>
        </p:nvSpPr>
        <p:spPr>
          <a:xfrm>
            <a:off x="10581437" y="269656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900" dirty="0"/>
          </a:p>
        </p:txBody>
      </p:sp>
      <p:sp>
        <p:nvSpPr>
          <p:cNvPr id="109" name="Text 105"/>
          <p:cNvSpPr txBox="1"/>
          <p:nvPr/>
        </p:nvSpPr>
        <p:spPr>
          <a:xfrm>
            <a:off x="10655503" y="269656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00" dirty="0"/>
          </a:p>
        </p:txBody>
      </p:sp>
      <p:sp>
        <p:nvSpPr>
          <p:cNvPr id="110" name="Text 106"/>
          <p:cNvSpPr txBox="1"/>
          <p:nvPr/>
        </p:nvSpPr>
        <p:spPr>
          <a:xfrm>
            <a:off x="6940296" y="2894990"/>
            <a:ext cx="33695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Validation auto-executes before this line</a:t>
            </a:r>
            <a:endParaRPr lang="en-US" sz="900" dirty="0"/>
          </a:p>
        </p:txBody>
      </p:sp>
      <p:sp>
        <p:nvSpPr>
          <p:cNvPr id="111" name="Text 107"/>
          <p:cNvSpPr txBox="1"/>
          <p:nvPr/>
        </p:nvSpPr>
        <p:spPr>
          <a:xfrm>
            <a:off x="6940296" y="3092501"/>
            <a:ext cx="7699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$category</a:t>
            </a:r>
            <a:endParaRPr lang="en-US" sz="900" dirty="0"/>
          </a:p>
        </p:txBody>
      </p:sp>
      <p:sp>
        <p:nvSpPr>
          <p:cNvPr id="112" name="Text 108"/>
          <p:cNvSpPr txBox="1"/>
          <p:nvPr/>
        </p:nvSpPr>
        <p:spPr>
          <a:xfrm>
            <a:off x="7608722" y="3092501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900" dirty="0"/>
          </a:p>
        </p:txBody>
      </p:sp>
      <p:sp>
        <p:nvSpPr>
          <p:cNvPr id="113" name="Text 109"/>
          <p:cNvSpPr txBox="1"/>
          <p:nvPr/>
        </p:nvSpPr>
        <p:spPr>
          <a:xfrm>
            <a:off x="7682789" y="3092501"/>
            <a:ext cx="11411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CourseCategory</a:t>
            </a:r>
            <a:endParaRPr lang="en-US" sz="900" dirty="0"/>
          </a:p>
        </p:txBody>
      </p:sp>
      <p:sp>
        <p:nvSpPr>
          <p:cNvPr id="114" name="Text 110"/>
          <p:cNvSpPr txBox="1"/>
          <p:nvPr/>
        </p:nvSpPr>
        <p:spPr>
          <a:xfrm>
            <a:off x="8723376" y="309250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900" dirty="0"/>
          </a:p>
        </p:txBody>
      </p:sp>
      <p:sp>
        <p:nvSpPr>
          <p:cNvPr id="115" name="Text 111"/>
          <p:cNvSpPr txBox="1"/>
          <p:nvPr/>
        </p:nvSpPr>
        <p:spPr>
          <a:xfrm>
            <a:off x="8871509" y="3092501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</a:t>
            </a:r>
            <a:endParaRPr lang="en-US" sz="900" dirty="0"/>
          </a:p>
        </p:txBody>
      </p:sp>
      <p:sp>
        <p:nvSpPr>
          <p:cNvPr id="116" name="Text 112"/>
          <p:cNvSpPr txBox="1"/>
          <p:nvPr/>
        </p:nvSpPr>
        <p:spPr>
          <a:xfrm>
            <a:off x="9317736" y="309250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([</a:t>
            </a:r>
            <a:endParaRPr lang="en-US" sz="900" dirty="0"/>
          </a:p>
        </p:txBody>
      </p:sp>
      <p:sp>
        <p:nvSpPr>
          <p:cNvPr id="117" name="Text 113"/>
          <p:cNvSpPr txBox="1"/>
          <p:nvPr/>
        </p:nvSpPr>
        <p:spPr>
          <a:xfrm>
            <a:off x="6940296" y="3290926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...</a:t>
            </a:r>
            <a:endParaRPr lang="en-US" sz="900" dirty="0"/>
          </a:p>
        </p:txBody>
      </p:sp>
      <p:sp>
        <p:nvSpPr>
          <p:cNvPr id="118" name="Text 114"/>
          <p:cNvSpPr txBox="1"/>
          <p:nvPr/>
        </p:nvSpPr>
        <p:spPr>
          <a:xfrm>
            <a:off x="7162495" y="3290926"/>
            <a:ext cx="6931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$request</a:t>
            </a:r>
            <a:endParaRPr lang="en-US" sz="900" dirty="0"/>
          </a:p>
        </p:txBody>
      </p:sp>
      <p:sp>
        <p:nvSpPr>
          <p:cNvPr id="119" name="Text 115"/>
          <p:cNvSpPr txBox="1"/>
          <p:nvPr/>
        </p:nvSpPr>
        <p:spPr>
          <a:xfrm>
            <a:off x="7757770" y="329092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120" name="Text 116"/>
          <p:cNvSpPr txBox="1"/>
          <p:nvPr/>
        </p:nvSpPr>
        <p:spPr>
          <a:xfrm>
            <a:off x="7905902" y="3290926"/>
            <a:ext cx="7699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validated</a:t>
            </a:r>
            <a:endParaRPr lang="en-US" sz="900" dirty="0"/>
          </a:p>
        </p:txBody>
      </p:sp>
      <p:sp>
        <p:nvSpPr>
          <p:cNvPr id="121" name="Text 117"/>
          <p:cNvSpPr txBox="1"/>
          <p:nvPr/>
        </p:nvSpPr>
        <p:spPr>
          <a:xfrm>
            <a:off x="8574329" y="3290926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(),</a:t>
            </a:r>
            <a:endParaRPr lang="en-US" sz="900" dirty="0"/>
          </a:p>
        </p:txBody>
      </p:sp>
      <p:sp>
        <p:nvSpPr>
          <p:cNvPr id="122" name="Text 118"/>
          <p:cNvSpPr txBox="1"/>
          <p:nvPr/>
        </p:nvSpPr>
        <p:spPr>
          <a:xfrm>
            <a:off x="8797442" y="3290926"/>
            <a:ext cx="151241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Only safe fields</a:t>
            </a:r>
            <a:endParaRPr lang="en-US" sz="900" dirty="0"/>
          </a:p>
        </p:txBody>
      </p:sp>
      <p:sp>
        <p:nvSpPr>
          <p:cNvPr id="123" name="Text 119"/>
          <p:cNvSpPr txBox="1"/>
          <p:nvPr/>
        </p:nvSpPr>
        <p:spPr>
          <a:xfrm>
            <a:off x="6940296" y="3488436"/>
            <a:ext cx="9884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'created_by'</a:t>
            </a:r>
            <a:endParaRPr lang="en-US" sz="900" dirty="0"/>
          </a:p>
        </p:txBody>
      </p:sp>
      <p:sp>
        <p:nvSpPr>
          <p:cNvPr id="124" name="Text 120"/>
          <p:cNvSpPr txBox="1"/>
          <p:nvPr/>
        </p:nvSpPr>
        <p:spPr>
          <a:xfrm>
            <a:off x="7831836" y="348843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900" dirty="0"/>
          </a:p>
        </p:txBody>
      </p:sp>
      <p:sp>
        <p:nvSpPr>
          <p:cNvPr id="125" name="Text 121"/>
          <p:cNvSpPr txBox="1"/>
          <p:nvPr/>
        </p:nvSpPr>
        <p:spPr>
          <a:xfrm>
            <a:off x="7979969" y="3488436"/>
            <a:ext cx="3977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</a:t>
            </a:r>
            <a:endParaRPr lang="en-US" sz="900" dirty="0"/>
          </a:p>
        </p:txBody>
      </p:sp>
      <p:sp>
        <p:nvSpPr>
          <p:cNvPr id="126" name="Text 122"/>
          <p:cNvSpPr txBox="1"/>
          <p:nvPr/>
        </p:nvSpPr>
        <p:spPr>
          <a:xfrm>
            <a:off x="8277149" y="348843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900" dirty="0"/>
          </a:p>
        </p:txBody>
      </p:sp>
      <p:sp>
        <p:nvSpPr>
          <p:cNvPr id="127" name="Text 123"/>
          <p:cNvSpPr txBox="1"/>
          <p:nvPr/>
        </p:nvSpPr>
        <p:spPr>
          <a:xfrm>
            <a:off x="8426196" y="348843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128" name="Text 124"/>
          <p:cNvSpPr txBox="1"/>
          <p:nvPr/>
        </p:nvSpPr>
        <p:spPr>
          <a:xfrm>
            <a:off x="8575243" y="348843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endParaRPr lang="en-US" sz="900" dirty="0"/>
          </a:p>
        </p:txBody>
      </p:sp>
      <p:sp>
        <p:nvSpPr>
          <p:cNvPr id="129" name="Text 125"/>
          <p:cNvSpPr txBox="1"/>
          <p:nvPr/>
        </p:nvSpPr>
        <p:spPr>
          <a:xfrm>
            <a:off x="8723376" y="3488436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(),</a:t>
            </a:r>
            <a:endParaRPr lang="en-US" sz="900" dirty="0"/>
          </a:p>
        </p:txBody>
      </p:sp>
      <p:sp>
        <p:nvSpPr>
          <p:cNvPr id="130" name="Text 126"/>
          <p:cNvSpPr txBox="1"/>
          <p:nvPr/>
        </p:nvSpPr>
        <p:spPr>
          <a:xfrm>
            <a:off x="6940296" y="3686861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]);</a:t>
            </a:r>
            <a:endParaRPr lang="en-US" sz="900" dirty="0"/>
          </a:p>
        </p:txBody>
      </p:sp>
      <p:sp>
        <p:nvSpPr>
          <p:cNvPr id="131" name="Text 127"/>
          <p:cNvSpPr txBox="1"/>
          <p:nvPr/>
        </p:nvSpPr>
        <p:spPr>
          <a:xfrm>
            <a:off x="6940296" y="3885286"/>
            <a:ext cx="8458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 new</a:t>
            </a:r>
            <a:endParaRPr lang="en-US" sz="900" dirty="0"/>
          </a:p>
        </p:txBody>
      </p:sp>
      <p:sp>
        <p:nvSpPr>
          <p:cNvPr id="132" name="Text 128"/>
          <p:cNvSpPr txBox="1"/>
          <p:nvPr/>
        </p:nvSpPr>
        <p:spPr>
          <a:xfrm>
            <a:off x="7682789" y="3885286"/>
            <a:ext cx="17318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CourseCategoryResource</a:t>
            </a:r>
            <a:endParaRPr lang="en-US" sz="900" dirty="0"/>
          </a:p>
        </p:txBody>
      </p:sp>
      <p:sp>
        <p:nvSpPr>
          <p:cNvPr id="133" name="Text 129"/>
          <p:cNvSpPr txBox="1"/>
          <p:nvPr/>
        </p:nvSpPr>
        <p:spPr>
          <a:xfrm>
            <a:off x="9317736" y="388528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34" name="Text 130"/>
          <p:cNvSpPr txBox="1"/>
          <p:nvPr/>
        </p:nvSpPr>
        <p:spPr>
          <a:xfrm>
            <a:off x="9391802" y="3885286"/>
            <a:ext cx="7699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$category</a:t>
            </a:r>
            <a:endParaRPr lang="en-US" sz="900" dirty="0"/>
          </a:p>
        </p:txBody>
      </p:sp>
      <p:sp>
        <p:nvSpPr>
          <p:cNvPr id="135" name="Text 131"/>
          <p:cNvSpPr txBox="1"/>
          <p:nvPr/>
        </p:nvSpPr>
        <p:spPr>
          <a:xfrm>
            <a:off x="10061143" y="388528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900" dirty="0"/>
          </a:p>
        </p:txBody>
      </p:sp>
      <p:sp>
        <p:nvSpPr>
          <p:cNvPr id="136" name="Text 132"/>
          <p:cNvSpPr txBox="1"/>
          <p:nvPr/>
        </p:nvSpPr>
        <p:spPr>
          <a:xfrm>
            <a:off x="6940296" y="408279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sp>
        <p:nvSpPr>
          <p:cNvPr id="137" name="Shape 133"/>
          <p:cNvSpPr/>
          <p:nvPr/>
        </p:nvSpPr>
        <p:spPr>
          <a:xfrm>
            <a:off x="6940296" y="4423867"/>
            <a:ext cx="1438351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8" name="Text 134"/>
          <p:cNvSpPr txBox="1"/>
          <p:nvPr/>
        </p:nvSpPr>
        <p:spPr>
          <a:xfrm>
            <a:off x="7044538" y="4481474"/>
            <a:ext cx="13075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CLEAN INDEX METHOD</a:t>
            </a:r>
            <a:endParaRPr lang="en-US" sz="800" dirty="0"/>
          </a:p>
        </p:txBody>
      </p:sp>
      <p:sp>
        <p:nvSpPr>
          <p:cNvPr id="139" name="Text 135"/>
          <p:cNvSpPr txBox="1"/>
          <p:nvPr/>
        </p:nvSpPr>
        <p:spPr>
          <a:xfrm>
            <a:off x="6940296" y="4772254"/>
            <a:ext cx="12170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function</a:t>
            </a:r>
            <a:endParaRPr lang="en-US" sz="900" dirty="0"/>
          </a:p>
        </p:txBody>
      </p:sp>
      <p:sp>
        <p:nvSpPr>
          <p:cNvPr id="140" name="Text 136"/>
          <p:cNvSpPr txBox="1"/>
          <p:nvPr/>
        </p:nvSpPr>
        <p:spPr>
          <a:xfrm>
            <a:off x="8054950" y="4772254"/>
            <a:ext cx="4745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index</a:t>
            </a:r>
            <a:endParaRPr lang="en-US" sz="900" dirty="0"/>
          </a:p>
        </p:txBody>
      </p:sp>
      <p:sp>
        <p:nvSpPr>
          <p:cNvPr id="141" name="Text 137"/>
          <p:cNvSpPr txBox="1"/>
          <p:nvPr/>
        </p:nvSpPr>
        <p:spPr>
          <a:xfrm>
            <a:off x="8426196" y="477225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900" dirty="0"/>
          </a:p>
        </p:txBody>
      </p:sp>
      <p:sp>
        <p:nvSpPr>
          <p:cNvPr id="142" name="Text 138"/>
          <p:cNvSpPr txBox="1"/>
          <p:nvPr/>
        </p:nvSpPr>
        <p:spPr>
          <a:xfrm>
            <a:off x="8575243" y="4772254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00" dirty="0"/>
          </a:p>
        </p:txBody>
      </p:sp>
      <p:sp>
        <p:nvSpPr>
          <p:cNvPr id="143" name="Text 139"/>
          <p:cNvSpPr txBox="1"/>
          <p:nvPr/>
        </p:nvSpPr>
        <p:spPr>
          <a:xfrm>
            <a:off x="6940296" y="4970678"/>
            <a:ext cx="9125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$categories</a:t>
            </a:r>
            <a:endParaRPr lang="en-US" sz="900" dirty="0"/>
          </a:p>
        </p:txBody>
      </p:sp>
      <p:sp>
        <p:nvSpPr>
          <p:cNvPr id="144" name="Text 140"/>
          <p:cNvSpPr txBox="1"/>
          <p:nvPr/>
        </p:nvSpPr>
        <p:spPr>
          <a:xfrm>
            <a:off x="7757770" y="4970678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900" dirty="0"/>
          </a:p>
        </p:txBody>
      </p:sp>
      <p:sp>
        <p:nvSpPr>
          <p:cNvPr id="145" name="Text 141"/>
          <p:cNvSpPr txBox="1"/>
          <p:nvPr/>
        </p:nvSpPr>
        <p:spPr>
          <a:xfrm>
            <a:off x="7831836" y="4970678"/>
            <a:ext cx="11411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CourseCategory</a:t>
            </a:r>
            <a:endParaRPr lang="en-US" sz="900" dirty="0"/>
          </a:p>
        </p:txBody>
      </p:sp>
      <p:sp>
        <p:nvSpPr>
          <p:cNvPr id="146" name="Text 142"/>
          <p:cNvSpPr txBox="1"/>
          <p:nvPr/>
        </p:nvSpPr>
        <p:spPr>
          <a:xfrm>
            <a:off x="8871509" y="497067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900" dirty="0"/>
          </a:p>
        </p:txBody>
      </p:sp>
      <p:sp>
        <p:nvSpPr>
          <p:cNvPr id="147" name="Text 143"/>
          <p:cNvSpPr txBox="1"/>
          <p:nvPr/>
        </p:nvSpPr>
        <p:spPr>
          <a:xfrm>
            <a:off x="9020556" y="4970678"/>
            <a:ext cx="3977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</a:t>
            </a:r>
            <a:endParaRPr lang="en-US" sz="900" dirty="0"/>
          </a:p>
        </p:txBody>
      </p:sp>
      <p:sp>
        <p:nvSpPr>
          <p:cNvPr id="148" name="Text 144"/>
          <p:cNvSpPr txBox="1"/>
          <p:nvPr/>
        </p:nvSpPr>
        <p:spPr>
          <a:xfrm>
            <a:off x="9317736" y="4970678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49" name="Text 145"/>
          <p:cNvSpPr txBox="1"/>
          <p:nvPr/>
        </p:nvSpPr>
        <p:spPr>
          <a:xfrm>
            <a:off x="9391802" y="4970678"/>
            <a:ext cx="9125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'createdBy'</a:t>
            </a:r>
            <a:endParaRPr lang="en-US" sz="900" dirty="0"/>
          </a:p>
        </p:txBody>
      </p:sp>
      <p:sp>
        <p:nvSpPr>
          <p:cNvPr id="150" name="Text 146"/>
          <p:cNvSpPr txBox="1"/>
          <p:nvPr/>
        </p:nvSpPr>
        <p:spPr>
          <a:xfrm>
            <a:off x="10209276" y="4970678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900" dirty="0"/>
          </a:p>
        </p:txBody>
      </p:sp>
      <p:sp>
        <p:nvSpPr>
          <p:cNvPr id="151" name="Text 147"/>
          <p:cNvSpPr txBox="1"/>
          <p:nvPr/>
        </p:nvSpPr>
        <p:spPr>
          <a:xfrm>
            <a:off x="6940296" y="516910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152" name="Text 148"/>
          <p:cNvSpPr txBox="1"/>
          <p:nvPr/>
        </p:nvSpPr>
        <p:spPr>
          <a:xfrm>
            <a:off x="7088429" y="5169103"/>
            <a:ext cx="3977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when</a:t>
            </a:r>
            <a:endParaRPr lang="en-US" sz="900" dirty="0"/>
          </a:p>
        </p:txBody>
      </p:sp>
      <p:sp>
        <p:nvSpPr>
          <p:cNvPr id="153" name="Text 149"/>
          <p:cNvSpPr txBox="1"/>
          <p:nvPr/>
        </p:nvSpPr>
        <p:spPr>
          <a:xfrm>
            <a:off x="7385609" y="5169103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54" name="Text 150"/>
          <p:cNvSpPr txBox="1"/>
          <p:nvPr/>
        </p:nvSpPr>
        <p:spPr>
          <a:xfrm>
            <a:off x="7460590" y="5169103"/>
            <a:ext cx="6172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request</a:t>
            </a:r>
            <a:endParaRPr lang="en-US" sz="900" dirty="0"/>
          </a:p>
        </p:txBody>
      </p:sp>
      <p:sp>
        <p:nvSpPr>
          <p:cNvPr id="155" name="Text 151"/>
          <p:cNvSpPr txBox="1"/>
          <p:nvPr/>
        </p:nvSpPr>
        <p:spPr>
          <a:xfrm>
            <a:off x="7980883" y="5169103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56" name="Text 152"/>
          <p:cNvSpPr txBox="1"/>
          <p:nvPr/>
        </p:nvSpPr>
        <p:spPr>
          <a:xfrm>
            <a:off x="8054950" y="5169103"/>
            <a:ext cx="6931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'search'</a:t>
            </a:r>
            <a:endParaRPr lang="en-US" sz="900" dirty="0"/>
          </a:p>
        </p:txBody>
      </p:sp>
      <p:sp>
        <p:nvSpPr>
          <p:cNvPr id="157" name="Text 153"/>
          <p:cNvSpPr txBox="1"/>
          <p:nvPr/>
        </p:nvSpPr>
        <p:spPr>
          <a:xfrm>
            <a:off x="8649310" y="516910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),</a:t>
            </a:r>
            <a:endParaRPr lang="en-US" sz="900" dirty="0"/>
          </a:p>
        </p:txBody>
      </p:sp>
      <p:sp>
        <p:nvSpPr>
          <p:cNvPr id="158" name="Text 154"/>
          <p:cNvSpPr txBox="1"/>
          <p:nvPr/>
        </p:nvSpPr>
        <p:spPr>
          <a:xfrm>
            <a:off x="8798357" y="516910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fn</a:t>
            </a:r>
            <a:endParaRPr lang="en-US" sz="900" dirty="0"/>
          </a:p>
        </p:txBody>
      </p:sp>
      <p:sp>
        <p:nvSpPr>
          <p:cNvPr id="159" name="Text 155"/>
          <p:cNvSpPr txBox="1"/>
          <p:nvPr/>
        </p:nvSpPr>
        <p:spPr>
          <a:xfrm>
            <a:off x="8946490" y="5169103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60" name="Text 156"/>
          <p:cNvSpPr txBox="1"/>
          <p:nvPr/>
        </p:nvSpPr>
        <p:spPr>
          <a:xfrm>
            <a:off x="9021470" y="516910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$q</a:t>
            </a:r>
            <a:endParaRPr lang="en-US" sz="900" dirty="0"/>
          </a:p>
        </p:txBody>
      </p:sp>
      <p:sp>
        <p:nvSpPr>
          <p:cNvPr id="161" name="Text 157"/>
          <p:cNvSpPr txBox="1"/>
          <p:nvPr/>
        </p:nvSpPr>
        <p:spPr>
          <a:xfrm>
            <a:off x="9169603" y="5169103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900" dirty="0"/>
          </a:p>
        </p:txBody>
      </p:sp>
      <p:sp>
        <p:nvSpPr>
          <p:cNvPr id="162" name="Text 158"/>
          <p:cNvSpPr txBox="1"/>
          <p:nvPr/>
        </p:nvSpPr>
        <p:spPr>
          <a:xfrm>
            <a:off x="9244584" y="516910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900" dirty="0"/>
          </a:p>
        </p:txBody>
      </p:sp>
      <p:sp>
        <p:nvSpPr>
          <p:cNvPr id="163" name="Text 159"/>
          <p:cNvSpPr txBox="1"/>
          <p:nvPr/>
        </p:nvSpPr>
        <p:spPr>
          <a:xfrm>
            <a:off x="6940296" y="536661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$q</a:t>
            </a:r>
            <a:endParaRPr lang="en-US" sz="900" dirty="0"/>
          </a:p>
        </p:txBody>
      </p:sp>
      <p:sp>
        <p:nvSpPr>
          <p:cNvPr id="164" name="Text 160"/>
          <p:cNvSpPr txBox="1"/>
          <p:nvPr/>
        </p:nvSpPr>
        <p:spPr>
          <a:xfrm>
            <a:off x="7088429" y="536661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165" name="Text 161"/>
          <p:cNvSpPr txBox="1"/>
          <p:nvPr/>
        </p:nvSpPr>
        <p:spPr>
          <a:xfrm>
            <a:off x="7237476" y="5366614"/>
            <a:ext cx="4745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endParaRPr lang="en-US" sz="900" dirty="0"/>
          </a:p>
        </p:txBody>
      </p:sp>
      <p:sp>
        <p:nvSpPr>
          <p:cNvPr id="166" name="Text 162"/>
          <p:cNvSpPr txBox="1"/>
          <p:nvPr/>
        </p:nvSpPr>
        <p:spPr>
          <a:xfrm>
            <a:off x="7608722" y="5366614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67" name="Text 163"/>
          <p:cNvSpPr txBox="1"/>
          <p:nvPr/>
        </p:nvSpPr>
        <p:spPr>
          <a:xfrm>
            <a:off x="7683703" y="5366614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'name'</a:t>
            </a:r>
            <a:endParaRPr lang="en-US" sz="900" dirty="0"/>
          </a:p>
        </p:txBody>
      </p:sp>
      <p:sp>
        <p:nvSpPr>
          <p:cNvPr id="168" name="Text 164"/>
          <p:cNvSpPr txBox="1"/>
          <p:nvPr/>
        </p:nvSpPr>
        <p:spPr>
          <a:xfrm>
            <a:off x="8129016" y="5366614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169" name="Text 165"/>
          <p:cNvSpPr txBox="1"/>
          <p:nvPr/>
        </p:nvSpPr>
        <p:spPr>
          <a:xfrm>
            <a:off x="8203997" y="5366614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'like'</a:t>
            </a:r>
            <a:endParaRPr lang="en-US" sz="900" dirty="0"/>
          </a:p>
        </p:txBody>
      </p:sp>
      <p:sp>
        <p:nvSpPr>
          <p:cNvPr id="170" name="Text 166"/>
          <p:cNvSpPr txBox="1"/>
          <p:nvPr/>
        </p:nvSpPr>
        <p:spPr>
          <a:xfrm>
            <a:off x="8649310" y="5366614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171" name="Text 167"/>
          <p:cNvSpPr txBox="1"/>
          <p:nvPr/>
        </p:nvSpPr>
        <p:spPr>
          <a:xfrm>
            <a:off x="8724290" y="5366614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'%'</a:t>
            </a:r>
            <a:endParaRPr lang="en-US" sz="900" dirty="0"/>
          </a:p>
        </p:txBody>
      </p:sp>
      <p:sp>
        <p:nvSpPr>
          <p:cNvPr id="172" name="Text 168"/>
          <p:cNvSpPr txBox="1"/>
          <p:nvPr/>
        </p:nvSpPr>
        <p:spPr>
          <a:xfrm>
            <a:off x="8947404" y="5366614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endParaRPr lang="en-US" sz="900" dirty="0"/>
          </a:p>
        </p:txBody>
      </p:sp>
      <p:sp>
        <p:nvSpPr>
          <p:cNvPr id="173" name="Text 169"/>
          <p:cNvSpPr txBox="1"/>
          <p:nvPr/>
        </p:nvSpPr>
        <p:spPr>
          <a:xfrm>
            <a:off x="9021470" y="5366614"/>
            <a:ext cx="6172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request</a:t>
            </a:r>
            <a:endParaRPr lang="en-US" sz="900" dirty="0"/>
          </a:p>
        </p:txBody>
      </p:sp>
      <p:sp>
        <p:nvSpPr>
          <p:cNvPr id="174" name="Text 170"/>
          <p:cNvSpPr txBox="1"/>
          <p:nvPr/>
        </p:nvSpPr>
        <p:spPr>
          <a:xfrm>
            <a:off x="9541764" y="5366614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75" name="Text 171"/>
          <p:cNvSpPr txBox="1"/>
          <p:nvPr/>
        </p:nvSpPr>
        <p:spPr>
          <a:xfrm>
            <a:off x="9615830" y="5366614"/>
            <a:ext cx="6931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'search'</a:t>
            </a:r>
            <a:endParaRPr lang="en-US" sz="900" dirty="0"/>
          </a:p>
        </p:txBody>
      </p:sp>
      <p:sp>
        <p:nvSpPr>
          <p:cNvPr id="176" name="Text 172"/>
          <p:cNvSpPr txBox="1"/>
          <p:nvPr/>
        </p:nvSpPr>
        <p:spPr>
          <a:xfrm>
            <a:off x="10210190" y="536661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).</a:t>
            </a:r>
            <a:endParaRPr lang="en-US" sz="900" dirty="0"/>
          </a:p>
        </p:txBody>
      </p:sp>
      <p:sp>
        <p:nvSpPr>
          <p:cNvPr id="177" name="Text 173"/>
          <p:cNvSpPr txBox="1"/>
          <p:nvPr/>
        </p:nvSpPr>
        <p:spPr>
          <a:xfrm>
            <a:off x="10359238" y="5366614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'%'</a:t>
            </a:r>
            <a:endParaRPr lang="en-US" sz="900" dirty="0"/>
          </a:p>
        </p:txBody>
      </p:sp>
      <p:sp>
        <p:nvSpPr>
          <p:cNvPr id="178" name="Text 174"/>
          <p:cNvSpPr txBox="1"/>
          <p:nvPr/>
        </p:nvSpPr>
        <p:spPr>
          <a:xfrm>
            <a:off x="10582351" y="536661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))</a:t>
            </a:r>
            <a:endParaRPr lang="en-US" sz="900" dirty="0"/>
          </a:p>
        </p:txBody>
      </p:sp>
      <p:sp>
        <p:nvSpPr>
          <p:cNvPr id="179" name="Text 175"/>
          <p:cNvSpPr txBox="1"/>
          <p:nvPr/>
        </p:nvSpPr>
        <p:spPr>
          <a:xfrm>
            <a:off x="6940296" y="556503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180" name="Text 176"/>
          <p:cNvSpPr txBox="1"/>
          <p:nvPr/>
        </p:nvSpPr>
        <p:spPr>
          <a:xfrm>
            <a:off x="7088429" y="5565038"/>
            <a:ext cx="6931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paginate</a:t>
            </a:r>
            <a:endParaRPr lang="en-US" sz="900" dirty="0"/>
          </a:p>
        </p:txBody>
      </p:sp>
      <p:sp>
        <p:nvSpPr>
          <p:cNvPr id="181" name="Text 177"/>
          <p:cNvSpPr txBox="1"/>
          <p:nvPr/>
        </p:nvSpPr>
        <p:spPr>
          <a:xfrm>
            <a:off x="7682789" y="5565038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82" name="Text 178"/>
          <p:cNvSpPr txBox="1"/>
          <p:nvPr/>
        </p:nvSpPr>
        <p:spPr>
          <a:xfrm>
            <a:off x="7757770" y="556503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900" dirty="0"/>
          </a:p>
        </p:txBody>
      </p:sp>
      <p:sp>
        <p:nvSpPr>
          <p:cNvPr id="183" name="Text 179"/>
          <p:cNvSpPr txBox="1"/>
          <p:nvPr/>
        </p:nvSpPr>
        <p:spPr>
          <a:xfrm>
            <a:off x="7905902" y="556503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900" dirty="0"/>
          </a:p>
        </p:txBody>
      </p:sp>
      <p:sp>
        <p:nvSpPr>
          <p:cNvPr id="184" name="Text 180"/>
          <p:cNvSpPr txBox="1"/>
          <p:nvPr/>
        </p:nvSpPr>
        <p:spPr>
          <a:xfrm>
            <a:off x="6940296" y="5763463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endParaRPr lang="en-US" sz="900" dirty="0"/>
          </a:p>
        </p:txBody>
      </p:sp>
      <p:sp>
        <p:nvSpPr>
          <p:cNvPr id="185" name="Text 181"/>
          <p:cNvSpPr txBox="1"/>
          <p:nvPr/>
        </p:nvSpPr>
        <p:spPr>
          <a:xfrm>
            <a:off x="7385609" y="5763463"/>
            <a:ext cx="17318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CourseCategoryResource</a:t>
            </a:r>
            <a:endParaRPr lang="en-US" sz="900" dirty="0"/>
          </a:p>
        </p:txBody>
      </p:sp>
      <p:sp>
        <p:nvSpPr>
          <p:cNvPr id="186" name="Text 182"/>
          <p:cNvSpPr txBox="1"/>
          <p:nvPr/>
        </p:nvSpPr>
        <p:spPr>
          <a:xfrm>
            <a:off x="9020556" y="576346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900" dirty="0"/>
          </a:p>
        </p:txBody>
      </p:sp>
      <p:sp>
        <p:nvSpPr>
          <p:cNvPr id="187" name="Text 183"/>
          <p:cNvSpPr txBox="1"/>
          <p:nvPr/>
        </p:nvSpPr>
        <p:spPr>
          <a:xfrm>
            <a:off x="9169603" y="5763463"/>
            <a:ext cx="8458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collection</a:t>
            </a:r>
            <a:endParaRPr lang="en-US" sz="900" dirty="0"/>
          </a:p>
        </p:txBody>
      </p:sp>
      <p:sp>
        <p:nvSpPr>
          <p:cNvPr id="188" name="Text 184"/>
          <p:cNvSpPr txBox="1"/>
          <p:nvPr/>
        </p:nvSpPr>
        <p:spPr>
          <a:xfrm>
            <a:off x="9912096" y="5763463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89" name="Text 185"/>
          <p:cNvSpPr txBox="1"/>
          <p:nvPr/>
        </p:nvSpPr>
        <p:spPr>
          <a:xfrm>
            <a:off x="9987077" y="5763463"/>
            <a:ext cx="9125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$categories</a:t>
            </a:r>
            <a:endParaRPr lang="en-US" sz="900" dirty="0"/>
          </a:p>
        </p:txBody>
      </p:sp>
      <p:sp>
        <p:nvSpPr>
          <p:cNvPr id="190" name="Text 186"/>
          <p:cNvSpPr txBox="1"/>
          <p:nvPr/>
        </p:nvSpPr>
        <p:spPr>
          <a:xfrm>
            <a:off x="10803636" y="576346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900" dirty="0"/>
          </a:p>
        </p:txBody>
      </p:sp>
      <p:sp>
        <p:nvSpPr>
          <p:cNvPr id="191" name="Text 187"/>
          <p:cNvSpPr txBox="1"/>
          <p:nvPr/>
        </p:nvSpPr>
        <p:spPr>
          <a:xfrm>
            <a:off x="6940296" y="5960974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sp>
        <p:nvSpPr>
          <p:cNvPr id="192" name="Text 188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953098" y="-952805"/>
            <a:ext cx="5715000" cy="57150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-476402" y="3047695"/>
            <a:ext cx="4762195" cy="4762195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10394899" y="866851"/>
            <a:ext cx="1133856" cy="333756"/>
          </a:xfrm>
          <a:prstGeom prst="roundRect">
            <a:avLst>
              <a:gd name="adj" fmla="val 62622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2838" r="-2838"/>
          <a:stretch/>
        </p:blipFill>
        <p:spPr>
          <a:xfrm>
            <a:off x="10556748" y="966521"/>
            <a:ext cx="123444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757002" y="933602"/>
            <a:ext cx="7104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1.1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666598" y="457200"/>
            <a:ext cx="39346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1.1: Model Creation</a:t>
            </a:r>
            <a:endParaRPr lang="en-US" sz="2700" dirty="0"/>
          </a:p>
        </p:txBody>
      </p:sp>
      <p:sp>
        <p:nvSpPr>
          <p:cNvPr id="37" name="Text 31"/>
          <p:cNvSpPr txBox="1"/>
          <p:nvPr/>
        </p:nvSpPr>
        <p:spPr>
          <a:xfrm>
            <a:off x="666598" y="961949"/>
            <a:ext cx="24249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the Data Foundation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6598" y="1781251"/>
            <a:ext cx="7181698" cy="4894940"/>
          </a:xfrm>
          <a:prstGeom prst="roundRect">
            <a:avLst>
              <a:gd name="adj" fmla="val 40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1949" y="2061698"/>
            <a:ext cx="171907" cy="14249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61949" y="2428554"/>
            <a:ext cx="6590995" cy="457811"/>
          </a:xfrm>
          <a:prstGeom prst="roundRect">
            <a:avLst>
              <a:gd name="adj" fmla="val 28545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9"/>
          <p:cNvSpPr txBox="1"/>
          <p:nvPr/>
        </p:nvSpPr>
        <p:spPr>
          <a:xfrm>
            <a:off x="1123798" y="2562714"/>
            <a:ext cx="3572561" cy="189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CoursePrerequisite model with migration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61949" y="3012945"/>
            <a:ext cx="6590995" cy="473728"/>
          </a:xfrm>
          <a:prstGeom prst="roundRect">
            <a:avLst>
              <a:gd name="adj" fmla="val 26667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1"/>
          <p:cNvSpPr/>
          <p:nvPr/>
        </p:nvSpPr>
        <p:spPr>
          <a:xfrm>
            <a:off x="1123798" y="3163022"/>
            <a:ext cx="228600" cy="189491"/>
          </a:xfrm>
          <a:prstGeom prst="roundRect">
            <a:avLst>
              <a:gd name="adj" fmla="val 100000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2"/>
          <p:cNvSpPr/>
          <p:nvPr/>
        </p:nvSpPr>
        <p:spPr>
          <a:xfrm>
            <a:off x="961949" y="3613253"/>
            <a:ext cx="6590995" cy="457811"/>
          </a:xfrm>
          <a:prstGeom prst="roundRect">
            <a:avLst>
              <a:gd name="adj" fmla="val 28545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3"/>
          <p:cNvSpPr txBox="1"/>
          <p:nvPr/>
        </p:nvSpPr>
        <p:spPr>
          <a:xfrm>
            <a:off x="1123798" y="3747413"/>
            <a:ext cx="4219956" cy="189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bi-directional relationships with Course model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961949" y="4196886"/>
            <a:ext cx="6590995" cy="457811"/>
          </a:xfrm>
          <a:prstGeom prst="roundRect">
            <a:avLst>
              <a:gd name="adj" fmla="val 28545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 txBox="1"/>
          <p:nvPr/>
        </p:nvSpPr>
        <p:spPr>
          <a:xfrm>
            <a:off x="1123798" y="4331804"/>
            <a:ext cx="3400654" cy="189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JSON casting for metadata array storage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961949" y="4781277"/>
            <a:ext cx="6590995" cy="457811"/>
          </a:xfrm>
          <a:prstGeom prst="roundRect">
            <a:avLst>
              <a:gd name="adj" fmla="val 28545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7"/>
          <p:cNvSpPr txBox="1"/>
          <p:nvPr/>
        </p:nvSpPr>
        <p:spPr>
          <a:xfrm>
            <a:off x="1123798" y="4915437"/>
            <a:ext cx="3724351" cy="189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Auditable interface for change tracking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961949" y="5365669"/>
            <a:ext cx="6590995" cy="473728"/>
          </a:xfrm>
          <a:prstGeom prst="roundRect">
            <a:avLst>
              <a:gd name="adj" fmla="val 26667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19"/>
          <p:cNvSpPr/>
          <p:nvPr/>
        </p:nvSpPr>
        <p:spPr>
          <a:xfrm>
            <a:off x="1123798" y="5515746"/>
            <a:ext cx="228600" cy="189491"/>
          </a:xfrm>
          <a:prstGeom prst="roundRect">
            <a:avLst>
              <a:gd name="adj" fmla="val 100000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Shape 20"/>
          <p:cNvSpPr/>
          <p:nvPr/>
        </p:nvSpPr>
        <p:spPr>
          <a:xfrm>
            <a:off x="961949" y="5965978"/>
            <a:ext cx="6590995" cy="576054"/>
          </a:xfrm>
          <a:prstGeom prst="roundRect">
            <a:avLst>
              <a:gd name="adj" fmla="val 14420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1"/>
          <p:cNvSpPr txBox="1"/>
          <p:nvPr/>
        </p:nvSpPr>
        <p:spPr>
          <a:xfrm>
            <a:off x="1123798" y="6100137"/>
            <a:ext cx="6360566" cy="308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Tip: Use php artisan make:model CoursePrerequisite -m -f to generate model, migration, and factory in one command.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8229600" y="1781251"/>
            <a:ext cx="3295498" cy="2676375"/>
          </a:xfrm>
          <a:prstGeom prst="roundRect">
            <a:avLst>
              <a:gd name="adj" fmla="val 1002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67344" y="2010156"/>
            <a:ext cx="152705" cy="12658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695944" y="1978322"/>
            <a:ext cx="1219810" cy="189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Objectives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229600" y="4643327"/>
            <a:ext cx="3295498" cy="884546"/>
          </a:xfrm>
          <a:prstGeom prst="roundRect">
            <a:avLst>
              <a:gd name="adj" fmla="val 918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27"/>
          <p:cNvSpPr/>
          <p:nvPr/>
        </p:nvSpPr>
        <p:spPr>
          <a:xfrm>
            <a:off x="8467344" y="5124635"/>
            <a:ext cx="800100" cy="205408"/>
          </a:xfrm>
          <a:prstGeom prst="roundRect">
            <a:avLst>
              <a:gd name="adj" fmla="val 56770"/>
            </a:avLst>
          </a:prstGeom>
          <a:solidFill>
            <a:srgbClr val="312E81">
              <a:alpha val="5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28"/>
          <p:cNvSpPr/>
          <p:nvPr/>
        </p:nvSpPr>
        <p:spPr>
          <a:xfrm>
            <a:off x="9340596" y="5124635"/>
            <a:ext cx="599846" cy="205408"/>
          </a:xfrm>
          <a:prstGeom prst="roundRect">
            <a:avLst>
              <a:gd name="adj" fmla="val 56770"/>
            </a:avLst>
          </a:prstGeom>
          <a:solidFill>
            <a:srgbClr val="1E3A8A">
              <a:alpha val="5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29"/>
          <p:cNvSpPr/>
          <p:nvPr/>
        </p:nvSpPr>
        <p:spPr>
          <a:xfrm>
            <a:off x="10007194" y="5124635"/>
            <a:ext cx="733349" cy="205408"/>
          </a:xfrm>
          <a:prstGeom prst="roundRect">
            <a:avLst>
              <a:gd name="adj" fmla="val 56770"/>
            </a:avLst>
          </a:prstGeom>
          <a:solidFill>
            <a:srgbClr val="4C1D95">
              <a:alpha val="5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2"/>
          <p:cNvSpPr txBox="1"/>
          <p:nvPr/>
        </p:nvSpPr>
        <p:spPr>
          <a:xfrm>
            <a:off x="1228954" y="2049571"/>
            <a:ext cx="1433779" cy="165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Checklist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1505102" y="3163022"/>
            <a:ext cx="3829507" cy="158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database schema (foreign keys, constraints)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1505102" y="5515746"/>
            <a:ext cx="3172054" cy="158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Model Factory for testing purposes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8467344" y="4847978"/>
            <a:ext cx="1014984" cy="134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8591702" y="5172387"/>
            <a:ext cx="638251" cy="110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Eloquent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9464040" y="5172387"/>
            <a:ext cx="438912" cy="110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MySQL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10130638" y="5172387"/>
            <a:ext cx="571500" cy="110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4B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PHP 8.1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8658454" y="2278476"/>
            <a:ext cx="2643530" cy="134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database schema design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8658454" y="2523298"/>
            <a:ext cx="2167128" cy="134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Mastering Eloquent relationships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8658454" y="2768121"/>
            <a:ext cx="2529230" cy="134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model traits &amp; interfaces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10185540" y="4742402"/>
            <a:ext cx="1733702" cy="110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953098" y="-952805"/>
            <a:ext cx="5715000" cy="57150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-476402" y="3047695"/>
            <a:ext cx="4762195" cy="4762195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10394899" y="866851"/>
            <a:ext cx="1133856" cy="333756"/>
          </a:xfrm>
          <a:prstGeom prst="roundRect">
            <a:avLst>
              <a:gd name="adj" fmla="val 62622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2838" r="-2838"/>
          <a:stretch/>
        </p:blipFill>
        <p:spPr>
          <a:xfrm>
            <a:off x="10556748" y="966521"/>
            <a:ext cx="123444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757002" y="933602"/>
            <a:ext cx="7104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1.2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666598" y="457200"/>
            <a:ext cx="52770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1.2: Complete API Endpoint</a:t>
            </a:r>
            <a:endParaRPr lang="en-US" sz="2700" dirty="0"/>
          </a:p>
        </p:txBody>
      </p:sp>
      <p:sp>
        <p:nvSpPr>
          <p:cNvPr id="37" name="Text 31"/>
          <p:cNvSpPr txBox="1"/>
          <p:nvPr/>
        </p:nvSpPr>
        <p:spPr>
          <a:xfrm>
            <a:off x="666598" y="961949"/>
            <a:ext cx="27861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Robust RESTful Services</a:t>
            </a:r>
            <a:endParaRPr lang="en-US" sz="1300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662317C-8824-E070-2D0E-89866F684080}"/>
              </a:ext>
            </a:extLst>
          </p:cNvPr>
          <p:cNvGrpSpPr/>
          <p:nvPr/>
        </p:nvGrpSpPr>
        <p:grpSpPr>
          <a:xfrm>
            <a:off x="666598" y="1781252"/>
            <a:ext cx="7181698" cy="4924958"/>
            <a:chOff x="666598" y="1781251"/>
            <a:chExt cx="7181698" cy="5905195"/>
          </a:xfrm>
        </p:grpSpPr>
        <p:sp>
          <p:nvSpPr>
            <p:cNvPr id="10" name="Shape 7"/>
            <p:cNvSpPr/>
            <p:nvPr/>
          </p:nvSpPr>
          <p:spPr>
            <a:xfrm>
              <a:off x="666598" y="1781251"/>
              <a:ext cx="7181698" cy="5905195"/>
            </a:xfrm>
            <a:prstGeom prst="roundRect">
              <a:avLst>
                <a:gd name="adj" fmla="val 400"/>
              </a:avLst>
            </a:prstGeom>
            <a:solidFill>
              <a:srgbClr val="1E293B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961949" y="2119579"/>
              <a:ext cx="171907" cy="171907"/>
            </a:xfrm>
            <a:prstGeom prst="rect">
              <a:avLst/>
            </a:prstGeom>
          </p:spPr>
        </p:pic>
        <p:sp>
          <p:nvSpPr>
            <p:cNvPr id="12" name="Shape 8"/>
            <p:cNvSpPr/>
            <p:nvPr/>
          </p:nvSpPr>
          <p:spPr>
            <a:xfrm>
              <a:off x="961949" y="2562149"/>
              <a:ext cx="6590995" cy="552298"/>
            </a:xfrm>
            <a:prstGeom prst="roundRect">
              <a:avLst>
                <a:gd name="adj" fmla="val 28545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Text 9"/>
            <p:cNvSpPr txBox="1"/>
            <p:nvPr/>
          </p:nvSpPr>
          <p:spPr>
            <a:xfrm>
              <a:off x="1123798" y="2723998"/>
              <a:ext cx="34582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Create CourseCategory model with migrations</a:t>
              </a:r>
              <a:endParaRPr lang="en-US" sz="120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961949" y="3267151"/>
              <a:ext cx="6590995" cy="552298"/>
            </a:xfrm>
            <a:prstGeom prst="roundRect">
              <a:avLst>
                <a:gd name="adj" fmla="val 28545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Text 11"/>
            <p:cNvSpPr txBox="1"/>
            <p:nvPr/>
          </p:nvSpPr>
          <p:spPr>
            <a:xfrm>
              <a:off x="1123798" y="3429000"/>
              <a:ext cx="444855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Implement Form Request Validation (StoreCategoryRequest)</a:t>
              </a:r>
              <a:endParaRPr lang="en-US" sz="1200" dirty="0"/>
            </a:p>
          </p:txBody>
        </p:sp>
        <p:sp>
          <p:nvSpPr>
            <p:cNvPr id="16" name="Shape 12"/>
            <p:cNvSpPr/>
            <p:nvPr/>
          </p:nvSpPr>
          <p:spPr>
            <a:xfrm>
              <a:off x="961949" y="3972154"/>
              <a:ext cx="6590995" cy="571500"/>
            </a:xfrm>
            <a:prstGeom prst="roundRect">
              <a:avLst>
                <a:gd name="adj" fmla="val 26667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Shape 13"/>
            <p:cNvSpPr/>
            <p:nvPr/>
          </p:nvSpPr>
          <p:spPr>
            <a:xfrm>
              <a:off x="1123798" y="4153205"/>
              <a:ext cx="228600" cy="228600"/>
            </a:xfrm>
            <a:prstGeom prst="roundRect">
              <a:avLst>
                <a:gd name="adj" fmla="val 100000"/>
              </a:avLst>
            </a:prstGeom>
            <a:noFill/>
            <a:ln w="254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Shape 14"/>
            <p:cNvSpPr/>
            <p:nvPr/>
          </p:nvSpPr>
          <p:spPr>
            <a:xfrm>
              <a:off x="961949" y="4695444"/>
              <a:ext cx="6590995" cy="571500"/>
            </a:xfrm>
            <a:prstGeom prst="roundRect">
              <a:avLst>
                <a:gd name="adj" fmla="val 26667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Shape 15"/>
            <p:cNvSpPr/>
            <p:nvPr/>
          </p:nvSpPr>
          <p:spPr>
            <a:xfrm>
              <a:off x="1123798" y="4876495"/>
              <a:ext cx="228600" cy="228600"/>
            </a:xfrm>
            <a:prstGeom prst="roundRect">
              <a:avLst>
                <a:gd name="adj" fmla="val 100000"/>
              </a:avLst>
            </a:prstGeom>
            <a:noFill/>
            <a:ln w="254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Shape 16"/>
            <p:cNvSpPr/>
            <p:nvPr/>
          </p:nvSpPr>
          <p:spPr>
            <a:xfrm>
              <a:off x="961949" y="5419649"/>
              <a:ext cx="6590995" cy="552298"/>
            </a:xfrm>
            <a:prstGeom prst="roundRect">
              <a:avLst>
                <a:gd name="adj" fmla="val 28545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1123798" y="5581498"/>
              <a:ext cx="275325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Register API routes in routes/api.php</a:t>
              </a:r>
              <a:endParaRPr lang="en-US" sz="1200" dirty="0"/>
            </a:p>
          </p:txBody>
        </p:sp>
        <p:sp>
          <p:nvSpPr>
            <p:cNvPr id="22" name="Shape 18"/>
            <p:cNvSpPr/>
            <p:nvPr/>
          </p:nvSpPr>
          <p:spPr>
            <a:xfrm>
              <a:off x="961949" y="6124651"/>
              <a:ext cx="6590995" cy="571500"/>
            </a:xfrm>
            <a:prstGeom prst="roundRect">
              <a:avLst>
                <a:gd name="adj" fmla="val 26667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Shape 19"/>
            <p:cNvSpPr/>
            <p:nvPr/>
          </p:nvSpPr>
          <p:spPr>
            <a:xfrm>
              <a:off x="1123798" y="6305702"/>
              <a:ext cx="228600" cy="228600"/>
            </a:xfrm>
            <a:prstGeom prst="roundRect">
              <a:avLst>
                <a:gd name="adj" fmla="val 100000"/>
              </a:avLst>
            </a:prstGeom>
            <a:noFill/>
            <a:ln w="254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Shape 20"/>
            <p:cNvSpPr/>
            <p:nvPr/>
          </p:nvSpPr>
          <p:spPr>
            <a:xfrm>
              <a:off x="961949" y="6848856"/>
              <a:ext cx="6590995" cy="694944"/>
            </a:xfrm>
            <a:prstGeom prst="roundRect">
              <a:avLst>
                <a:gd name="adj" fmla="val 14420"/>
              </a:avLst>
            </a:prstGeom>
            <a:solidFill>
              <a:srgbClr val="3B82F6">
                <a:alpha val="5000"/>
              </a:srgbClr>
            </a:solidFill>
            <a:ln w="12700">
              <a:solidFill>
                <a:srgbClr val="3B82F6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Text 21"/>
            <p:cNvSpPr txBox="1"/>
            <p:nvPr/>
          </p:nvSpPr>
          <p:spPr>
            <a:xfrm>
              <a:off x="1123798" y="7010705"/>
              <a:ext cx="6360566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3C5FD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Tip: Use php artisan make:model CourseCategory -a to generate model, migration, factory, seeder, controller, and requests all at once.</a:t>
              </a:r>
              <a:endParaRPr lang="en-US" sz="900" dirty="0"/>
            </a:p>
          </p:txBody>
        </p:sp>
        <p:sp>
          <p:nvSpPr>
            <p:cNvPr id="38" name="Text 32"/>
            <p:cNvSpPr txBox="1"/>
            <p:nvPr/>
          </p:nvSpPr>
          <p:spPr>
            <a:xfrm>
              <a:off x="1228954" y="2104949"/>
              <a:ext cx="193852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Implementation Steps</a:t>
              </a:r>
              <a:endParaRPr lang="en-US" sz="1300" dirty="0"/>
            </a:p>
          </p:txBody>
        </p:sp>
        <p:sp>
          <p:nvSpPr>
            <p:cNvPr id="39" name="Text 33"/>
            <p:cNvSpPr txBox="1"/>
            <p:nvPr/>
          </p:nvSpPr>
          <p:spPr>
            <a:xfrm>
              <a:off x="1505102" y="4153205"/>
              <a:ext cx="330555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Create API Resource for data transformation</a:t>
              </a:r>
              <a:endParaRPr lang="en-US" sz="1200" dirty="0"/>
            </a:p>
          </p:txBody>
        </p:sp>
        <p:sp>
          <p:nvSpPr>
            <p:cNvPr id="40" name="Text 34"/>
            <p:cNvSpPr txBox="1"/>
            <p:nvPr/>
          </p:nvSpPr>
          <p:spPr>
            <a:xfrm>
              <a:off x="1505102" y="4876495"/>
              <a:ext cx="311536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Build Controller with full CRUD operations</a:t>
              </a:r>
              <a:endParaRPr lang="en-US" sz="1200" dirty="0"/>
            </a:p>
          </p:txBody>
        </p:sp>
        <p:sp>
          <p:nvSpPr>
            <p:cNvPr id="41" name="Text 35"/>
            <p:cNvSpPr txBox="1"/>
            <p:nvPr/>
          </p:nvSpPr>
          <p:spPr>
            <a:xfrm>
              <a:off x="1505102" y="6305702"/>
              <a:ext cx="359176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Implement Permission checking (Policies/Gates)</a:t>
              </a:r>
              <a:endParaRPr lang="en-US" sz="1200" dirty="0"/>
            </a:p>
          </p:txBody>
        </p:sp>
      </p:grpSp>
      <p:sp>
        <p:nvSpPr>
          <p:cNvPr id="29" name="Shape 24"/>
          <p:cNvSpPr/>
          <p:nvPr/>
        </p:nvSpPr>
        <p:spPr>
          <a:xfrm>
            <a:off x="8240771" y="1778060"/>
            <a:ext cx="3295498" cy="2422824"/>
          </a:xfrm>
          <a:prstGeom prst="roundRect">
            <a:avLst>
              <a:gd name="adj" fmla="val 1238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78515" y="2008369"/>
            <a:ext cx="152705" cy="127357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707115" y="1976339"/>
            <a:ext cx="1219810" cy="190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Objectives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240771" y="4386961"/>
            <a:ext cx="3295498" cy="1159935"/>
          </a:xfrm>
          <a:prstGeom prst="roundRect">
            <a:avLst>
              <a:gd name="adj" fmla="val 54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27"/>
          <p:cNvSpPr/>
          <p:nvPr/>
        </p:nvSpPr>
        <p:spPr>
          <a:xfrm>
            <a:off x="8478515" y="4871983"/>
            <a:ext cx="942746" cy="206668"/>
          </a:xfrm>
          <a:prstGeom prst="roundRect">
            <a:avLst>
              <a:gd name="adj" fmla="val 56770"/>
            </a:avLst>
          </a:prstGeom>
          <a:solidFill>
            <a:srgbClr val="312E81">
              <a:alpha val="5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28"/>
          <p:cNvSpPr/>
          <p:nvPr/>
        </p:nvSpPr>
        <p:spPr>
          <a:xfrm>
            <a:off x="9488927" y="4871983"/>
            <a:ext cx="1143000" cy="206668"/>
          </a:xfrm>
          <a:prstGeom prst="roundRect">
            <a:avLst>
              <a:gd name="adj" fmla="val 56770"/>
            </a:avLst>
          </a:prstGeom>
          <a:solidFill>
            <a:srgbClr val="1E3A8A">
              <a:alpha val="5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29"/>
          <p:cNvSpPr/>
          <p:nvPr/>
        </p:nvSpPr>
        <p:spPr>
          <a:xfrm>
            <a:off x="8478515" y="5141948"/>
            <a:ext cx="800100" cy="206668"/>
          </a:xfrm>
          <a:prstGeom prst="roundRect">
            <a:avLst>
              <a:gd name="adj" fmla="val 56770"/>
            </a:avLst>
          </a:prstGeom>
          <a:solidFill>
            <a:srgbClr val="4C1D95">
              <a:alpha val="5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38"/>
          <p:cNvSpPr txBox="1"/>
          <p:nvPr/>
        </p:nvSpPr>
        <p:spPr>
          <a:xfrm>
            <a:off x="8478515" y="4593629"/>
            <a:ext cx="1014984" cy="13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8602873" y="4919265"/>
            <a:ext cx="781812" cy="111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Laravel 10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9612371" y="4919265"/>
            <a:ext cx="981151" cy="111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API Resources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8602873" y="5189993"/>
            <a:ext cx="638251" cy="111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4B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Requests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8669625" y="2278334"/>
            <a:ext cx="2005279" cy="13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RESTful API Design Standards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8669625" y="2524658"/>
            <a:ext cx="1653235" cy="13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Validation Logic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8669625" y="2770982"/>
            <a:ext cx="1719986" cy="13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Transformation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8669625" y="3017307"/>
            <a:ext cx="1957730" cy="13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Route Implementation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10322860" y="6650539"/>
            <a:ext cx="1733702" cy="111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210605" y="-952805"/>
            <a:ext cx="4762195" cy="476219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09905" y="4000500"/>
            <a:ext cx="4286707" cy="4286707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61695" y="1390802"/>
            <a:ext cx="106683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761695" y="1686154"/>
            <a:ext cx="5191049" cy="4695444"/>
          </a:xfrm>
          <a:prstGeom prst="roundRect">
            <a:avLst>
              <a:gd name="adj" fmla="val 63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771754" y="1695298"/>
            <a:ext cx="5171846" cy="4288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771754" y="2115007"/>
            <a:ext cx="51718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961949" y="1836115"/>
            <a:ext cx="171907" cy="1335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52898" y="18553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Shape 9"/>
          <p:cNvSpPr/>
          <p:nvPr/>
        </p:nvSpPr>
        <p:spPr>
          <a:xfrm>
            <a:off x="5505602" y="18553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5658307" y="18553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1314907" y="2348179"/>
            <a:ext cx="9144" cy="3762756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Shape 12"/>
          <p:cNvSpPr/>
          <p:nvPr/>
        </p:nvSpPr>
        <p:spPr>
          <a:xfrm>
            <a:off x="6238951" y="1686154"/>
            <a:ext cx="5191049" cy="4695444"/>
          </a:xfrm>
          <a:prstGeom prst="roundRect">
            <a:avLst>
              <a:gd name="adj" fmla="val 63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Shape 13"/>
          <p:cNvSpPr/>
          <p:nvPr/>
        </p:nvSpPr>
        <p:spPr>
          <a:xfrm>
            <a:off x="6248095" y="1695298"/>
            <a:ext cx="5171846" cy="4288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Shape 14"/>
          <p:cNvSpPr/>
          <p:nvPr/>
        </p:nvSpPr>
        <p:spPr>
          <a:xfrm>
            <a:off x="6248095" y="2115007"/>
            <a:ext cx="51718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6439205" y="1836115"/>
            <a:ext cx="171907" cy="13350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830154" y="18553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6"/>
          <p:cNvSpPr/>
          <p:nvPr/>
        </p:nvSpPr>
        <p:spPr>
          <a:xfrm>
            <a:off x="10981944" y="18553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Shape 17"/>
          <p:cNvSpPr/>
          <p:nvPr/>
        </p:nvSpPr>
        <p:spPr>
          <a:xfrm>
            <a:off x="11134649" y="18553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Shape 18"/>
          <p:cNvSpPr/>
          <p:nvPr/>
        </p:nvSpPr>
        <p:spPr>
          <a:xfrm>
            <a:off x="6476695" y="3139135"/>
            <a:ext cx="4714646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Shape 19"/>
          <p:cNvSpPr/>
          <p:nvPr/>
        </p:nvSpPr>
        <p:spPr>
          <a:xfrm>
            <a:off x="6476695" y="2348179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34302" y="2404872"/>
            <a:ext cx="114300" cy="1143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476695" y="5114239"/>
            <a:ext cx="4714646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Shape 21"/>
          <p:cNvSpPr/>
          <p:nvPr/>
        </p:nvSpPr>
        <p:spPr>
          <a:xfrm>
            <a:off x="6476695" y="3294583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6538874" y="3352190"/>
            <a:ext cx="105156" cy="1143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476695" y="5269687"/>
            <a:ext cx="4714646" cy="599846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Shape 23"/>
          <p:cNvSpPr/>
          <p:nvPr/>
        </p:nvSpPr>
        <p:spPr>
          <a:xfrm>
            <a:off x="6476695" y="5269687"/>
            <a:ext cx="28346" cy="59984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48602" y="5505602"/>
            <a:ext cx="123444" cy="1234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61695" y="457200"/>
            <a:ext cx="40389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1.2: Model Example</a:t>
            </a:r>
            <a:endParaRPr lang="en-US" sz="2700" dirty="0"/>
          </a:p>
        </p:txBody>
      </p:sp>
      <p:sp>
        <p:nvSpPr>
          <p:cNvPr id="32" name="Text 25"/>
          <p:cNvSpPr txBox="1"/>
          <p:nvPr/>
        </p:nvSpPr>
        <p:spPr>
          <a:xfrm>
            <a:off x="761695" y="961949"/>
            <a:ext cx="34911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Defining structure, traits, and relationships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1228954" y="1819656"/>
            <a:ext cx="22558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app/Models/CourseCategory.php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079906" y="236738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079906" y="258043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1079906" y="279349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1079906" y="300746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1079906" y="322051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1079906" y="3434486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1079906" y="364754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1079906" y="386059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1079906" y="4074566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1000354" y="428762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1000354" y="4501591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1000354" y="471464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1000354" y="492770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1000354" y="5141671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1000354" y="535472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1000354" y="556869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1000354" y="5781751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1474927" y="2367382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</a:t>
            </a:r>
            <a:endParaRPr lang="en-US" sz="1000" dirty="0"/>
          </a:p>
        </p:txBody>
      </p:sp>
      <p:sp>
        <p:nvSpPr>
          <p:cNvPr id="52" name="Text 45"/>
          <p:cNvSpPr txBox="1"/>
          <p:nvPr/>
        </p:nvSpPr>
        <p:spPr>
          <a:xfrm>
            <a:off x="1874520" y="2367382"/>
            <a:ext cx="12243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CourseCategory</a:t>
            </a:r>
            <a:endParaRPr lang="en-US" sz="1000" dirty="0"/>
          </a:p>
        </p:txBody>
      </p:sp>
      <p:sp>
        <p:nvSpPr>
          <p:cNvPr id="53" name="Text 46"/>
          <p:cNvSpPr txBox="1"/>
          <p:nvPr/>
        </p:nvSpPr>
        <p:spPr>
          <a:xfrm>
            <a:off x="2994660" y="2367382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extends</a:t>
            </a:r>
            <a:endParaRPr lang="en-US" sz="1000" dirty="0"/>
          </a:p>
        </p:txBody>
      </p:sp>
      <p:sp>
        <p:nvSpPr>
          <p:cNvPr id="54" name="Text 47"/>
          <p:cNvSpPr txBox="1"/>
          <p:nvPr/>
        </p:nvSpPr>
        <p:spPr>
          <a:xfrm>
            <a:off x="3555187" y="2367382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</a:t>
            </a:r>
            <a:endParaRPr lang="en-US" sz="1000" dirty="0"/>
          </a:p>
        </p:txBody>
      </p:sp>
      <p:sp>
        <p:nvSpPr>
          <p:cNvPr id="55" name="Text 48"/>
          <p:cNvSpPr txBox="1"/>
          <p:nvPr/>
        </p:nvSpPr>
        <p:spPr>
          <a:xfrm>
            <a:off x="3954780" y="236738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56" name="Text 49"/>
          <p:cNvSpPr txBox="1"/>
          <p:nvPr/>
        </p:nvSpPr>
        <p:spPr>
          <a:xfrm>
            <a:off x="1474927" y="2580437"/>
            <a:ext cx="3483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</a:t>
            </a:r>
            <a:endParaRPr lang="en-US" sz="1000" dirty="0"/>
          </a:p>
        </p:txBody>
      </p:sp>
      <p:sp>
        <p:nvSpPr>
          <p:cNvPr id="57" name="Text 50"/>
          <p:cNvSpPr txBox="1"/>
          <p:nvPr/>
        </p:nvSpPr>
        <p:spPr>
          <a:xfrm>
            <a:off x="1714500" y="2580437"/>
            <a:ext cx="9866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SoftDeletes</a:t>
            </a:r>
            <a:endParaRPr lang="en-US" sz="1000" dirty="0"/>
          </a:p>
        </p:txBody>
      </p:sp>
      <p:sp>
        <p:nvSpPr>
          <p:cNvPr id="58" name="Text 51"/>
          <p:cNvSpPr txBox="1"/>
          <p:nvPr/>
        </p:nvSpPr>
        <p:spPr>
          <a:xfrm>
            <a:off x="2595067" y="258043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59" name="Text 52"/>
          <p:cNvSpPr txBox="1"/>
          <p:nvPr/>
        </p:nvSpPr>
        <p:spPr>
          <a:xfrm>
            <a:off x="2674620" y="2580437"/>
            <a:ext cx="9006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HasFactory</a:t>
            </a:r>
            <a:endParaRPr lang="en-US" sz="1000" dirty="0"/>
          </a:p>
        </p:txBody>
      </p:sp>
      <p:sp>
        <p:nvSpPr>
          <p:cNvPr id="60" name="Text 53"/>
          <p:cNvSpPr txBox="1"/>
          <p:nvPr/>
        </p:nvSpPr>
        <p:spPr>
          <a:xfrm>
            <a:off x="3474720" y="258043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000" dirty="0"/>
          </a:p>
        </p:txBody>
      </p:sp>
      <p:sp>
        <p:nvSpPr>
          <p:cNvPr id="61" name="Text 54"/>
          <p:cNvSpPr txBox="1"/>
          <p:nvPr/>
        </p:nvSpPr>
        <p:spPr>
          <a:xfrm>
            <a:off x="1474927" y="2793492"/>
            <a:ext cx="3483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</a:t>
            </a:r>
            <a:endParaRPr lang="en-US" sz="1000" dirty="0"/>
          </a:p>
        </p:txBody>
      </p:sp>
      <p:sp>
        <p:nvSpPr>
          <p:cNvPr id="62" name="Text 55"/>
          <p:cNvSpPr txBox="1"/>
          <p:nvPr/>
        </p:nvSpPr>
        <p:spPr>
          <a:xfrm>
            <a:off x="1714500" y="2793492"/>
            <a:ext cx="14621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\OwenIt\Auditing\</a:t>
            </a:r>
            <a:endParaRPr lang="en-US" sz="1000" dirty="0"/>
          </a:p>
        </p:txBody>
      </p:sp>
      <p:sp>
        <p:nvSpPr>
          <p:cNvPr id="63" name="Text 56"/>
          <p:cNvSpPr txBox="1"/>
          <p:nvPr/>
        </p:nvSpPr>
        <p:spPr>
          <a:xfrm>
            <a:off x="3075127" y="2793492"/>
            <a:ext cx="8247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Auditable</a:t>
            </a:r>
            <a:endParaRPr lang="en-US" sz="1000" dirty="0"/>
          </a:p>
        </p:txBody>
      </p:sp>
      <p:sp>
        <p:nvSpPr>
          <p:cNvPr id="64" name="Text 57"/>
          <p:cNvSpPr txBox="1"/>
          <p:nvPr/>
        </p:nvSpPr>
        <p:spPr>
          <a:xfrm>
            <a:off x="3794760" y="279349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000" dirty="0"/>
          </a:p>
        </p:txBody>
      </p:sp>
      <p:sp>
        <p:nvSpPr>
          <p:cNvPr id="65" name="Shape 58"/>
          <p:cNvSpPr/>
          <p:nvPr/>
        </p:nvSpPr>
        <p:spPr>
          <a:xfrm>
            <a:off x="1474927" y="3140964"/>
            <a:ext cx="1981505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6" name="Text 59"/>
          <p:cNvSpPr txBox="1"/>
          <p:nvPr/>
        </p:nvSpPr>
        <p:spPr>
          <a:xfrm>
            <a:off x="1579169" y="3197657"/>
            <a:ext cx="18507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MASS ASSIGNMENT PROTECTION</a:t>
            </a:r>
            <a:endParaRPr lang="en-US" sz="800" dirty="0"/>
          </a:p>
        </p:txBody>
      </p:sp>
      <p:sp>
        <p:nvSpPr>
          <p:cNvPr id="67" name="Text 60"/>
          <p:cNvSpPr txBox="1"/>
          <p:nvPr/>
        </p:nvSpPr>
        <p:spPr>
          <a:xfrm>
            <a:off x="1474927" y="3498494"/>
            <a:ext cx="8247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protected</a:t>
            </a:r>
            <a:endParaRPr lang="en-US" sz="1000" dirty="0"/>
          </a:p>
        </p:txBody>
      </p:sp>
      <p:sp>
        <p:nvSpPr>
          <p:cNvPr id="68" name="Text 61"/>
          <p:cNvSpPr txBox="1"/>
          <p:nvPr/>
        </p:nvSpPr>
        <p:spPr>
          <a:xfrm>
            <a:off x="2194560" y="3498494"/>
            <a:ext cx="8247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$fillable</a:t>
            </a:r>
            <a:endParaRPr lang="en-US" sz="1000" dirty="0"/>
          </a:p>
        </p:txBody>
      </p:sp>
      <p:sp>
        <p:nvSpPr>
          <p:cNvPr id="69" name="Text 62"/>
          <p:cNvSpPr txBox="1"/>
          <p:nvPr/>
        </p:nvSpPr>
        <p:spPr>
          <a:xfrm>
            <a:off x="2915107" y="349849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1000" dirty="0"/>
          </a:p>
        </p:txBody>
      </p:sp>
      <p:sp>
        <p:nvSpPr>
          <p:cNvPr id="70" name="Text 63"/>
          <p:cNvSpPr txBox="1"/>
          <p:nvPr/>
        </p:nvSpPr>
        <p:spPr>
          <a:xfrm>
            <a:off x="2994660" y="349849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</a:t>
            </a:r>
            <a:endParaRPr lang="en-US" sz="1000" dirty="0"/>
          </a:p>
        </p:txBody>
      </p:sp>
      <p:sp>
        <p:nvSpPr>
          <p:cNvPr id="71" name="Text 64"/>
          <p:cNvSpPr txBox="1"/>
          <p:nvPr/>
        </p:nvSpPr>
        <p:spPr>
          <a:xfrm>
            <a:off x="1474927" y="3712464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'name'</a:t>
            </a:r>
            <a:endParaRPr lang="en-US" sz="1000" dirty="0"/>
          </a:p>
        </p:txBody>
      </p:sp>
      <p:sp>
        <p:nvSpPr>
          <p:cNvPr id="72" name="Text 65"/>
          <p:cNvSpPr txBox="1"/>
          <p:nvPr/>
        </p:nvSpPr>
        <p:spPr>
          <a:xfrm>
            <a:off x="1954987" y="371246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73" name="Text 66"/>
          <p:cNvSpPr txBox="1"/>
          <p:nvPr/>
        </p:nvSpPr>
        <p:spPr>
          <a:xfrm>
            <a:off x="1474927" y="3925519"/>
            <a:ext cx="11484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'description'</a:t>
            </a:r>
            <a:endParaRPr lang="en-US" sz="1000" dirty="0"/>
          </a:p>
        </p:txBody>
      </p:sp>
      <p:sp>
        <p:nvSpPr>
          <p:cNvPr id="74" name="Text 67"/>
          <p:cNvSpPr txBox="1"/>
          <p:nvPr/>
        </p:nvSpPr>
        <p:spPr>
          <a:xfrm>
            <a:off x="2514600" y="3925519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75" name="Text 68"/>
          <p:cNvSpPr txBox="1"/>
          <p:nvPr/>
        </p:nvSpPr>
        <p:spPr>
          <a:xfrm>
            <a:off x="1474927" y="4138574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'status'</a:t>
            </a:r>
            <a:endParaRPr lang="en-US" sz="1000" dirty="0"/>
          </a:p>
        </p:txBody>
      </p:sp>
      <p:sp>
        <p:nvSpPr>
          <p:cNvPr id="76" name="Text 69"/>
          <p:cNvSpPr txBox="1"/>
          <p:nvPr/>
        </p:nvSpPr>
        <p:spPr>
          <a:xfrm>
            <a:off x="2115007" y="413857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77" name="Text 70"/>
          <p:cNvSpPr txBox="1"/>
          <p:nvPr/>
        </p:nvSpPr>
        <p:spPr>
          <a:xfrm>
            <a:off x="1474927" y="4352544"/>
            <a:ext cx="10625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'created_by'</a:t>
            </a:r>
            <a:endParaRPr lang="en-US" sz="1000" dirty="0"/>
          </a:p>
        </p:txBody>
      </p:sp>
      <p:sp>
        <p:nvSpPr>
          <p:cNvPr id="78" name="Text 71"/>
          <p:cNvSpPr txBox="1"/>
          <p:nvPr/>
        </p:nvSpPr>
        <p:spPr>
          <a:xfrm>
            <a:off x="1474927" y="4565599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];</a:t>
            </a:r>
            <a:endParaRPr lang="en-US" sz="1000" dirty="0"/>
          </a:p>
        </p:txBody>
      </p:sp>
      <p:sp>
        <p:nvSpPr>
          <p:cNvPr id="79" name="Shape 72"/>
          <p:cNvSpPr/>
          <p:nvPr/>
        </p:nvSpPr>
        <p:spPr>
          <a:xfrm>
            <a:off x="1474927" y="4912157"/>
            <a:ext cx="1095451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Text 73"/>
          <p:cNvSpPr txBox="1"/>
          <p:nvPr/>
        </p:nvSpPr>
        <p:spPr>
          <a:xfrm>
            <a:off x="1579169" y="4969764"/>
            <a:ext cx="9646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RELATIONSHIPS</a:t>
            </a:r>
            <a:endParaRPr lang="en-US" sz="800" dirty="0"/>
          </a:p>
        </p:txBody>
      </p:sp>
      <p:sp>
        <p:nvSpPr>
          <p:cNvPr id="81" name="Text 74"/>
          <p:cNvSpPr txBox="1"/>
          <p:nvPr/>
        </p:nvSpPr>
        <p:spPr>
          <a:xfrm>
            <a:off x="1474927" y="5270602"/>
            <a:ext cx="13002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function</a:t>
            </a:r>
            <a:endParaRPr lang="en-US" sz="1000" dirty="0"/>
          </a:p>
        </p:txBody>
      </p:sp>
      <p:sp>
        <p:nvSpPr>
          <p:cNvPr id="82" name="Text 75"/>
          <p:cNvSpPr txBox="1"/>
          <p:nvPr/>
        </p:nvSpPr>
        <p:spPr>
          <a:xfrm>
            <a:off x="2674620" y="5270602"/>
            <a:ext cx="8247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createdBy</a:t>
            </a:r>
            <a:endParaRPr lang="en-US" sz="1000" dirty="0"/>
          </a:p>
        </p:txBody>
      </p:sp>
      <p:sp>
        <p:nvSpPr>
          <p:cNvPr id="83" name="Text 76"/>
          <p:cNvSpPr txBox="1"/>
          <p:nvPr/>
        </p:nvSpPr>
        <p:spPr>
          <a:xfrm>
            <a:off x="3395167" y="527060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000" dirty="0"/>
          </a:p>
        </p:txBody>
      </p:sp>
      <p:sp>
        <p:nvSpPr>
          <p:cNvPr id="84" name="Text 77"/>
          <p:cNvSpPr txBox="1"/>
          <p:nvPr/>
        </p:nvSpPr>
        <p:spPr>
          <a:xfrm>
            <a:off x="3555187" y="527060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85" name="Text 78"/>
          <p:cNvSpPr txBox="1"/>
          <p:nvPr/>
        </p:nvSpPr>
        <p:spPr>
          <a:xfrm>
            <a:off x="3634740" y="5270602"/>
            <a:ext cx="8247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BelongsTo</a:t>
            </a:r>
            <a:endParaRPr lang="en-US" sz="1000" dirty="0"/>
          </a:p>
        </p:txBody>
      </p:sp>
      <p:sp>
        <p:nvSpPr>
          <p:cNvPr id="86" name="Text 79"/>
          <p:cNvSpPr txBox="1"/>
          <p:nvPr/>
        </p:nvSpPr>
        <p:spPr>
          <a:xfrm>
            <a:off x="4355287" y="527060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87" name="Text 80"/>
          <p:cNvSpPr txBox="1"/>
          <p:nvPr/>
        </p:nvSpPr>
        <p:spPr>
          <a:xfrm>
            <a:off x="1474927" y="5483657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endParaRPr lang="en-US" sz="1000" dirty="0"/>
          </a:p>
        </p:txBody>
      </p:sp>
      <p:sp>
        <p:nvSpPr>
          <p:cNvPr id="88" name="Text 81"/>
          <p:cNvSpPr txBox="1"/>
          <p:nvPr/>
        </p:nvSpPr>
        <p:spPr>
          <a:xfrm>
            <a:off x="1954987" y="5483657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$this</a:t>
            </a:r>
            <a:endParaRPr lang="en-US" sz="1000" dirty="0"/>
          </a:p>
        </p:txBody>
      </p:sp>
      <p:sp>
        <p:nvSpPr>
          <p:cNvPr id="89" name="Text 82"/>
          <p:cNvSpPr txBox="1"/>
          <p:nvPr/>
        </p:nvSpPr>
        <p:spPr>
          <a:xfrm>
            <a:off x="2354580" y="548365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90" name="Text 83"/>
          <p:cNvSpPr txBox="1"/>
          <p:nvPr/>
        </p:nvSpPr>
        <p:spPr>
          <a:xfrm>
            <a:off x="2514600" y="5483657"/>
            <a:ext cx="8247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belongsTo</a:t>
            </a:r>
            <a:endParaRPr lang="en-US" sz="1000" dirty="0"/>
          </a:p>
        </p:txBody>
      </p:sp>
      <p:sp>
        <p:nvSpPr>
          <p:cNvPr id="91" name="Text 84"/>
          <p:cNvSpPr txBox="1"/>
          <p:nvPr/>
        </p:nvSpPr>
        <p:spPr>
          <a:xfrm>
            <a:off x="3235147" y="548365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92" name="Text 85"/>
          <p:cNvSpPr txBox="1"/>
          <p:nvPr/>
        </p:nvSpPr>
        <p:spPr>
          <a:xfrm>
            <a:off x="3314700" y="5483657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endParaRPr lang="en-US" sz="1000" dirty="0"/>
          </a:p>
        </p:txBody>
      </p:sp>
      <p:sp>
        <p:nvSpPr>
          <p:cNvPr id="93" name="Text 86"/>
          <p:cNvSpPr txBox="1"/>
          <p:nvPr/>
        </p:nvSpPr>
        <p:spPr>
          <a:xfrm>
            <a:off x="3635654" y="548365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1000" dirty="0"/>
          </a:p>
        </p:txBody>
      </p:sp>
      <p:sp>
        <p:nvSpPr>
          <p:cNvPr id="94" name="Text 87"/>
          <p:cNvSpPr txBox="1"/>
          <p:nvPr/>
        </p:nvSpPr>
        <p:spPr>
          <a:xfrm>
            <a:off x="3795674" y="5483657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class);</a:t>
            </a:r>
            <a:endParaRPr lang="en-US" sz="1000" dirty="0"/>
          </a:p>
        </p:txBody>
      </p:sp>
      <p:sp>
        <p:nvSpPr>
          <p:cNvPr id="95" name="Text 88"/>
          <p:cNvSpPr txBox="1"/>
          <p:nvPr/>
        </p:nvSpPr>
        <p:spPr>
          <a:xfrm>
            <a:off x="1474927" y="5697626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96" name="Text 89"/>
          <p:cNvSpPr txBox="1"/>
          <p:nvPr/>
        </p:nvSpPr>
        <p:spPr>
          <a:xfrm>
            <a:off x="1474927" y="591068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97" name="Text 90"/>
          <p:cNvSpPr txBox="1"/>
          <p:nvPr/>
        </p:nvSpPr>
        <p:spPr>
          <a:xfrm>
            <a:off x="6705295" y="1819656"/>
            <a:ext cx="17318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Details</a:t>
            </a:r>
            <a:endParaRPr lang="en-US" sz="900" dirty="0"/>
          </a:p>
        </p:txBody>
      </p:sp>
      <p:sp>
        <p:nvSpPr>
          <p:cNvPr id="98" name="Text 91"/>
          <p:cNvSpPr txBox="1"/>
          <p:nvPr/>
        </p:nvSpPr>
        <p:spPr>
          <a:xfrm>
            <a:off x="6819595" y="2367382"/>
            <a:ext cx="11128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Traits Integration</a:t>
            </a:r>
            <a:endParaRPr lang="en-US" sz="900" dirty="0"/>
          </a:p>
        </p:txBody>
      </p:sp>
      <p:sp>
        <p:nvSpPr>
          <p:cNvPr id="99" name="Text 92"/>
          <p:cNvSpPr txBox="1"/>
          <p:nvPr/>
        </p:nvSpPr>
        <p:spPr>
          <a:xfrm>
            <a:off x="6819595" y="2603297"/>
            <a:ext cx="43415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SoftDeletes enables logical deletion without removing records. Auditable automatically tracks all changes to this model (User, IP, Timestamps).</a:t>
            </a:r>
            <a:endParaRPr lang="en-US" sz="900" dirty="0"/>
          </a:p>
        </p:txBody>
      </p:sp>
      <p:sp>
        <p:nvSpPr>
          <p:cNvPr id="100" name="Text 93"/>
          <p:cNvSpPr txBox="1"/>
          <p:nvPr/>
        </p:nvSpPr>
        <p:spPr>
          <a:xfrm>
            <a:off x="6819595" y="3313786"/>
            <a:ext cx="15224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Example (Tinker)</a:t>
            </a:r>
            <a:endParaRPr lang="en-US" sz="900" dirty="0"/>
          </a:p>
        </p:txBody>
      </p:sp>
      <p:sp>
        <p:nvSpPr>
          <p:cNvPr id="101" name="Text 94"/>
          <p:cNvSpPr txBox="1"/>
          <p:nvPr/>
        </p:nvSpPr>
        <p:spPr>
          <a:xfrm>
            <a:off x="6819595" y="3578047"/>
            <a:ext cx="25511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$cat = CourseCategory::create([</a:t>
            </a:r>
            <a:endParaRPr lang="en-US" sz="900" dirty="0"/>
          </a:p>
        </p:txBody>
      </p:sp>
      <p:sp>
        <p:nvSpPr>
          <p:cNvPr id="102" name="Text 95"/>
          <p:cNvSpPr txBox="1"/>
          <p:nvPr/>
        </p:nvSpPr>
        <p:spPr>
          <a:xfrm>
            <a:off x="6819595" y="3776472"/>
            <a:ext cx="18836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'name' =&gt; 'Backend Ops',</a:t>
            </a:r>
            <a:endParaRPr lang="en-US" sz="900" dirty="0"/>
          </a:p>
        </p:txBody>
      </p:sp>
      <p:sp>
        <p:nvSpPr>
          <p:cNvPr id="103" name="Text 96"/>
          <p:cNvSpPr txBox="1"/>
          <p:nvPr/>
        </p:nvSpPr>
        <p:spPr>
          <a:xfrm>
            <a:off x="6819595" y="3974897"/>
            <a:ext cx="135971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'created_by' =&gt; 1</a:t>
            </a:r>
            <a:endParaRPr lang="en-US" sz="900" dirty="0"/>
          </a:p>
        </p:txBody>
      </p:sp>
      <p:sp>
        <p:nvSpPr>
          <p:cNvPr id="104" name="Text 97"/>
          <p:cNvSpPr txBox="1"/>
          <p:nvPr/>
        </p:nvSpPr>
        <p:spPr>
          <a:xfrm>
            <a:off x="6819595" y="4172407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]);</a:t>
            </a:r>
            <a:endParaRPr lang="en-US" sz="900" dirty="0"/>
          </a:p>
        </p:txBody>
      </p:sp>
      <p:sp>
        <p:nvSpPr>
          <p:cNvPr id="105" name="Text 98"/>
          <p:cNvSpPr txBox="1"/>
          <p:nvPr/>
        </p:nvSpPr>
        <p:spPr>
          <a:xfrm>
            <a:off x="6819595" y="4569257"/>
            <a:ext cx="18836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$cat-&gt;createdBy-&gt;name;</a:t>
            </a:r>
            <a:endParaRPr lang="en-US" sz="900" dirty="0"/>
          </a:p>
        </p:txBody>
      </p:sp>
      <p:sp>
        <p:nvSpPr>
          <p:cNvPr id="106" name="Text 99"/>
          <p:cNvSpPr txBox="1"/>
          <p:nvPr/>
        </p:nvSpPr>
        <p:spPr>
          <a:xfrm>
            <a:off x="6819595" y="4766767"/>
            <a:ext cx="12170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"Admin User"</a:t>
            </a:r>
            <a:endParaRPr lang="en-US" sz="900" dirty="0"/>
          </a:p>
        </p:txBody>
      </p:sp>
      <p:sp>
        <p:nvSpPr>
          <p:cNvPr id="107" name="Text 100"/>
          <p:cNvSpPr txBox="1"/>
          <p:nvPr/>
        </p:nvSpPr>
        <p:spPr>
          <a:xfrm>
            <a:off x="6848856" y="5374843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Ensure</a:t>
            </a:r>
            <a:endParaRPr lang="en-US" sz="900" dirty="0"/>
          </a:p>
        </p:txBody>
      </p:sp>
      <p:sp>
        <p:nvSpPr>
          <p:cNvPr id="108" name="Text 101"/>
          <p:cNvSpPr txBox="1"/>
          <p:nvPr/>
        </p:nvSpPr>
        <p:spPr>
          <a:xfrm>
            <a:off x="7294169" y="5394046"/>
            <a:ext cx="84582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created_by</a:t>
            </a:r>
            <a:endParaRPr lang="en-US" sz="900" dirty="0"/>
          </a:p>
        </p:txBody>
      </p:sp>
      <p:sp>
        <p:nvSpPr>
          <p:cNvPr id="109" name="Text 102"/>
          <p:cNvSpPr txBox="1"/>
          <p:nvPr/>
        </p:nvSpPr>
        <p:spPr>
          <a:xfrm>
            <a:off x="6848856" y="5374843"/>
            <a:ext cx="381762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column is indexed in migration for performance.</a:t>
            </a:r>
            <a:endParaRPr lang="en-US" sz="900" dirty="0"/>
          </a:p>
        </p:txBody>
      </p:sp>
      <p:sp>
        <p:nvSpPr>
          <p:cNvPr id="110" name="Text 103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953098" y="-952805"/>
            <a:ext cx="5715000" cy="57150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-476402" y="3047695"/>
            <a:ext cx="4762195" cy="4762195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10394899" y="866851"/>
            <a:ext cx="1133856" cy="333756"/>
          </a:xfrm>
          <a:prstGeom prst="roundRect">
            <a:avLst>
              <a:gd name="adj" fmla="val 62622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2838" r="-2838"/>
          <a:stretch/>
        </p:blipFill>
        <p:spPr>
          <a:xfrm>
            <a:off x="10556748" y="966521"/>
            <a:ext cx="123444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757002" y="933602"/>
            <a:ext cx="7104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1.3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8305496" y="1686154"/>
            <a:ext cx="3295498" cy="2885846"/>
          </a:xfrm>
          <a:prstGeom prst="roundRect">
            <a:avLst>
              <a:gd name="adj" fmla="val 1255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43240" y="1962302"/>
            <a:ext cx="152705" cy="15270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771840" y="1924812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Objectives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305496" y="4796028"/>
            <a:ext cx="3295498" cy="1067105"/>
          </a:xfrm>
          <a:prstGeom prst="roundRect">
            <a:avLst>
              <a:gd name="adj" fmla="val 918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27"/>
          <p:cNvSpPr/>
          <p:nvPr/>
        </p:nvSpPr>
        <p:spPr>
          <a:xfrm>
            <a:off x="8543240" y="5377586"/>
            <a:ext cx="800100" cy="247802"/>
          </a:xfrm>
          <a:prstGeom prst="roundRect">
            <a:avLst>
              <a:gd name="adj" fmla="val 56770"/>
            </a:avLst>
          </a:prstGeom>
          <a:solidFill>
            <a:srgbClr val="312E81">
              <a:alpha val="5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28"/>
          <p:cNvSpPr/>
          <p:nvPr/>
        </p:nvSpPr>
        <p:spPr>
          <a:xfrm>
            <a:off x="9416492" y="5377586"/>
            <a:ext cx="599846" cy="247802"/>
          </a:xfrm>
          <a:prstGeom prst="roundRect">
            <a:avLst>
              <a:gd name="adj" fmla="val 56770"/>
            </a:avLst>
          </a:prstGeom>
          <a:solidFill>
            <a:srgbClr val="1E3A8A">
              <a:alpha val="5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29"/>
          <p:cNvSpPr/>
          <p:nvPr/>
        </p:nvSpPr>
        <p:spPr>
          <a:xfrm>
            <a:off x="10083090" y="5377586"/>
            <a:ext cx="800100" cy="247802"/>
          </a:xfrm>
          <a:prstGeom prst="roundRect">
            <a:avLst>
              <a:gd name="adj" fmla="val 56770"/>
            </a:avLst>
          </a:prstGeom>
          <a:solidFill>
            <a:srgbClr val="7F1D1D">
              <a:alpha val="5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0"/>
          <p:cNvSpPr txBox="1"/>
          <p:nvPr/>
        </p:nvSpPr>
        <p:spPr>
          <a:xfrm>
            <a:off x="666598" y="457200"/>
            <a:ext cx="47247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1.3: Query Optimization</a:t>
            </a:r>
            <a:endParaRPr lang="en-US" sz="2700" dirty="0"/>
          </a:p>
        </p:txBody>
      </p:sp>
      <p:sp>
        <p:nvSpPr>
          <p:cNvPr id="37" name="Text 31"/>
          <p:cNvSpPr txBox="1"/>
          <p:nvPr/>
        </p:nvSpPr>
        <p:spPr>
          <a:xfrm>
            <a:off x="666598" y="961949"/>
            <a:ext cx="27386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Tuning &amp; Efficiency</a:t>
            </a:r>
            <a:endParaRPr lang="en-US" sz="13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C0C8759-E928-647C-24DA-232A55B14354}"/>
              </a:ext>
            </a:extLst>
          </p:cNvPr>
          <p:cNvGrpSpPr/>
          <p:nvPr/>
        </p:nvGrpSpPr>
        <p:grpSpPr>
          <a:xfrm>
            <a:off x="666598" y="1686155"/>
            <a:ext cx="7181698" cy="5082290"/>
            <a:chOff x="666598" y="1686154"/>
            <a:chExt cx="7181698" cy="5562295"/>
          </a:xfrm>
        </p:grpSpPr>
        <p:sp>
          <p:nvSpPr>
            <p:cNvPr id="10" name="Shape 7"/>
            <p:cNvSpPr/>
            <p:nvPr/>
          </p:nvSpPr>
          <p:spPr>
            <a:xfrm>
              <a:off x="666598" y="1686154"/>
              <a:ext cx="7181698" cy="5562295"/>
            </a:xfrm>
            <a:prstGeom prst="roundRect">
              <a:avLst>
                <a:gd name="adj" fmla="val 450"/>
              </a:avLst>
            </a:prstGeom>
            <a:solidFill>
              <a:srgbClr val="1E293B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961949" y="2024482"/>
              <a:ext cx="171907" cy="171907"/>
            </a:xfrm>
            <a:prstGeom prst="rect">
              <a:avLst/>
            </a:prstGeom>
          </p:spPr>
        </p:pic>
        <p:sp>
          <p:nvSpPr>
            <p:cNvPr id="12" name="Shape 8"/>
            <p:cNvSpPr/>
            <p:nvPr/>
          </p:nvSpPr>
          <p:spPr>
            <a:xfrm>
              <a:off x="961949" y="2467051"/>
              <a:ext cx="6590995" cy="514807"/>
            </a:xfrm>
            <a:prstGeom prst="roundRect">
              <a:avLst>
                <a:gd name="adj" fmla="val 32893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Text 9"/>
            <p:cNvSpPr txBox="1"/>
            <p:nvPr/>
          </p:nvSpPr>
          <p:spPr>
            <a:xfrm>
              <a:off x="1123798" y="2609698"/>
              <a:ext cx="33631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Identify N+1 query problems in existing loops</a:t>
              </a:r>
              <a:endParaRPr lang="en-US" sz="120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961949" y="3114446"/>
              <a:ext cx="6590995" cy="514807"/>
            </a:xfrm>
            <a:prstGeom prst="roundRect">
              <a:avLst>
                <a:gd name="adj" fmla="val 32893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Text 11"/>
            <p:cNvSpPr txBox="1"/>
            <p:nvPr/>
          </p:nvSpPr>
          <p:spPr>
            <a:xfrm>
              <a:off x="1123798" y="3258007"/>
              <a:ext cx="27916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Implement eager loading using with()</a:t>
              </a:r>
              <a:endParaRPr lang="en-US" sz="1200" dirty="0"/>
            </a:p>
          </p:txBody>
        </p:sp>
        <p:sp>
          <p:nvSpPr>
            <p:cNvPr id="16" name="Shape 12"/>
            <p:cNvSpPr/>
            <p:nvPr/>
          </p:nvSpPr>
          <p:spPr>
            <a:xfrm>
              <a:off x="961949" y="3762756"/>
              <a:ext cx="6590995" cy="514807"/>
            </a:xfrm>
            <a:prstGeom prst="roundRect">
              <a:avLst>
                <a:gd name="adj" fmla="val 32893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Text 13"/>
            <p:cNvSpPr txBox="1"/>
            <p:nvPr/>
          </p:nvSpPr>
          <p:spPr>
            <a:xfrm>
              <a:off x="1123798" y="3905402"/>
              <a:ext cx="389625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Use withCount() for efficient relationship aggregates</a:t>
              </a:r>
              <a:endParaRPr lang="en-US" sz="1200" dirty="0"/>
            </a:p>
          </p:txBody>
        </p:sp>
        <p:sp>
          <p:nvSpPr>
            <p:cNvPr id="18" name="Shape 14"/>
            <p:cNvSpPr/>
            <p:nvPr/>
          </p:nvSpPr>
          <p:spPr>
            <a:xfrm>
              <a:off x="961949" y="4410151"/>
              <a:ext cx="6590995" cy="533095"/>
            </a:xfrm>
            <a:prstGeom prst="roundRect">
              <a:avLst>
                <a:gd name="adj" fmla="val 30630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Shape 15"/>
            <p:cNvSpPr/>
            <p:nvPr/>
          </p:nvSpPr>
          <p:spPr>
            <a:xfrm>
              <a:off x="1123798" y="4572000"/>
              <a:ext cx="228600" cy="228600"/>
            </a:xfrm>
            <a:prstGeom prst="roundRect">
              <a:avLst>
                <a:gd name="adj" fmla="val 100000"/>
              </a:avLst>
            </a:prstGeom>
            <a:noFill/>
            <a:ln w="254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Shape 16"/>
            <p:cNvSpPr/>
            <p:nvPr/>
          </p:nvSpPr>
          <p:spPr>
            <a:xfrm>
              <a:off x="961949" y="5076749"/>
              <a:ext cx="6590995" cy="533095"/>
            </a:xfrm>
            <a:prstGeom prst="roundRect">
              <a:avLst>
                <a:gd name="adj" fmla="val 30630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Shape 17"/>
            <p:cNvSpPr/>
            <p:nvPr/>
          </p:nvSpPr>
          <p:spPr>
            <a:xfrm>
              <a:off x="1123798" y="5238598"/>
              <a:ext cx="228600" cy="228600"/>
            </a:xfrm>
            <a:prstGeom prst="roundRect">
              <a:avLst>
                <a:gd name="adj" fmla="val 100000"/>
              </a:avLst>
            </a:prstGeom>
            <a:noFill/>
            <a:ln w="254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Shape 18"/>
            <p:cNvSpPr/>
            <p:nvPr/>
          </p:nvSpPr>
          <p:spPr>
            <a:xfrm>
              <a:off x="961949" y="5743346"/>
              <a:ext cx="6590995" cy="514807"/>
            </a:xfrm>
            <a:prstGeom prst="roundRect">
              <a:avLst>
                <a:gd name="adj" fmla="val 32893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Text 19"/>
            <p:cNvSpPr txBox="1"/>
            <p:nvPr/>
          </p:nvSpPr>
          <p:spPr>
            <a:xfrm>
              <a:off x="1123798" y="5886907"/>
              <a:ext cx="38011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Reduce total query count from 300+ to 3-5 queries</a:t>
              </a:r>
              <a:endParaRPr lang="en-US" sz="1200" dirty="0"/>
            </a:p>
          </p:txBody>
        </p:sp>
        <p:sp>
          <p:nvSpPr>
            <p:cNvPr id="24" name="Shape 20"/>
            <p:cNvSpPr/>
            <p:nvPr/>
          </p:nvSpPr>
          <p:spPr>
            <a:xfrm>
              <a:off x="961949" y="6368298"/>
              <a:ext cx="6590995" cy="474656"/>
            </a:xfrm>
            <a:prstGeom prst="roundRect">
              <a:avLst>
                <a:gd name="adj" fmla="val 14420"/>
              </a:avLst>
            </a:prstGeom>
            <a:solidFill>
              <a:srgbClr val="3B82F6">
                <a:alpha val="5000"/>
              </a:srgbClr>
            </a:solidFill>
            <a:ln w="12700">
              <a:solidFill>
                <a:srgbClr val="3B82F6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Text 21"/>
            <p:cNvSpPr txBox="1"/>
            <p:nvPr/>
          </p:nvSpPr>
          <p:spPr>
            <a:xfrm>
              <a:off x="1123798" y="6420002"/>
              <a:ext cx="6360566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3C5FD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Tip: Use DB::enableQueryLog() or Laravel Debugbar to visualize the exact SQL queries executed per request.</a:t>
              </a:r>
              <a:endParaRPr lang="en-US" sz="900" dirty="0"/>
            </a:p>
          </p:txBody>
        </p:sp>
        <p:sp>
          <p:nvSpPr>
            <p:cNvPr id="38" name="Text 32"/>
            <p:cNvSpPr txBox="1"/>
            <p:nvPr/>
          </p:nvSpPr>
          <p:spPr>
            <a:xfrm>
              <a:off x="1228954" y="2009851"/>
              <a:ext cx="171998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Optimization Tasks</a:t>
              </a:r>
              <a:endParaRPr lang="en-US" sz="1300" dirty="0"/>
            </a:p>
          </p:txBody>
        </p:sp>
        <p:sp>
          <p:nvSpPr>
            <p:cNvPr id="39" name="Text 33"/>
            <p:cNvSpPr txBox="1"/>
            <p:nvPr/>
          </p:nvSpPr>
          <p:spPr>
            <a:xfrm>
              <a:off x="1505102" y="4572000"/>
              <a:ext cx="362925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Apply query constraints directly in Eloquent calls</a:t>
              </a:r>
              <a:endParaRPr lang="en-US" sz="1200" dirty="0"/>
            </a:p>
          </p:txBody>
        </p:sp>
        <p:sp>
          <p:nvSpPr>
            <p:cNvPr id="40" name="Text 34"/>
            <p:cNvSpPr txBox="1"/>
            <p:nvPr/>
          </p:nvSpPr>
          <p:spPr>
            <a:xfrm>
              <a:off x="1505102" y="5238598"/>
              <a:ext cx="424830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Benchmark performance improvements (Before vs. After)</a:t>
              </a:r>
              <a:endParaRPr lang="en-US" sz="1200" dirty="0"/>
            </a:p>
          </p:txBody>
        </p:sp>
      </p:grpSp>
      <p:sp>
        <p:nvSpPr>
          <p:cNvPr id="43" name="Text 37"/>
          <p:cNvSpPr txBox="1"/>
          <p:nvPr/>
        </p:nvSpPr>
        <p:spPr>
          <a:xfrm>
            <a:off x="8543240" y="5043830"/>
            <a:ext cx="1014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8667598" y="5434279"/>
            <a:ext cx="6382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Eloquent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9539936" y="5434279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MySQL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10206534" y="5434279"/>
            <a:ext cx="6382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A5A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Debugbar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8734350" y="2286914"/>
            <a:ext cx="16907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Eliminating N+1 problems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8734350" y="2582266"/>
            <a:ext cx="16248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Reducing database load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8734350" y="2876702"/>
            <a:ext cx="20720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Mastering Eloquent aggregates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10317176" y="5101438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210605" y="-952805"/>
            <a:ext cx="4762195" cy="476219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09905" y="4000500"/>
            <a:ext cx="4286707" cy="4286707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61695" y="1390802"/>
            <a:ext cx="106683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761695" y="1686154"/>
            <a:ext cx="5191049" cy="4695444"/>
          </a:xfrm>
          <a:prstGeom prst="roundRect">
            <a:avLst>
              <a:gd name="adj" fmla="val 63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771754" y="1695298"/>
            <a:ext cx="5171846" cy="4288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771754" y="2115007"/>
            <a:ext cx="51718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961949" y="1836115"/>
            <a:ext cx="171907" cy="1335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52898" y="18553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Shape 9"/>
          <p:cNvSpPr/>
          <p:nvPr/>
        </p:nvSpPr>
        <p:spPr>
          <a:xfrm>
            <a:off x="5505602" y="18553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5658307" y="18553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1305763" y="2348179"/>
            <a:ext cx="9144" cy="2457907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Shape 12"/>
          <p:cNvSpPr/>
          <p:nvPr/>
        </p:nvSpPr>
        <p:spPr>
          <a:xfrm>
            <a:off x="1463040" y="4226357"/>
            <a:ext cx="4257446" cy="390449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Shape 13"/>
          <p:cNvSpPr/>
          <p:nvPr/>
        </p:nvSpPr>
        <p:spPr>
          <a:xfrm>
            <a:off x="1463040" y="4226357"/>
            <a:ext cx="28346" cy="390449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34947" y="4358030"/>
            <a:ext cx="123444" cy="1234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38951" y="1686154"/>
            <a:ext cx="5191049" cy="4695444"/>
          </a:xfrm>
          <a:prstGeom prst="roundRect">
            <a:avLst>
              <a:gd name="adj" fmla="val 63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Shape 15"/>
          <p:cNvSpPr/>
          <p:nvPr/>
        </p:nvSpPr>
        <p:spPr>
          <a:xfrm>
            <a:off x="6248095" y="1695298"/>
            <a:ext cx="5171846" cy="4288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6"/>
          <p:cNvSpPr/>
          <p:nvPr/>
        </p:nvSpPr>
        <p:spPr>
          <a:xfrm>
            <a:off x="6248095" y="2115007"/>
            <a:ext cx="51718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6439205" y="1836115"/>
            <a:ext cx="171907" cy="13350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830154" y="18553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Shape 18"/>
          <p:cNvSpPr/>
          <p:nvPr/>
        </p:nvSpPr>
        <p:spPr>
          <a:xfrm>
            <a:off x="10981944" y="18553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Shape 19"/>
          <p:cNvSpPr/>
          <p:nvPr/>
        </p:nvSpPr>
        <p:spPr>
          <a:xfrm>
            <a:off x="11134649" y="18553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Shape 20"/>
          <p:cNvSpPr/>
          <p:nvPr/>
        </p:nvSpPr>
        <p:spPr>
          <a:xfrm>
            <a:off x="6782105" y="2348179"/>
            <a:ext cx="9144" cy="3343046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Shape 21"/>
          <p:cNvSpPr/>
          <p:nvPr/>
        </p:nvSpPr>
        <p:spPr>
          <a:xfrm>
            <a:off x="6940296" y="5104181"/>
            <a:ext cx="4257446" cy="390449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Shape 22"/>
          <p:cNvSpPr/>
          <p:nvPr/>
        </p:nvSpPr>
        <p:spPr>
          <a:xfrm>
            <a:off x="6940296" y="5104181"/>
            <a:ext cx="28346" cy="39044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11289" y="5236769"/>
            <a:ext cx="123444" cy="1234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61695" y="457200"/>
            <a:ext cx="61822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1.3: Query Optimization Example</a:t>
            </a:r>
            <a:endParaRPr lang="en-US" sz="2700" dirty="0"/>
          </a:p>
        </p:txBody>
      </p:sp>
      <p:sp>
        <p:nvSpPr>
          <p:cNvPr id="30" name="Text 24"/>
          <p:cNvSpPr txBox="1"/>
          <p:nvPr/>
        </p:nvSpPr>
        <p:spPr>
          <a:xfrm>
            <a:off x="761695" y="961949"/>
            <a:ext cx="4872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Contrasting inefficient queries with eager loading strategies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1228954" y="1819656"/>
            <a:ext cx="22558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app/Http/LegacyController.php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1000354" y="235732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1000354" y="255574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000354" y="275325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1000354" y="295168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1000354" y="315010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1000354" y="334761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000354" y="354604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1000354" y="374446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1463040" y="2348179"/>
            <a:ext cx="1914754" cy="267005"/>
          </a:xfrm>
          <a:prstGeom prst="roundRect">
            <a:avLst>
              <a:gd name="adj" fmla="val 48924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" name="Text 35"/>
          <p:cNvSpPr txBox="1"/>
          <p:nvPr/>
        </p:nvSpPr>
        <p:spPr>
          <a:xfrm>
            <a:off x="1568196" y="2404872"/>
            <a:ext cx="17839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INEFFICIENT - N+1 PROBLEM</a:t>
            </a:r>
            <a:endParaRPr lang="en-US" sz="800" dirty="0"/>
          </a:p>
        </p:txBody>
      </p:sp>
      <p:sp>
        <p:nvSpPr>
          <p:cNvPr id="42" name="Text 36"/>
          <p:cNvSpPr txBox="1"/>
          <p:nvPr/>
        </p:nvSpPr>
        <p:spPr>
          <a:xfrm>
            <a:off x="1463040" y="2696566"/>
            <a:ext cx="22558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Gets all courses (1 Query)</a:t>
            </a:r>
            <a:endParaRPr lang="en-US" sz="900" dirty="0"/>
          </a:p>
        </p:txBody>
      </p:sp>
      <p:sp>
        <p:nvSpPr>
          <p:cNvPr id="43" name="Text 37"/>
          <p:cNvSpPr txBox="1"/>
          <p:nvPr/>
        </p:nvSpPr>
        <p:spPr>
          <a:xfrm>
            <a:off x="1463040" y="2894990"/>
            <a:ext cx="6931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$courses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2057400" y="2894990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2132381" y="2894990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2577694" y="2894990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2726741" y="2894990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2949854" y="2894990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1463040" y="3290926"/>
            <a:ext cx="6172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foreach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1983334" y="329092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2057400" y="3290926"/>
            <a:ext cx="6931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$courses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2651760" y="329092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endParaRPr lang="en-US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2800807" y="3290926"/>
            <a:ext cx="6172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$course</a:t>
            </a:r>
            <a:endParaRPr lang="en-US" sz="900" dirty="0"/>
          </a:p>
        </p:txBody>
      </p:sp>
      <p:sp>
        <p:nvSpPr>
          <p:cNvPr id="54" name="Text 48"/>
          <p:cNvSpPr txBox="1"/>
          <p:nvPr/>
        </p:nvSpPr>
        <p:spPr>
          <a:xfrm>
            <a:off x="3321101" y="329092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900" dirty="0"/>
          </a:p>
        </p:txBody>
      </p:sp>
      <p:sp>
        <p:nvSpPr>
          <p:cNvPr id="55" name="Text 49"/>
          <p:cNvSpPr txBox="1"/>
          <p:nvPr/>
        </p:nvSpPr>
        <p:spPr>
          <a:xfrm>
            <a:off x="3395167" y="329092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00" dirty="0"/>
          </a:p>
        </p:txBody>
      </p:sp>
      <p:sp>
        <p:nvSpPr>
          <p:cNvPr id="56" name="Text 50"/>
          <p:cNvSpPr txBox="1"/>
          <p:nvPr/>
        </p:nvSpPr>
        <p:spPr>
          <a:xfrm>
            <a:off x="1463040" y="3488436"/>
            <a:ext cx="23317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+100 queries if 100 courses</a:t>
            </a:r>
            <a:endParaRPr lang="en-US" sz="900" dirty="0"/>
          </a:p>
        </p:txBody>
      </p:sp>
      <p:sp>
        <p:nvSpPr>
          <p:cNvPr id="57" name="Text 51"/>
          <p:cNvSpPr txBox="1"/>
          <p:nvPr/>
        </p:nvSpPr>
        <p:spPr>
          <a:xfrm>
            <a:off x="1463040" y="3686861"/>
            <a:ext cx="3977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echo</a:t>
            </a:r>
            <a:endParaRPr lang="en-US" sz="900" dirty="0"/>
          </a:p>
        </p:txBody>
      </p:sp>
      <p:sp>
        <p:nvSpPr>
          <p:cNvPr id="58" name="Text 52"/>
          <p:cNvSpPr txBox="1"/>
          <p:nvPr/>
        </p:nvSpPr>
        <p:spPr>
          <a:xfrm>
            <a:off x="1760220" y="3686861"/>
            <a:ext cx="6172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$course</a:t>
            </a:r>
            <a:endParaRPr lang="en-US" sz="900" dirty="0"/>
          </a:p>
        </p:txBody>
      </p:sp>
      <p:sp>
        <p:nvSpPr>
          <p:cNvPr id="59" name="Text 53"/>
          <p:cNvSpPr txBox="1"/>
          <p:nvPr/>
        </p:nvSpPr>
        <p:spPr>
          <a:xfrm>
            <a:off x="2280514" y="368686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60" name="Text 54"/>
          <p:cNvSpPr txBox="1"/>
          <p:nvPr/>
        </p:nvSpPr>
        <p:spPr>
          <a:xfrm>
            <a:off x="2429561" y="3686861"/>
            <a:ext cx="9125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subCategory</a:t>
            </a:r>
            <a:endParaRPr lang="en-US" sz="900" dirty="0"/>
          </a:p>
        </p:txBody>
      </p:sp>
      <p:sp>
        <p:nvSpPr>
          <p:cNvPr id="61" name="Text 55"/>
          <p:cNvSpPr txBox="1"/>
          <p:nvPr/>
        </p:nvSpPr>
        <p:spPr>
          <a:xfrm>
            <a:off x="3246120" y="368686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62" name="Text 56"/>
          <p:cNvSpPr txBox="1"/>
          <p:nvPr/>
        </p:nvSpPr>
        <p:spPr>
          <a:xfrm>
            <a:off x="3395167" y="3686861"/>
            <a:ext cx="3977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endParaRPr lang="en-US" sz="900" dirty="0"/>
          </a:p>
        </p:txBody>
      </p:sp>
      <p:sp>
        <p:nvSpPr>
          <p:cNvPr id="63" name="Text 57"/>
          <p:cNvSpPr txBox="1"/>
          <p:nvPr/>
        </p:nvSpPr>
        <p:spPr>
          <a:xfrm>
            <a:off x="3692347" y="3686861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900" dirty="0"/>
          </a:p>
        </p:txBody>
      </p:sp>
      <p:sp>
        <p:nvSpPr>
          <p:cNvPr id="64" name="Text 58"/>
          <p:cNvSpPr txBox="1"/>
          <p:nvPr/>
        </p:nvSpPr>
        <p:spPr>
          <a:xfrm>
            <a:off x="1463040" y="388528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sp>
        <p:nvSpPr>
          <p:cNvPr id="65" name="Text 59"/>
          <p:cNvSpPr txBox="1"/>
          <p:nvPr/>
        </p:nvSpPr>
        <p:spPr>
          <a:xfrm>
            <a:off x="1834286" y="4330598"/>
            <a:ext cx="33695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A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Warning: 300 courses = 301 database queries!</a:t>
            </a:r>
            <a:endParaRPr lang="en-US" sz="900" dirty="0"/>
          </a:p>
        </p:txBody>
      </p:sp>
      <p:sp>
        <p:nvSpPr>
          <p:cNvPr id="66" name="Text 60"/>
          <p:cNvSpPr txBox="1"/>
          <p:nvPr/>
        </p:nvSpPr>
        <p:spPr>
          <a:xfrm>
            <a:off x="6705295" y="1819656"/>
            <a:ext cx="24743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app/Http/OptimizedController.php</a:t>
            </a:r>
            <a:endParaRPr lang="en-US" sz="900" dirty="0"/>
          </a:p>
        </p:txBody>
      </p:sp>
      <p:sp>
        <p:nvSpPr>
          <p:cNvPr id="67" name="Text 61"/>
          <p:cNvSpPr txBox="1"/>
          <p:nvPr/>
        </p:nvSpPr>
        <p:spPr>
          <a:xfrm>
            <a:off x="6476695" y="235732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endParaRPr lang="en-US" sz="900" dirty="0"/>
          </a:p>
        </p:txBody>
      </p:sp>
      <p:sp>
        <p:nvSpPr>
          <p:cNvPr id="68" name="Text 62"/>
          <p:cNvSpPr txBox="1"/>
          <p:nvPr/>
        </p:nvSpPr>
        <p:spPr>
          <a:xfrm>
            <a:off x="6476695" y="255574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endParaRPr lang="en-US" sz="900" dirty="0"/>
          </a:p>
        </p:txBody>
      </p:sp>
      <p:sp>
        <p:nvSpPr>
          <p:cNvPr id="69" name="Text 63"/>
          <p:cNvSpPr txBox="1"/>
          <p:nvPr/>
        </p:nvSpPr>
        <p:spPr>
          <a:xfrm>
            <a:off x="6476695" y="275325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endParaRPr lang="en-US" sz="900" dirty="0"/>
          </a:p>
        </p:txBody>
      </p:sp>
      <p:sp>
        <p:nvSpPr>
          <p:cNvPr id="70" name="Text 64"/>
          <p:cNvSpPr txBox="1"/>
          <p:nvPr/>
        </p:nvSpPr>
        <p:spPr>
          <a:xfrm>
            <a:off x="6476695" y="295168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</a:t>
            </a:r>
            <a:endParaRPr lang="en-US" sz="900" dirty="0"/>
          </a:p>
        </p:txBody>
      </p:sp>
      <p:sp>
        <p:nvSpPr>
          <p:cNvPr id="71" name="Text 65"/>
          <p:cNvSpPr txBox="1"/>
          <p:nvPr/>
        </p:nvSpPr>
        <p:spPr>
          <a:xfrm>
            <a:off x="6476695" y="315010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</a:t>
            </a:r>
            <a:endParaRPr lang="en-US" sz="900" dirty="0"/>
          </a:p>
        </p:txBody>
      </p:sp>
      <p:sp>
        <p:nvSpPr>
          <p:cNvPr id="72" name="Text 66"/>
          <p:cNvSpPr txBox="1"/>
          <p:nvPr/>
        </p:nvSpPr>
        <p:spPr>
          <a:xfrm>
            <a:off x="6476695" y="334761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</a:t>
            </a:r>
            <a:endParaRPr lang="en-US" sz="900" dirty="0"/>
          </a:p>
        </p:txBody>
      </p:sp>
      <p:sp>
        <p:nvSpPr>
          <p:cNvPr id="73" name="Text 67"/>
          <p:cNvSpPr txBox="1"/>
          <p:nvPr/>
        </p:nvSpPr>
        <p:spPr>
          <a:xfrm>
            <a:off x="6476695" y="354604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endParaRPr lang="en-US" sz="900" dirty="0"/>
          </a:p>
        </p:txBody>
      </p:sp>
      <p:sp>
        <p:nvSpPr>
          <p:cNvPr id="74" name="Text 68"/>
          <p:cNvSpPr txBox="1"/>
          <p:nvPr/>
        </p:nvSpPr>
        <p:spPr>
          <a:xfrm>
            <a:off x="6476695" y="374446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</a:t>
            </a:r>
            <a:endParaRPr lang="en-US" sz="900" dirty="0"/>
          </a:p>
        </p:txBody>
      </p:sp>
      <p:sp>
        <p:nvSpPr>
          <p:cNvPr id="75" name="Text 69"/>
          <p:cNvSpPr txBox="1"/>
          <p:nvPr/>
        </p:nvSpPr>
        <p:spPr>
          <a:xfrm>
            <a:off x="6476695" y="394197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</a:t>
            </a:r>
            <a:endParaRPr lang="en-US" sz="900" dirty="0"/>
          </a:p>
        </p:txBody>
      </p:sp>
      <p:sp>
        <p:nvSpPr>
          <p:cNvPr id="76" name="Text 70"/>
          <p:cNvSpPr txBox="1"/>
          <p:nvPr/>
        </p:nvSpPr>
        <p:spPr>
          <a:xfrm>
            <a:off x="6476695" y="414040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</a:t>
            </a:r>
            <a:endParaRPr lang="en-US" sz="900" dirty="0"/>
          </a:p>
        </p:txBody>
      </p:sp>
      <p:sp>
        <p:nvSpPr>
          <p:cNvPr id="77" name="Text 71"/>
          <p:cNvSpPr txBox="1"/>
          <p:nvPr/>
        </p:nvSpPr>
        <p:spPr>
          <a:xfrm>
            <a:off x="6476695" y="433791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</a:t>
            </a:r>
            <a:endParaRPr lang="en-US" sz="900" dirty="0"/>
          </a:p>
        </p:txBody>
      </p:sp>
      <p:sp>
        <p:nvSpPr>
          <p:cNvPr id="78" name="Text 72"/>
          <p:cNvSpPr txBox="1"/>
          <p:nvPr/>
        </p:nvSpPr>
        <p:spPr>
          <a:xfrm>
            <a:off x="6476695" y="453633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</a:t>
            </a:r>
            <a:endParaRPr lang="en-US" sz="900" dirty="0"/>
          </a:p>
        </p:txBody>
      </p:sp>
      <p:sp>
        <p:nvSpPr>
          <p:cNvPr id="79" name="Text 73"/>
          <p:cNvSpPr txBox="1"/>
          <p:nvPr/>
        </p:nvSpPr>
        <p:spPr>
          <a:xfrm>
            <a:off x="6476695" y="473476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</a:t>
            </a:r>
            <a:endParaRPr lang="en-US" sz="900" dirty="0"/>
          </a:p>
        </p:txBody>
      </p:sp>
      <p:sp>
        <p:nvSpPr>
          <p:cNvPr id="80" name="Text 74"/>
          <p:cNvSpPr txBox="1"/>
          <p:nvPr/>
        </p:nvSpPr>
        <p:spPr>
          <a:xfrm>
            <a:off x="6476695" y="493227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</a:t>
            </a:r>
            <a:endParaRPr lang="en-US" sz="900" dirty="0"/>
          </a:p>
        </p:txBody>
      </p:sp>
      <p:sp>
        <p:nvSpPr>
          <p:cNvPr id="81" name="Text 75"/>
          <p:cNvSpPr txBox="1"/>
          <p:nvPr/>
        </p:nvSpPr>
        <p:spPr>
          <a:xfrm>
            <a:off x="6476695" y="513069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</a:t>
            </a:r>
            <a:endParaRPr lang="en-US" sz="900" dirty="0"/>
          </a:p>
        </p:txBody>
      </p:sp>
      <p:sp>
        <p:nvSpPr>
          <p:cNvPr id="82" name="Shape 76"/>
          <p:cNvSpPr/>
          <p:nvPr/>
        </p:nvSpPr>
        <p:spPr>
          <a:xfrm>
            <a:off x="6940296" y="2348179"/>
            <a:ext cx="1095451" cy="267005"/>
          </a:xfrm>
          <a:prstGeom prst="roundRect">
            <a:avLst>
              <a:gd name="adj" fmla="val 48924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3" name="Text 77"/>
          <p:cNvSpPr txBox="1"/>
          <p:nvPr/>
        </p:nvSpPr>
        <p:spPr>
          <a:xfrm>
            <a:off x="7044538" y="2404872"/>
            <a:ext cx="9646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EAGER LOADING</a:t>
            </a:r>
            <a:endParaRPr lang="en-US" sz="800" dirty="0"/>
          </a:p>
        </p:txBody>
      </p:sp>
      <p:sp>
        <p:nvSpPr>
          <p:cNvPr id="84" name="Text 78"/>
          <p:cNvSpPr txBox="1"/>
          <p:nvPr/>
        </p:nvSpPr>
        <p:spPr>
          <a:xfrm>
            <a:off x="6940296" y="2696566"/>
            <a:ext cx="6931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$courses</a:t>
            </a:r>
            <a:endParaRPr lang="en-US" sz="900" dirty="0"/>
          </a:p>
        </p:txBody>
      </p:sp>
      <p:sp>
        <p:nvSpPr>
          <p:cNvPr id="85" name="Text 79"/>
          <p:cNvSpPr txBox="1"/>
          <p:nvPr/>
        </p:nvSpPr>
        <p:spPr>
          <a:xfrm>
            <a:off x="7534656" y="269656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900" dirty="0"/>
          </a:p>
        </p:txBody>
      </p:sp>
      <p:sp>
        <p:nvSpPr>
          <p:cNvPr id="86" name="Text 80"/>
          <p:cNvSpPr txBox="1"/>
          <p:nvPr/>
        </p:nvSpPr>
        <p:spPr>
          <a:xfrm>
            <a:off x="7608722" y="2696566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</a:t>
            </a:r>
            <a:endParaRPr lang="en-US" sz="900" dirty="0"/>
          </a:p>
        </p:txBody>
      </p:sp>
      <p:sp>
        <p:nvSpPr>
          <p:cNvPr id="87" name="Text 81"/>
          <p:cNvSpPr txBox="1"/>
          <p:nvPr/>
        </p:nvSpPr>
        <p:spPr>
          <a:xfrm>
            <a:off x="8054950" y="269656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900" dirty="0"/>
          </a:p>
        </p:txBody>
      </p:sp>
      <p:sp>
        <p:nvSpPr>
          <p:cNvPr id="88" name="Text 82"/>
          <p:cNvSpPr txBox="1"/>
          <p:nvPr/>
        </p:nvSpPr>
        <p:spPr>
          <a:xfrm>
            <a:off x="8203082" y="2696566"/>
            <a:ext cx="3977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</a:t>
            </a:r>
            <a:endParaRPr lang="en-US" sz="900" dirty="0"/>
          </a:p>
        </p:txBody>
      </p:sp>
      <p:sp>
        <p:nvSpPr>
          <p:cNvPr id="89" name="Text 83"/>
          <p:cNvSpPr txBox="1"/>
          <p:nvPr/>
        </p:nvSpPr>
        <p:spPr>
          <a:xfrm>
            <a:off x="8500262" y="269656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([</a:t>
            </a:r>
            <a:endParaRPr lang="en-US" sz="900" dirty="0"/>
          </a:p>
        </p:txBody>
      </p:sp>
      <p:sp>
        <p:nvSpPr>
          <p:cNvPr id="90" name="Text 84"/>
          <p:cNvSpPr txBox="1"/>
          <p:nvPr/>
        </p:nvSpPr>
        <p:spPr>
          <a:xfrm>
            <a:off x="6940296" y="2894990"/>
            <a:ext cx="10652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'subCategory'</a:t>
            </a:r>
            <a:endParaRPr lang="en-US" sz="900" dirty="0"/>
          </a:p>
        </p:txBody>
      </p:sp>
      <p:sp>
        <p:nvSpPr>
          <p:cNvPr id="91" name="Text 85"/>
          <p:cNvSpPr txBox="1"/>
          <p:nvPr/>
        </p:nvSpPr>
        <p:spPr>
          <a:xfrm>
            <a:off x="7905902" y="2894990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92" name="Text 86"/>
          <p:cNvSpPr txBox="1"/>
          <p:nvPr/>
        </p:nvSpPr>
        <p:spPr>
          <a:xfrm>
            <a:off x="6940296" y="3092501"/>
            <a:ext cx="9125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'createdBy'</a:t>
            </a:r>
            <a:endParaRPr lang="en-US" sz="900" dirty="0"/>
          </a:p>
        </p:txBody>
      </p:sp>
      <p:sp>
        <p:nvSpPr>
          <p:cNvPr id="93" name="Text 87"/>
          <p:cNvSpPr txBox="1"/>
          <p:nvPr/>
        </p:nvSpPr>
        <p:spPr>
          <a:xfrm>
            <a:off x="7757770" y="3092501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94" name="Text 88"/>
          <p:cNvSpPr txBox="1"/>
          <p:nvPr/>
        </p:nvSpPr>
        <p:spPr>
          <a:xfrm>
            <a:off x="6940296" y="3290926"/>
            <a:ext cx="8458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'sessions'</a:t>
            </a:r>
            <a:endParaRPr lang="en-US" sz="900" dirty="0"/>
          </a:p>
        </p:txBody>
      </p:sp>
      <p:sp>
        <p:nvSpPr>
          <p:cNvPr id="95" name="Text 89"/>
          <p:cNvSpPr txBox="1"/>
          <p:nvPr/>
        </p:nvSpPr>
        <p:spPr>
          <a:xfrm>
            <a:off x="7682789" y="329092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96" name="Text 90"/>
          <p:cNvSpPr txBox="1"/>
          <p:nvPr/>
        </p:nvSpPr>
        <p:spPr>
          <a:xfrm>
            <a:off x="6940296" y="3488436"/>
            <a:ext cx="23317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'courseCalendars.participants'</a:t>
            </a:r>
            <a:endParaRPr lang="en-US" sz="900" dirty="0"/>
          </a:p>
        </p:txBody>
      </p:sp>
      <p:sp>
        <p:nvSpPr>
          <p:cNvPr id="97" name="Text 91"/>
          <p:cNvSpPr txBox="1"/>
          <p:nvPr/>
        </p:nvSpPr>
        <p:spPr>
          <a:xfrm>
            <a:off x="6940296" y="368686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</a:t>
            </a:r>
            <a:endParaRPr lang="en-US" sz="900" dirty="0"/>
          </a:p>
        </p:txBody>
      </p:sp>
      <p:sp>
        <p:nvSpPr>
          <p:cNvPr id="98" name="Text 92"/>
          <p:cNvSpPr txBox="1"/>
          <p:nvPr/>
        </p:nvSpPr>
        <p:spPr>
          <a:xfrm>
            <a:off x="7088429" y="368686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99" name="Text 93"/>
          <p:cNvSpPr txBox="1"/>
          <p:nvPr/>
        </p:nvSpPr>
        <p:spPr>
          <a:xfrm>
            <a:off x="7237476" y="3686861"/>
            <a:ext cx="6931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paginate</a:t>
            </a:r>
            <a:endParaRPr lang="en-US" sz="900" dirty="0"/>
          </a:p>
        </p:txBody>
      </p:sp>
      <p:sp>
        <p:nvSpPr>
          <p:cNvPr id="100" name="Text 94"/>
          <p:cNvSpPr txBox="1"/>
          <p:nvPr/>
        </p:nvSpPr>
        <p:spPr>
          <a:xfrm>
            <a:off x="7831836" y="3686861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01" name="Text 95"/>
          <p:cNvSpPr txBox="1"/>
          <p:nvPr/>
        </p:nvSpPr>
        <p:spPr>
          <a:xfrm>
            <a:off x="7905902" y="368686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900" dirty="0"/>
          </a:p>
        </p:txBody>
      </p:sp>
      <p:sp>
        <p:nvSpPr>
          <p:cNvPr id="102" name="Text 96"/>
          <p:cNvSpPr txBox="1"/>
          <p:nvPr/>
        </p:nvSpPr>
        <p:spPr>
          <a:xfrm>
            <a:off x="8054950" y="368686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900" dirty="0"/>
          </a:p>
        </p:txBody>
      </p:sp>
      <p:sp>
        <p:nvSpPr>
          <p:cNvPr id="103" name="Shape 97"/>
          <p:cNvSpPr/>
          <p:nvPr/>
        </p:nvSpPr>
        <p:spPr>
          <a:xfrm>
            <a:off x="6940296" y="4027932"/>
            <a:ext cx="1238098" cy="267005"/>
          </a:xfrm>
          <a:prstGeom prst="roundRect">
            <a:avLst>
              <a:gd name="adj" fmla="val 48924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4" name="Text 98"/>
          <p:cNvSpPr txBox="1"/>
          <p:nvPr/>
        </p:nvSpPr>
        <p:spPr>
          <a:xfrm>
            <a:off x="7044538" y="4084625"/>
            <a:ext cx="11073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AGGREGATES</a:t>
            </a:r>
            <a:endParaRPr lang="en-US" sz="800" dirty="0"/>
          </a:p>
        </p:txBody>
      </p:sp>
      <p:sp>
        <p:nvSpPr>
          <p:cNvPr id="105" name="Text 99"/>
          <p:cNvSpPr txBox="1"/>
          <p:nvPr/>
        </p:nvSpPr>
        <p:spPr>
          <a:xfrm>
            <a:off x="6940296" y="4376318"/>
            <a:ext cx="6931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$courses</a:t>
            </a:r>
            <a:endParaRPr lang="en-US" sz="900" dirty="0"/>
          </a:p>
        </p:txBody>
      </p:sp>
      <p:sp>
        <p:nvSpPr>
          <p:cNvPr id="106" name="Text 100"/>
          <p:cNvSpPr txBox="1"/>
          <p:nvPr/>
        </p:nvSpPr>
        <p:spPr>
          <a:xfrm>
            <a:off x="7534656" y="4376318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900" dirty="0"/>
          </a:p>
        </p:txBody>
      </p:sp>
      <p:sp>
        <p:nvSpPr>
          <p:cNvPr id="107" name="Text 101"/>
          <p:cNvSpPr txBox="1"/>
          <p:nvPr/>
        </p:nvSpPr>
        <p:spPr>
          <a:xfrm>
            <a:off x="7608722" y="4376318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</a:t>
            </a:r>
            <a:endParaRPr lang="en-US" sz="900" dirty="0"/>
          </a:p>
        </p:txBody>
      </p:sp>
      <p:sp>
        <p:nvSpPr>
          <p:cNvPr id="108" name="Text 102"/>
          <p:cNvSpPr txBox="1"/>
          <p:nvPr/>
        </p:nvSpPr>
        <p:spPr>
          <a:xfrm>
            <a:off x="8054950" y="437631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900" dirty="0"/>
          </a:p>
        </p:txBody>
      </p:sp>
      <p:sp>
        <p:nvSpPr>
          <p:cNvPr id="109" name="Text 103"/>
          <p:cNvSpPr txBox="1"/>
          <p:nvPr/>
        </p:nvSpPr>
        <p:spPr>
          <a:xfrm>
            <a:off x="8203082" y="4376318"/>
            <a:ext cx="7699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withCount</a:t>
            </a:r>
            <a:endParaRPr lang="en-US" sz="900" dirty="0"/>
          </a:p>
        </p:txBody>
      </p:sp>
      <p:sp>
        <p:nvSpPr>
          <p:cNvPr id="110" name="Text 104"/>
          <p:cNvSpPr txBox="1"/>
          <p:nvPr/>
        </p:nvSpPr>
        <p:spPr>
          <a:xfrm>
            <a:off x="8872423" y="437631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([</a:t>
            </a:r>
            <a:endParaRPr lang="en-US" sz="900" dirty="0"/>
          </a:p>
        </p:txBody>
      </p:sp>
      <p:sp>
        <p:nvSpPr>
          <p:cNvPr id="111" name="Text 105"/>
          <p:cNvSpPr txBox="1"/>
          <p:nvPr/>
        </p:nvSpPr>
        <p:spPr>
          <a:xfrm>
            <a:off x="9020556" y="4376318"/>
            <a:ext cx="8458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'sessions'</a:t>
            </a:r>
            <a:endParaRPr lang="en-US" sz="900" dirty="0"/>
          </a:p>
        </p:txBody>
      </p:sp>
      <p:sp>
        <p:nvSpPr>
          <p:cNvPr id="112" name="Text 106"/>
          <p:cNvSpPr txBox="1"/>
          <p:nvPr/>
        </p:nvSpPr>
        <p:spPr>
          <a:xfrm>
            <a:off x="9763963" y="437631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</a:t>
            </a:r>
            <a:endParaRPr lang="en-US" sz="900" dirty="0"/>
          </a:p>
        </p:txBody>
      </p:sp>
      <p:sp>
        <p:nvSpPr>
          <p:cNvPr id="113" name="Text 107"/>
          <p:cNvSpPr txBox="1"/>
          <p:nvPr/>
        </p:nvSpPr>
        <p:spPr>
          <a:xfrm>
            <a:off x="6940296" y="457474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114" name="Text 108"/>
          <p:cNvSpPr txBox="1"/>
          <p:nvPr/>
        </p:nvSpPr>
        <p:spPr>
          <a:xfrm>
            <a:off x="7088429" y="4574743"/>
            <a:ext cx="4745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endParaRPr lang="en-US" sz="900" dirty="0"/>
          </a:p>
        </p:txBody>
      </p:sp>
      <p:sp>
        <p:nvSpPr>
          <p:cNvPr id="115" name="Text 109"/>
          <p:cNvSpPr txBox="1"/>
          <p:nvPr/>
        </p:nvSpPr>
        <p:spPr>
          <a:xfrm>
            <a:off x="7460590" y="4574743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16" name="Text 110"/>
          <p:cNvSpPr txBox="1"/>
          <p:nvPr/>
        </p:nvSpPr>
        <p:spPr>
          <a:xfrm>
            <a:off x="7534656" y="4574743"/>
            <a:ext cx="6931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'status'</a:t>
            </a:r>
            <a:endParaRPr lang="en-US" sz="900" dirty="0"/>
          </a:p>
        </p:txBody>
      </p:sp>
      <p:sp>
        <p:nvSpPr>
          <p:cNvPr id="117" name="Text 111"/>
          <p:cNvSpPr txBox="1"/>
          <p:nvPr/>
        </p:nvSpPr>
        <p:spPr>
          <a:xfrm>
            <a:off x="8129016" y="4574743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118" name="Text 112"/>
          <p:cNvSpPr txBox="1"/>
          <p:nvPr/>
        </p:nvSpPr>
        <p:spPr>
          <a:xfrm>
            <a:off x="8203997" y="4574743"/>
            <a:ext cx="6931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'active'</a:t>
            </a:r>
            <a:endParaRPr lang="en-US" sz="900" dirty="0"/>
          </a:p>
        </p:txBody>
      </p:sp>
      <p:sp>
        <p:nvSpPr>
          <p:cNvPr id="119" name="Text 113"/>
          <p:cNvSpPr txBox="1"/>
          <p:nvPr/>
        </p:nvSpPr>
        <p:spPr>
          <a:xfrm>
            <a:off x="8798357" y="4574743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900" dirty="0"/>
          </a:p>
        </p:txBody>
      </p:sp>
      <p:sp>
        <p:nvSpPr>
          <p:cNvPr id="120" name="Text 114"/>
          <p:cNvSpPr txBox="1"/>
          <p:nvPr/>
        </p:nvSpPr>
        <p:spPr>
          <a:xfrm>
            <a:off x="6940296" y="477225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121" name="Text 115"/>
          <p:cNvSpPr txBox="1"/>
          <p:nvPr/>
        </p:nvSpPr>
        <p:spPr>
          <a:xfrm>
            <a:off x="7088429" y="4772254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endParaRPr lang="en-US" sz="900" dirty="0"/>
          </a:p>
        </p:txBody>
      </p:sp>
      <p:sp>
        <p:nvSpPr>
          <p:cNvPr id="122" name="Text 116"/>
          <p:cNvSpPr txBox="1"/>
          <p:nvPr/>
        </p:nvSpPr>
        <p:spPr>
          <a:xfrm>
            <a:off x="7311542" y="4772254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</a:t>
            </a:r>
            <a:endParaRPr lang="en-US" sz="900" dirty="0"/>
          </a:p>
        </p:txBody>
      </p:sp>
      <p:sp>
        <p:nvSpPr>
          <p:cNvPr id="123" name="Text 117"/>
          <p:cNvSpPr txBox="1"/>
          <p:nvPr/>
        </p:nvSpPr>
        <p:spPr>
          <a:xfrm>
            <a:off x="7311542" y="5208422"/>
            <a:ext cx="37417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Success: Reduces 300+ queries to just 2-3 queries</a:t>
            </a:r>
            <a:endParaRPr lang="en-US" sz="900" dirty="0"/>
          </a:p>
        </p:txBody>
      </p:sp>
      <p:sp>
        <p:nvSpPr>
          <p:cNvPr id="124" name="Text 118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-476402" y="-952805"/>
            <a:ext cx="5715000" cy="57150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7905902" y="3047695"/>
            <a:ext cx="4762195" cy="4762195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 txBox="1"/>
          <p:nvPr/>
        </p:nvSpPr>
        <p:spPr>
          <a:xfrm>
            <a:off x="666598" y="457200"/>
            <a:ext cx="44293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&amp; Security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66598" y="961949"/>
            <a:ext cx="31482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Securing APIs with Modern Standards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6598" y="1781251"/>
            <a:ext cx="5238598" cy="4600346"/>
          </a:xfrm>
          <a:prstGeom prst="roundRect">
            <a:avLst>
              <a:gd name="adj" fmla="val 658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961949" y="2839212"/>
            <a:ext cx="46478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961949" y="2128723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4654" y="2281428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86154" y="2133295"/>
            <a:ext cx="24195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Authentication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686154" y="2505456"/>
            <a:ext cx="21104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Stateless Token-Based Security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61949" y="3076956"/>
            <a:ext cx="3562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generation and validation tymon/jwt-auth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61949" y="3457346"/>
            <a:ext cx="3648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refresh strategy RefreshToken Middleware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1949" y="3877056"/>
            <a:ext cx="133502" cy="13350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209751" y="3857854"/>
            <a:ext cx="2267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Expiration &amp; blacklist handling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61949" y="5205679"/>
            <a:ext cx="4647895" cy="886054"/>
          </a:xfrm>
          <a:prstGeom prst="roundRect">
            <a:avLst>
              <a:gd name="adj" fmla="val 887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6"/>
          <p:cNvSpPr txBox="1"/>
          <p:nvPr/>
        </p:nvSpPr>
        <p:spPr>
          <a:xfrm>
            <a:off x="1123798" y="5376672"/>
            <a:ext cx="6885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FLOW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1123798" y="5639105"/>
            <a:ext cx="533095" cy="286207"/>
          </a:xfrm>
          <a:prstGeom prst="roundRect">
            <a:avLst>
              <a:gd name="adj" fmla="val 42599"/>
            </a:avLst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18"/>
          <p:cNvSpPr txBox="1"/>
          <p:nvPr/>
        </p:nvSpPr>
        <p:spPr>
          <a:xfrm>
            <a:off x="1238098" y="5705856"/>
            <a:ext cx="391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2251253" y="5734202"/>
            <a:ext cx="85954" cy="9509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2937053" y="5639105"/>
            <a:ext cx="562356" cy="286207"/>
          </a:xfrm>
          <a:prstGeom prst="roundRect">
            <a:avLst>
              <a:gd name="adj" fmla="val 42599"/>
            </a:avLst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Text 20"/>
          <p:cNvSpPr txBox="1"/>
          <p:nvPr/>
        </p:nvSpPr>
        <p:spPr>
          <a:xfrm>
            <a:off x="3051353" y="5705856"/>
            <a:ext cx="4197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</a:t>
            </a:r>
            <a:endParaRPr lang="en-US" sz="9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4093769" y="5734202"/>
            <a:ext cx="85954" cy="9509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4779569" y="5639105"/>
            <a:ext cx="676656" cy="286207"/>
          </a:xfrm>
          <a:prstGeom prst="roundRect">
            <a:avLst>
              <a:gd name="adj" fmla="val 42599"/>
            </a:avLst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8" name="Text 22"/>
          <p:cNvSpPr txBox="1"/>
          <p:nvPr/>
        </p:nvSpPr>
        <p:spPr>
          <a:xfrm>
            <a:off x="4893869" y="5705856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286500" y="1781251"/>
            <a:ext cx="5238598" cy="4600346"/>
          </a:xfrm>
          <a:prstGeom prst="roundRect">
            <a:avLst>
              <a:gd name="adj" fmla="val 658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Shape 24"/>
          <p:cNvSpPr/>
          <p:nvPr/>
        </p:nvSpPr>
        <p:spPr>
          <a:xfrm>
            <a:off x="6581851" y="2839212"/>
            <a:ext cx="46478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Shape 25"/>
          <p:cNvSpPr/>
          <p:nvPr/>
        </p:nvSpPr>
        <p:spPr>
          <a:xfrm>
            <a:off x="6581851" y="2128723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34556" y="2281428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306056" y="2133295"/>
            <a:ext cx="1733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Keycloak SSO</a:t>
            </a:r>
            <a:endParaRPr lang="en-US" sz="1800" dirty="0"/>
          </a:p>
        </p:txBody>
      </p:sp>
      <p:sp>
        <p:nvSpPr>
          <p:cNvPr id="34" name="Text 27"/>
          <p:cNvSpPr txBox="1"/>
          <p:nvPr/>
        </p:nvSpPr>
        <p:spPr>
          <a:xfrm>
            <a:off x="7306056" y="2505456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Identity Management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6581851" y="3076956"/>
            <a:ext cx="3391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sign-on configuration OpenID Connect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6581851" y="3457346"/>
            <a:ext cx="3286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synchronization KeycloakUserProvider</a:t>
            </a:r>
            <a:endParaRPr lang="en-US" sz="12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81851" y="3877056"/>
            <a:ext cx="133502" cy="13350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829654" y="3857854"/>
            <a:ext cx="2124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Multi-system authentication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581851" y="5205679"/>
            <a:ext cx="4647895" cy="886054"/>
          </a:xfrm>
          <a:prstGeom prst="roundRect">
            <a:avLst>
              <a:gd name="adj" fmla="val 887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2"/>
          <p:cNvSpPr txBox="1"/>
          <p:nvPr/>
        </p:nvSpPr>
        <p:spPr>
          <a:xfrm>
            <a:off x="6743700" y="5376672"/>
            <a:ext cx="111739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 INTEGRATION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6743700" y="5639105"/>
            <a:ext cx="448056" cy="286207"/>
          </a:xfrm>
          <a:prstGeom prst="roundRect">
            <a:avLst>
              <a:gd name="adj" fmla="val 42599"/>
            </a:avLst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2" name="Text 34"/>
          <p:cNvSpPr txBox="1"/>
          <p:nvPr/>
        </p:nvSpPr>
        <p:spPr>
          <a:xfrm>
            <a:off x="6858000" y="5705856"/>
            <a:ext cx="3054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</a:t>
            </a:r>
            <a:endParaRPr lang="en-US" sz="90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771486" y="5734202"/>
            <a:ext cx="95098" cy="95098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8446313" y="5639105"/>
            <a:ext cx="724205" cy="286207"/>
          </a:xfrm>
          <a:prstGeom prst="roundRect">
            <a:avLst>
              <a:gd name="adj" fmla="val 42599"/>
            </a:avLst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5" name="Text 36"/>
          <p:cNvSpPr txBox="1"/>
          <p:nvPr/>
        </p:nvSpPr>
        <p:spPr>
          <a:xfrm>
            <a:off x="8560613" y="5705856"/>
            <a:ext cx="581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Keycloak</a:t>
            </a:r>
            <a:endParaRPr lang="en-US" sz="9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9743846" y="5734202"/>
            <a:ext cx="85954" cy="95098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10409530" y="5639105"/>
            <a:ext cx="666598" cy="286207"/>
          </a:xfrm>
          <a:prstGeom prst="roundRect">
            <a:avLst>
              <a:gd name="adj" fmla="val 42599"/>
            </a:avLst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8" name="Text 38"/>
          <p:cNvSpPr txBox="1"/>
          <p:nvPr/>
        </p:nvSpPr>
        <p:spPr>
          <a:xfrm>
            <a:off x="10523830" y="5705856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</a:t>
            </a:r>
            <a:endParaRPr lang="en-US" sz="900" dirty="0"/>
          </a:p>
        </p:txBody>
      </p:sp>
      <p:sp>
        <p:nvSpPr>
          <p:cNvPr id="49" name="Text 39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210605" y="-952805"/>
            <a:ext cx="4762195" cy="476219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09905" y="4000500"/>
            <a:ext cx="4286707" cy="4286707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61695" y="1390802"/>
            <a:ext cx="106683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761695" y="1686154"/>
            <a:ext cx="5191049" cy="4695444"/>
          </a:xfrm>
          <a:prstGeom prst="roundRect">
            <a:avLst>
              <a:gd name="adj" fmla="val 63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771754" y="1695298"/>
            <a:ext cx="5171846" cy="4288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771754" y="2115007"/>
            <a:ext cx="51718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961949" y="1836115"/>
            <a:ext cx="171907" cy="1335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52898" y="18553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Shape 9"/>
          <p:cNvSpPr/>
          <p:nvPr/>
        </p:nvSpPr>
        <p:spPr>
          <a:xfrm>
            <a:off x="5505602" y="18553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5658307" y="18553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1314907" y="2348179"/>
            <a:ext cx="9144" cy="4276649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Shape 12"/>
          <p:cNvSpPr/>
          <p:nvPr/>
        </p:nvSpPr>
        <p:spPr>
          <a:xfrm>
            <a:off x="6238951" y="1686154"/>
            <a:ext cx="5191049" cy="4695444"/>
          </a:xfrm>
          <a:prstGeom prst="roundRect">
            <a:avLst>
              <a:gd name="adj" fmla="val 63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Shape 13"/>
          <p:cNvSpPr/>
          <p:nvPr/>
        </p:nvSpPr>
        <p:spPr>
          <a:xfrm>
            <a:off x="6248095" y="1695298"/>
            <a:ext cx="5171846" cy="4288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Shape 14"/>
          <p:cNvSpPr/>
          <p:nvPr/>
        </p:nvSpPr>
        <p:spPr>
          <a:xfrm>
            <a:off x="6248095" y="2115007"/>
            <a:ext cx="51718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6439205" y="1836115"/>
            <a:ext cx="171907" cy="13350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830154" y="18553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6"/>
          <p:cNvSpPr/>
          <p:nvPr/>
        </p:nvSpPr>
        <p:spPr>
          <a:xfrm>
            <a:off x="10981944" y="18553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Shape 17"/>
          <p:cNvSpPr/>
          <p:nvPr/>
        </p:nvSpPr>
        <p:spPr>
          <a:xfrm>
            <a:off x="11134649" y="18553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Shape 18"/>
          <p:cNvSpPr/>
          <p:nvPr/>
        </p:nvSpPr>
        <p:spPr>
          <a:xfrm>
            <a:off x="6791249" y="2348179"/>
            <a:ext cx="9144" cy="33238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Shape 19"/>
          <p:cNvSpPr/>
          <p:nvPr/>
        </p:nvSpPr>
        <p:spPr>
          <a:xfrm>
            <a:off x="6951269" y="3897173"/>
            <a:ext cx="4248302" cy="390449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Shape 20"/>
          <p:cNvSpPr/>
          <p:nvPr/>
        </p:nvSpPr>
        <p:spPr>
          <a:xfrm>
            <a:off x="6951269" y="3897173"/>
            <a:ext cx="28346" cy="390449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23176" y="4028846"/>
            <a:ext cx="123444" cy="1234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61695" y="457200"/>
            <a:ext cx="4991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Authentication Example</a:t>
            </a:r>
            <a:endParaRPr lang="en-US" sz="2700" dirty="0"/>
          </a:p>
        </p:txBody>
      </p:sp>
      <p:sp>
        <p:nvSpPr>
          <p:cNvPr id="27" name="Text 22"/>
          <p:cNvSpPr txBox="1"/>
          <p:nvPr/>
        </p:nvSpPr>
        <p:spPr>
          <a:xfrm>
            <a:off x="761695" y="961949"/>
            <a:ext cx="3663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token generation and validation logic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1228954" y="1819656"/>
            <a:ext cx="299831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app/Http/Controllers/AuthController.php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000354" y="236738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1000354" y="258043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1000354" y="279349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1000354" y="300746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000354" y="322051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1000354" y="343448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1000354" y="364754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1000354" y="386059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1000354" y="407456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1000354" y="428762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1000354" y="4501591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1000354" y="471464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1000354" y="492770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1000354" y="5141671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1000354" y="535472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1000354" y="556869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1000354" y="5781751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1000354" y="599480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</a:t>
            </a:r>
            <a:endParaRPr lang="en-US" sz="1000" dirty="0"/>
          </a:p>
        </p:txBody>
      </p:sp>
      <p:sp>
        <p:nvSpPr>
          <p:cNvPr id="47" name="Text 42"/>
          <p:cNvSpPr txBox="1"/>
          <p:nvPr/>
        </p:nvSpPr>
        <p:spPr>
          <a:xfrm>
            <a:off x="1000354" y="620877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1000354" y="6421831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</a:t>
            </a:r>
            <a:endParaRPr lang="en-US" sz="1000" dirty="0"/>
          </a:p>
        </p:txBody>
      </p:sp>
      <p:sp>
        <p:nvSpPr>
          <p:cNvPr id="49" name="Text 44"/>
          <p:cNvSpPr txBox="1"/>
          <p:nvPr/>
        </p:nvSpPr>
        <p:spPr>
          <a:xfrm>
            <a:off x="1474927" y="2367382"/>
            <a:ext cx="13002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function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2674620" y="2367382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login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3075127" y="236738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52" name="Text 47"/>
          <p:cNvSpPr txBox="1"/>
          <p:nvPr/>
        </p:nvSpPr>
        <p:spPr>
          <a:xfrm>
            <a:off x="3154680" y="2367382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Request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3715207" y="2367382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$request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4355287" y="236738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55" name="Text 50"/>
          <p:cNvSpPr txBox="1"/>
          <p:nvPr/>
        </p:nvSpPr>
        <p:spPr>
          <a:xfrm>
            <a:off x="4434840" y="236738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56" name="Text 51"/>
          <p:cNvSpPr txBox="1"/>
          <p:nvPr/>
        </p:nvSpPr>
        <p:spPr>
          <a:xfrm>
            <a:off x="1474927" y="2580437"/>
            <a:ext cx="10625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$credentials</a:t>
            </a:r>
            <a:endParaRPr lang="en-US" sz="1000" dirty="0"/>
          </a:p>
        </p:txBody>
      </p:sp>
      <p:sp>
        <p:nvSpPr>
          <p:cNvPr id="57" name="Text 52"/>
          <p:cNvSpPr txBox="1"/>
          <p:nvPr/>
        </p:nvSpPr>
        <p:spPr>
          <a:xfrm>
            <a:off x="2435047" y="258043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1000" dirty="0"/>
          </a:p>
        </p:txBody>
      </p:sp>
      <p:sp>
        <p:nvSpPr>
          <p:cNvPr id="58" name="Text 53"/>
          <p:cNvSpPr txBox="1"/>
          <p:nvPr/>
        </p:nvSpPr>
        <p:spPr>
          <a:xfrm>
            <a:off x="2514600" y="2580437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$request</a:t>
            </a:r>
            <a:endParaRPr lang="en-US" sz="1000" dirty="0"/>
          </a:p>
        </p:txBody>
      </p:sp>
      <p:sp>
        <p:nvSpPr>
          <p:cNvPr id="59" name="Text 54"/>
          <p:cNvSpPr txBox="1"/>
          <p:nvPr/>
        </p:nvSpPr>
        <p:spPr>
          <a:xfrm>
            <a:off x="3154680" y="258043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60" name="Text 55"/>
          <p:cNvSpPr txBox="1"/>
          <p:nvPr/>
        </p:nvSpPr>
        <p:spPr>
          <a:xfrm>
            <a:off x="3314700" y="2580437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validate</a:t>
            </a:r>
            <a:endParaRPr lang="en-US" sz="1000" dirty="0"/>
          </a:p>
        </p:txBody>
      </p:sp>
      <p:sp>
        <p:nvSpPr>
          <p:cNvPr id="61" name="Text 56"/>
          <p:cNvSpPr txBox="1"/>
          <p:nvPr/>
        </p:nvSpPr>
        <p:spPr>
          <a:xfrm>
            <a:off x="3955694" y="258043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([</a:t>
            </a:r>
            <a:endParaRPr lang="en-US" sz="1000" dirty="0"/>
          </a:p>
        </p:txBody>
      </p:sp>
      <p:sp>
        <p:nvSpPr>
          <p:cNvPr id="62" name="Text 57"/>
          <p:cNvSpPr txBox="1"/>
          <p:nvPr/>
        </p:nvSpPr>
        <p:spPr>
          <a:xfrm>
            <a:off x="1474927" y="2793492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'email'</a:t>
            </a:r>
            <a:endParaRPr lang="en-US" sz="1000" dirty="0"/>
          </a:p>
        </p:txBody>
      </p:sp>
      <p:sp>
        <p:nvSpPr>
          <p:cNvPr id="63" name="Text 58"/>
          <p:cNvSpPr txBox="1"/>
          <p:nvPr/>
        </p:nvSpPr>
        <p:spPr>
          <a:xfrm>
            <a:off x="2034540" y="279349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1000" dirty="0"/>
          </a:p>
        </p:txBody>
      </p:sp>
      <p:sp>
        <p:nvSpPr>
          <p:cNvPr id="64" name="Text 59"/>
          <p:cNvSpPr txBox="1"/>
          <p:nvPr/>
        </p:nvSpPr>
        <p:spPr>
          <a:xfrm>
            <a:off x="2194560" y="2793492"/>
            <a:ext cx="13862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'required|email'</a:t>
            </a:r>
            <a:endParaRPr lang="en-US" sz="1000" dirty="0"/>
          </a:p>
        </p:txBody>
      </p:sp>
      <p:sp>
        <p:nvSpPr>
          <p:cNvPr id="65" name="Text 60"/>
          <p:cNvSpPr txBox="1"/>
          <p:nvPr/>
        </p:nvSpPr>
        <p:spPr>
          <a:xfrm>
            <a:off x="3474720" y="279349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66" name="Text 61"/>
          <p:cNvSpPr txBox="1"/>
          <p:nvPr/>
        </p:nvSpPr>
        <p:spPr>
          <a:xfrm>
            <a:off x="1474927" y="3007462"/>
            <a:ext cx="9006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'password'</a:t>
            </a:r>
            <a:endParaRPr lang="en-US" sz="1000" dirty="0"/>
          </a:p>
        </p:txBody>
      </p:sp>
      <p:sp>
        <p:nvSpPr>
          <p:cNvPr id="67" name="Text 62"/>
          <p:cNvSpPr txBox="1"/>
          <p:nvPr/>
        </p:nvSpPr>
        <p:spPr>
          <a:xfrm>
            <a:off x="2275027" y="300746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1000" dirty="0"/>
          </a:p>
        </p:txBody>
      </p:sp>
      <p:sp>
        <p:nvSpPr>
          <p:cNvPr id="68" name="Text 63"/>
          <p:cNvSpPr txBox="1"/>
          <p:nvPr/>
        </p:nvSpPr>
        <p:spPr>
          <a:xfrm>
            <a:off x="2435047" y="3007462"/>
            <a:ext cx="9006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'required'</a:t>
            </a:r>
            <a:endParaRPr lang="en-US" sz="1000" dirty="0"/>
          </a:p>
        </p:txBody>
      </p:sp>
      <p:sp>
        <p:nvSpPr>
          <p:cNvPr id="69" name="Text 64"/>
          <p:cNvSpPr txBox="1"/>
          <p:nvPr/>
        </p:nvSpPr>
        <p:spPr>
          <a:xfrm>
            <a:off x="3235147" y="300746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70" name="Text 65"/>
          <p:cNvSpPr txBox="1"/>
          <p:nvPr/>
        </p:nvSpPr>
        <p:spPr>
          <a:xfrm>
            <a:off x="1474927" y="3220517"/>
            <a:ext cx="3483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]);</a:t>
            </a:r>
            <a:endParaRPr lang="en-US" sz="1000" dirty="0"/>
          </a:p>
        </p:txBody>
      </p:sp>
      <p:sp>
        <p:nvSpPr>
          <p:cNvPr id="71" name="Text 66"/>
          <p:cNvSpPr txBox="1"/>
          <p:nvPr/>
        </p:nvSpPr>
        <p:spPr>
          <a:xfrm>
            <a:off x="1474927" y="3647542"/>
            <a:ext cx="40251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Attempt to verify credentials and create token</a:t>
            </a:r>
            <a:endParaRPr lang="en-US" sz="1000" dirty="0"/>
          </a:p>
        </p:txBody>
      </p:sp>
      <p:sp>
        <p:nvSpPr>
          <p:cNvPr id="72" name="Text 67"/>
          <p:cNvSpPr txBox="1"/>
          <p:nvPr/>
        </p:nvSpPr>
        <p:spPr>
          <a:xfrm>
            <a:off x="1474927" y="3860597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$token</a:t>
            </a:r>
            <a:endParaRPr lang="en-US" sz="1000" dirty="0"/>
          </a:p>
        </p:txBody>
      </p:sp>
      <p:sp>
        <p:nvSpPr>
          <p:cNvPr id="73" name="Text 68"/>
          <p:cNvSpPr txBox="1"/>
          <p:nvPr/>
        </p:nvSpPr>
        <p:spPr>
          <a:xfrm>
            <a:off x="1954987" y="386059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1000" dirty="0"/>
          </a:p>
        </p:txBody>
      </p:sp>
      <p:sp>
        <p:nvSpPr>
          <p:cNvPr id="74" name="Text 69"/>
          <p:cNvSpPr txBox="1"/>
          <p:nvPr/>
        </p:nvSpPr>
        <p:spPr>
          <a:xfrm>
            <a:off x="2034540" y="3860597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</a:t>
            </a:r>
            <a:endParaRPr lang="en-US" sz="1000" dirty="0"/>
          </a:p>
        </p:txBody>
      </p:sp>
      <p:sp>
        <p:nvSpPr>
          <p:cNvPr id="75" name="Text 70"/>
          <p:cNvSpPr txBox="1"/>
          <p:nvPr/>
        </p:nvSpPr>
        <p:spPr>
          <a:xfrm>
            <a:off x="2354580" y="386059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76" name="Text 71"/>
          <p:cNvSpPr txBox="1"/>
          <p:nvPr/>
        </p:nvSpPr>
        <p:spPr>
          <a:xfrm>
            <a:off x="2435047" y="3860597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'api'</a:t>
            </a:r>
            <a:endParaRPr lang="en-US" sz="1000" dirty="0"/>
          </a:p>
        </p:txBody>
      </p:sp>
      <p:sp>
        <p:nvSpPr>
          <p:cNvPr id="77" name="Text 72"/>
          <p:cNvSpPr txBox="1"/>
          <p:nvPr/>
        </p:nvSpPr>
        <p:spPr>
          <a:xfrm>
            <a:off x="2834640" y="386059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78" name="Text 73"/>
          <p:cNvSpPr txBox="1"/>
          <p:nvPr/>
        </p:nvSpPr>
        <p:spPr>
          <a:xfrm>
            <a:off x="2915107" y="386059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79" name="Text 74"/>
          <p:cNvSpPr txBox="1"/>
          <p:nvPr/>
        </p:nvSpPr>
        <p:spPr>
          <a:xfrm>
            <a:off x="3075127" y="3860597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attempt</a:t>
            </a:r>
            <a:endParaRPr lang="en-US" sz="1000" dirty="0"/>
          </a:p>
        </p:txBody>
      </p:sp>
      <p:sp>
        <p:nvSpPr>
          <p:cNvPr id="80" name="Text 75"/>
          <p:cNvSpPr txBox="1"/>
          <p:nvPr/>
        </p:nvSpPr>
        <p:spPr>
          <a:xfrm>
            <a:off x="3635654" y="386059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81" name="Text 76"/>
          <p:cNvSpPr txBox="1"/>
          <p:nvPr/>
        </p:nvSpPr>
        <p:spPr>
          <a:xfrm>
            <a:off x="3715207" y="3860597"/>
            <a:ext cx="10625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$credentials</a:t>
            </a:r>
            <a:endParaRPr lang="en-US" sz="1000" dirty="0"/>
          </a:p>
        </p:txBody>
      </p:sp>
      <p:sp>
        <p:nvSpPr>
          <p:cNvPr id="82" name="Text 77"/>
          <p:cNvSpPr txBox="1"/>
          <p:nvPr/>
        </p:nvSpPr>
        <p:spPr>
          <a:xfrm>
            <a:off x="4675327" y="386059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000" dirty="0"/>
          </a:p>
        </p:txBody>
      </p:sp>
      <p:sp>
        <p:nvSpPr>
          <p:cNvPr id="83" name="Text 78"/>
          <p:cNvSpPr txBox="1"/>
          <p:nvPr/>
        </p:nvSpPr>
        <p:spPr>
          <a:xfrm>
            <a:off x="1474927" y="428762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endParaRPr lang="en-US" sz="1000" dirty="0"/>
          </a:p>
        </p:txBody>
      </p:sp>
      <p:sp>
        <p:nvSpPr>
          <p:cNvPr id="84" name="Text 79"/>
          <p:cNvSpPr txBox="1"/>
          <p:nvPr/>
        </p:nvSpPr>
        <p:spPr>
          <a:xfrm>
            <a:off x="1634947" y="428762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85" name="Text 80"/>
          <p:cNvSpPr txBox="1"/>
          <p:nvPr/>
        </p:nvSpPr>
        <p:spPr>
          <a:xfrm>
            <a:off x="1714500" y="428762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!</a:t>
            </a:r>
            <a:endParaRPr lang="en-US" sz="1000" dirty="0"/>
          </a:p>
        </p:txBody>
      </p:sp>
      <p:sp>
        <p:nvSpPr>
          <p:cNvPr id="86" name="Text 81"/>
          <p:cNvSpPr txBox="1"/>
          <p:nvPr/>
        </p:nvSpPr>
        <p:spPr>
          <a:xfrm>
            <a:off x="1794967" y="4287622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$token</a:t>
            </a:r>
            <a:endParaRPr lang="en-US" sz="1000" dirty="0"/>
          </a:p>
        </p:txBody>
      </p:sp>
      <p:sp>
        <p:nvSpPr>
          <p:cNvPr id="87" name="Text 82"/>
          <p:cNvSpPr txBox="1"/>
          <p:nvPr/>
        </p:nvSpPr>
        <p:spPr>
          <a:xfrm>
            <a:off x="2275027" y="428762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88" name="Text 83"/>
          <p:cNvSpPr txBox="1"/>
          <p:nvPr/>
        </p:nvSpPr>
        <p:spPr>
          <a:xfrm>
            <a:off x="2355494" y="428762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89" name="Text 84"/>
          <p:cNvSpPr txBox="1"/>
          <p:nvPr/>
        </p:nvSpPr>
        <p:spPr>
          <a:xfrm>
            <a:off x="1474927" y="4500677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endParaRPr lang="en-US" sz="1000" dirty="0"/>
          </a:p>
        </p:txBody>
      </p:sp>
      <p:sp>
        <p:nvSpPr>
          <p:cNvPr id="90" name="Text 85"/>
          <p:cNvSpPr txBox="1"/>
          <p:nvPr/>
        </p:nvSpPr>
        <p:spPr>
          <a:xfrm>
            <a:off x="1954987" y="4500677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</a:t>
            </a:r>
            <a:endParaRPr lang="en-US" sz="1000" dirty="0"/>
          </a:p>
        </p:txBody>
      </p:sp>
      <p:sp>
        <p:nvSpPr>
          <p:cNvPr id="91" name="Text 86"/>
          <p:cNvSpPr txBox="1"/>
          <p:nvPr/>
        </p:nvSpPr>
        <p:spPr>
          <a:xfrm>
            <a:off x="2595067" y="450067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000" dirty="0"/>
          </a:p>
        </p:txBody>
      </p:sp>
      <p:sp>
        <p:nvSpPr>
          <p:cNvPr id="92" name="Text 87"/>
          <p:cNvSpPr txBox="1"/>
          <p:nvPr/>
        </p:nvSpPr>
        <p:spPr>
          <a:xfrm>
            <a:off x="2755087" y="450067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93" name="Text 88"/>
          <p:cNvSpPr txBox="1"/>
          <p:nvPr/>
        </p:nvSpPr>
        <p:spPr>
          <a:xfrm>
            <a:off x="2915107" y="4500677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</a:t>
            </a:r>
            <a:endParaRPr lang="en-US" sz="1000" dirty="0"/>
          </a:p>
        </p:txBody>
      </p:sp>
      <p:sp>
        <p:nvSpPr>
          <p:cNvPr id="94" name="Text 89"/>
          <p:cNvSpPr txBox="1"/>
          <p:nvPr/>
        </p:nvSpPr>
        <p:spPr>
          <a:xfrm>
            <a:off x="3235147" y="450067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95" name="Text 90"/>
          <p:cNvSpPr txBox="1"/>
          <p:nvPr/>
        </p:nvSpPr>
        <p:spPr>
          <a:xfrm>
            <a:off x="1474927" y="4714646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</a:t>
            </a:r>
            <a:endParaRPr lang="en-US" sz="1000" dirty="0"/>
          </a:p>
        </p:txBody>
      </p:sp>
      <p:sp>
        <p:nvSpPr>
          <p:cNvPr id="96" name="Text 91"/>
          <p:cNvSpPr txBox="1"/>
          <p:nvPr/>
        </p:nvSpPr>
        <p:spPr>
          <a:xfrm>
            <a:off x="1554480" y="4714646"/>
            <a:ext cx="8247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'message'</a:t>
            </a:r>
            <a:endParaRPr lang="en-US" sz="1000" dirty="0"/>
          </a:p>
        </p:txBody>
      </p:sp>
      <p:sp>
        <p:nvSpPr>
          <p:cNvPr id="97" name="Text 92"/>
          <p:cNvSpPr txBox="1"/>
          <p:nvPr/>
        </p:nvSpPr>
        <p:spPr>
          <a:xfrm>
            <a:off x="2275027" y="471464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1000" dirty="0"/>
          </a:p>
        </p:txBody>
      </p:sp>
      <p:sp>
        <p:nvSpPr>
          <p:cNvPr id="98" name="Text 93"/>
          <p:cNvSpPr txBox="1"/>
          <p:nvPr/>
        </p:nvSpPr>
        <p:spPr>
          <a:xfrm>
            <a:off x="2435047" y="4714646"/>
            <a:ext cx="17867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'Invalid credentials'</a:t>
            </a:r>
            <a:endParaRPr lang="en-US" sz="1000" dirty="0"/>
          </a:p>
        </p:txBody>
      </p:sp>
      <p:sp>
        <p:nvSpPr>
          <p:cNvPr id="99" name="Text 94"/>
          <p:cNvSpPr txBox="1"/>
          <p:nvPr/>
        </p:nvSpPr>
        <p:spPr>
          <a:xfrm>
            <a:off x="4114800" y="471464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],</a:t>
            </a:r>
            <a:endParaRPr lang="en-US" sz="1000" dirty="0"/>
          </a:p>
        </p:txBody>
      </p:sp>
      <p:sp>
        <p:nvSpPr>
          <p:cNvPr id="100" name="Text 95"/>
          <p:cNvSpPr txBox="1"/>
          <p:nvPr/>
        </p:nvSpPr>
        <p:spPr>
          <a:xfrm>
            <a:off x="4275734" y="4714646"/>
            <a:ext cx="3483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401</a:t>
            </a:r>
            <a:endParaRPr lang="en-US" sz="1000" dirty="0"/>
          </a:p>
        </p:txBody>
      </p:sp>
      <p:sp>
        <p:nvSpPr>
          <p:cNvPr id="101" name="Text 96"/>
          <p:cNvSpPr txBox="1"/>
          <p:nvPr/>
        </p:nvSpPr>
        <p:spPr>
          <a:xfrm>
            <a:off x="1474927" y="492770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000" dirty="0"/>
          </a:p>
        </p:txBody>
      </p:sp>
      <p:sp>
        <p:nvSpPr>
          <p:cNvPr id="102" name="Text 97"/>
          <p:cNvSpPr txBox="1"/>
          <p:nvPr/>
        </p:nvSpPr>
        <p:spPr>
          <a:xfrm>
            <a:off x="1474927" y="514075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103" name="Text 98"/>
          <p:cNvSpPr txBox="1"/>
          <p:nvPr/>
        </p:nvSpPr>
        <p:spPr>
          <a:xfrm>
            <a:off x="1474927" y="5354726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104" name="Text 99"/>
          <p:cNvSpPr txBox="1"/>
          <p:nvPr/>
        </p:nvSpPr>
        <p:spPr>
          <a:xfrm>
            <a:off x="6705295" y="1819656"/>
            <a:ext cx="1436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 Structure</a:t>
            </a:r>
            <a:endParaRPr lang="en-US" sz="900" dirty="0"/>
          </a:p>
        </p:txBody>
      </p:sp>
      <p:sp>
        <p:nvSpPr>
          <p:cNvPr id="105" name="Text 100"/>
          <p:cNvSpPr txBox="1"/>
          <p:nvPr/>
        </p:nvSpPr>
        <p:spPr>
          <a:xfrm>
            <a:off x="6476695" y="236738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</a:t>
            </a:r>
            <a:endParaRPr lang="en-US" sz="1000" dirty="0"/>
          </a:p>
        </p:txBody>
      </p:sp>
      <p:sp>
        <p:nvSpPr>
          <p:cNvPr id="106" name="Text 101"/>
          <p:cNvSpPr txBox="1"/>
          <p:nvPr/>
        </p:nvSpPr>
        <p:spPr>
          <a:xfrm>
            <a:off x="6476695" y="258043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47</a:t>
            </a:r>
            <a:endParaRPr lang="en-US" sz="1000" dirty="0"/>
          </a:p>
        </p:txBody>
      </p:sp>
      <p:sp>
        <p:nvSpPr>
          <p:cNvPr id="107" name="Text 102"/>
          <p:cNvSpPr txBox="1"/>
          <p:nvPr/>
        </p:nvSpPr>
        <p:spPr>
          <a:xfrm>
            <a:off x="6476695" y="279349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48</a:t>
            </a:r>
            <a:endParaRPr lang="en-US" sz="1000" dirty="0"/>
          </a:p>
        </p:txBody>
      </p:sp>
      <p:sp>
        <p:nvSpPr>
          <p:cNvPr id="108" name="Text 103"/>
          <p:cNvSpPr txBox="1"/>
          <p:nvPr/>
        </p:nvSpPr>
        <p:spPr>
          <a:xfrm>
            <a:off x="6476695" y="300746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</a:t>
            </a:r>
            <a:endParaRPr lang="en-US" sz="1000" dirty="0"/>
          </a:p>
        </p:txBody>
      </p:sp>
      <p:sp>
        <p:nvSpPr>
          <p:cNvPr id="109" name="Text 104"/>
          <p:cNvSpPr txBox="1"/>
          <p:nvPr/>
        </p:nvSpPr>
        <p:spPr>
          <a:xfrm>
            <a:off x="6476695" y="322051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</a:t>
            </a:r>
            <a:endParaRPr lang="en-US" sz="1000" dirty="0"/>
          </a:p>
        </p:txBody>
      </p:sp>
      <p:sp>
        <p:nvSpPr>
          <p:cNvPr id="110" name="Text 105"/>
          <p:cNvSpPr txBox="1"/>
          <p:nvPr/>
        </p:nvSpPr>
        <p:spPr>
          <a:xfrm>
            <a:off x="6476695" y="343448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51</a:t>
            </a:r>
            <a:endParaRPr lang="en-US" sz="1000" dirty="0"/>
          </a:p>
        </p:txBody>
      </p:sp>
      <p:sp>
        <p:nvSpPr>
          <p:cNvPr id="111" name="Text 106"/>
          <p:cNvSpPr txBox="1"/>
          <p:nvPr/>
        </p:nvSpPr>
        <p:spPr>
          <a:xfrm>
            <a:off x="6476695" y="364754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52</a:t>
            </a:r>
            <a:endParaRPr lang="en-US" sz="1000" dirty="0"/>
          </a:p>
        </p:txBody>
      </p:sp>
      <p:sp>
        <p:nvSpPr>
          <p:cNvPr id="112" name="Text 107"/>
          <p:cNvSpPr txBox="1"/>
          <p:nvPr/>
        </p:nvSpPr>
        <p:spPr>
          <a:xfrm>
            <a:off x="6476695" y="386059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53</a:t>
            </a:r>
            <a:endParaRPr lang="en-US" sz="1000" dirty="0"/>
          </a:p>
        </p:txBody>
      </p:sp>
      <p:sp>
        <p:nvSpPr>
          <p:cNvPr id="113" name="Text 108"/>
          <p:cNvSpPr txBox="1"/>
          <p:nvPr/>
        </p:nvSpPr>
        <p:spPr>
          <a:xfrm>
            <a:off x="6476695" y="407456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54</a:t>
            </a:r>
            <a:endParaRPr lang="en-US" sz="1000" dirty="0"/>
          </a:p>
        </p:txBody>
      </p:sp>
      <p:sp>
        <p:nvSpPr>
          <p:cNvPr id="114" name="Text 109"/>
          <p:cNvSpPr txBox="1"/>
          <p:nvPr/>
        </p:nvSpPr>
        <p:spPr>
          <a:xfrm>
            <a:off x="6476695" y="428762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55</a:t>
            </a:r>
            <a:endParaRPr lang="en-US" sz="1000" dirty="0"/>
          </a:p>
        </p:txBody>
      </p:sp>
      <p:sp>
        <p:nvSpPr>
          <p:cNvPr id="115" name="Shape 110"/>
          <p:cNvSpPr/>
          <p:nvPr/>
        </p:nvSpPr>
        <p:spPr>
          <a:xfrm>
            <a:off x="6951269" y="2348179"/>
            <a:ext cx="1505102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6" name="Text 111"/>
          <p:cNvSpPr txBox="1"/>
          <p:nvPr/>
        </p:nvSpPr>
        <p:spPr>
          <a:xfrm>
            <a:off x="7056425" y="2404872"/>
            <a:ext cx="13743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SUCCESSFUL RESPONSE</a:t>
            </a:r>
            <a:endParaRPr lang="en-US" sz="800" dirty="0"/>
          </a:p>
        </p:txBody>
      </p:sp>
      <p:sp>
        <p:nvSpPr>
          <p:cNvPr id="117" name="Text 112"/>
          <p:cNvSpPr txBox="1"/>
          <p:nvPr/>
        </p:nvSpPr>
        <p:spPr>
          <a:xfrm>
            <a:off x="6951269" y="2705710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endParaRPr lang="en-US" sz="1000" dirty="0"/>
          </a:p>
        </p:txBody>
      </p:sp>
      <p:sp>
        <p:nvSpPr>
          <p:cNvPr id="118" name="Text 113"/>
          <p:cNvSpPr txBox="1"/>
          <p:nvPr/>
        </p:nvSpPr>
        <p:spPr>
          <a:xfrm>
            <a:off x="7431329" y="2705710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19" name="Text 114"/>
          <p:cNvSpPr txBox="1"/>
          <p:nvPr/>
        </p:nvSpPr>
        <p:spPr>
          <a:xfrm>
            <a:off x="8071409" y="2705710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000" dirty="0"/>
          </a:p>
        </p:txBody>
      </p:sp>
      <p:sp>
        <p:nvSpPr>
          <p:cNvPr id="120" name="Text 115"/>
          <p:cNvSpPr txBox="1"/>
          <p:nvPr/>
        </p:nvSpPr>
        <p:spPr>
          <a:xfrm>
            <a:off x="8231429" y="2705710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121" name="Text 116"/>
          <p:cNvSpPr txBox="1"/>
          <p:nvPr/>
        </p:nvSpPr>
        <p:spPr>
          <a:xfrm>
            <a:off x="8392363" y="2705710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</a:t>
            </a:r>
            <a:endParaRPr lang="en-US" sz="1000" dirty="0"/>
          </a:p>
        </p:txBody>
      </p:sp>
      <p:sp>
        <p:nvSpPr>
          <p:cNvPr id="122" name="Text 117"/>
          <p:cNvSpPr txBox="1"/>
          <p:nvPr/>
        </p:nvSpPr>
        <p:spPr>
          <a:xfrm>
            <a:off x="8712403" y="2705710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([</a:t>
            </a:r>
            <a:endParaRPr lang="en-US" sz="1000" dirty="0"/>
          </a:p>
        </p:txBody>
      </p:sp>
      <p:sp>
        <p:nvSpPr>
          <p:cNvPr id="123" name="Text 118"/>
          <p:cNvSpPr txBox="1"/>
          <p:nvPr/>
        </p:nvSpPr>
        <p:spPr>
          <a:xfrm>
            <a:off x="6951269" y="2919679"/>
            <a:ext cx="12243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'access_token'</a:t>
            </a:r>
            <a:endParaRPr lang="en-US" sz="1000" dirty="0"/>
          </a:p>
        </p:txBody>
      </p:sp>
      <p:sp>
        <p:nvSpPr>
          <p:cNvPr id="124" name="Text 119"/>
          <p:cNvSpPr txBox="1"/>
          <p:nvPr/>
        </p:nvSpPr>
        <p:spPr>
          <a:xfrm>
            <a:off x="8071409" y="2919679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1000" dirty="0"/>
          </a:p>
        </p:txBody>
      </p:sp>
      <p:sp>
        <p:nvSpPr>
          <p:cNvPr id="125" name="Text 120"/>
          <p:cNvSpPr txBox="1"/>
          <p:nvPr/>
        </p:nvSpPr>
        <p:spPr>
          <a:xfrm>
            <a:off x="8231429" y="2919679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$token</a:t>
            </a:r>
            <a:endParaRPr lang="en-US" sz="1000" dirty="0"/>
          </a:p>
        </p:txBody>
      </p:sp>
      <p:sp>
        <p:nvSpPr>
          <p:cNvPr id="126" name="Text 121"/>
          <p:cNvSpPr txBox="1"/>
          <p:nvPr/>
        </p:nvSpPr>
        <p:spPr>
          <a:xfrm>
            <a:off x="8712403" y="2919679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127" name="Text 122"/>
          <p:cNvSpPr txBox="1"/>
          <p:nvPr/>
        </p:nvSpPr>
        <p:spPr>
          <a:xfrm>
            <a:off x="6951269" y="3132734"/>
            <a:ext cx="10625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'token_type'</a:t>
            </a:r>
            <a:endParaRPr lang="en-US" sz="1000" dirty="0"/>
          </a:p>
        </p:txBody>
      </p:sp>
      <p:sp>
        <p:nvSpPr>
          <p:cNvPr id="128" name="Text 123"/>
          <p:cNvSpPr txBox="1"/>
          <p:nvPr/>
        </p:nvSpPr>
        <p:spPr>
          <a:xfrm>
            <a:off x="7911389" y="313273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1000" dirty="0"/>
          </a:p>
        </p:txBody>
      </p:sp>
      <p:sp>
        <p:nvSpPr>
          <p:cNvPr id="129" name="Text 124"/>
          <p:cNvSpPr txBox="1"/>
          <p:nvPr/>
        </p:nvSpPr>
        <p:spPr>
          <a:xfrm>
            <a:off x="8071409" y="3132734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'Bearer'</a:t>
            </a:r>
            <a:endParaRPr lang="en-US" sz="1000" dirty="0"/>
          </a:p>
        </p:txBody>
      </p:sp>
      <p:sp>
        <p:nvSpPr>
          <p:cNvPr id="130" name="Text 125"/>
          <p:cNvSpPr txBox="1"/>
          <p:nvPr/>
        </p:nvSpPr>
        <p:spPr>
          <a:xfrm>
            <a:off x="8712403" y="313273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131" name="Text 126"/>
          <p:cNvSpPr txBox="1"/>
          <p:nvPr/>
        </p:nvSpPr>
        <p:spPr>
          <a:xfrm>
            <a:off x="6951269" y="3346704"/>
            <a:ext cx="10625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'expires_in'</a:t>
            </a:r>
            <a:endParaRPr lang="en-US" sz="1000" dirty="0"/>
          </a:p>
        </p:txBody>
      </p:sp>
      <p:sp>
        <p:nvSpPr>
          <p:cNvPr id="132" name="Text 127"/>
          <p:cNvSpPr txBox="1"/>
          <p:nvPr/>
        </p:nvSpPr>
        <p:spPr>
          <a:xfrm>
            <a:off x="7911389" y="334670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1000" dirty="0"/>
          </a:p>
        </p:txBody>
      </p:sp>
      <p:sp>
        <p:nvSpPr>
          <p:cNvPr id="133" name="Text 128"/>
          <p:cNvSpPr txBox="1"/>
          <p:nvPr/>
        </p:nvSpPr>
        <p:spPr>
          <a:xfrm>
            <a:off x="8071409" y="3346704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</a:t>
            </a:r>
            <a:endParaRPr lang="en-US" sz="1000" dirty="0"/>
          </a:p>
        </p:txBody>
      </p:sp>
      <p:sp>
        <p:nvSpPr>
          <p:cNvPr id="134" name="Text 129"/>
          <p:cNvSpPr txBox="1"/>
          <p:nvPr/>
        </p:nvSpPr>
        <p:spPr>
          <a:xfrm>
            <a:off x="8392363" y="334670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000" dirty="0"/>
          </a:p>
        </p:txBody>
      </p:sp>
      <p:sp>
        <p:nvSpPr>
          <p:cNvPr id="135" name="Text 130"/>
          <p:cNvSpPr txBox="1"/>
          <p:nvPr/>
        </p:nvSpPr>
        <p:spPr>
          <a:xfrm>
            <a:off x="8552383" y="334670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136" name="Text 131"/>
          <p:cNvSpPr txBox="1"/>
          <p:nvPr/>
        </p:nvSpPr>
        <p:spPr>
          <a:xfrm>
            <a:off x="8712403" y="3346704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factory</a:t>
            </a:r>
            <a:endParaRPr lang="en-US" sz="1000" dirty="0"/>
          </a:p>
        </p:txBody>
      </p:sp>
      <p:sp>
        <p:nvSpPr>
          <p:cNvPr id="137" name="Text 132"/>
          <p:cNvSpPr txBox="1"/>
          <p:nvPr/>
        </p:nvSpPr>
        <p:spPr>
          <a:xfrm>
            <a:off x="9272016" y="334670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000" dirty="0"/>
          </a:p>
        </p:txBody>
      </p:sp>
      <p:sp>
        <p:nvSpPr>
          <p:cNvPr id="138" name="Text 133"/>
          <p:cNvSpPr txBox="1"/>
          <p:nvPr/>
        </p:nvSpPr>
        <p:spPr>
          <a:xfrm>
            <a:off x="9432950" y="334670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139" name="Text 134"/>
          <p:cNvSpPr txBox="1"/>
          <p:nvPr/>
        </p:nvSpPr>
        <p:spPr>
          <a:xfrm>
            <a:off x="9592970" y="3346704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getTTL</a:t>
            </a:r>
            <a:endParaRPr lang="en-US" sz="1000" dirty="0"/>
          </a:p>
        </p:txBody>
      </p:sp>
      <p:sp>
        <p:nvSpPr>
          <p:cNvPr id="140" name="Text 135"/>
          <p:cNvSpPr txBox="1"/>
          <p:nvPr/>
        </p:nvSpPr>
        <p:spPr>
          <a:xfrm>
            <a:off x="10073030" y="334670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000" dirty="0"/>
          </a:p>
        </p:txBody>
      </p:sp>
      <p:sp>
        <p:nvSpPr>
          <p:cNvPr id="141" name="Text 136"/>
          <p:cNvSpPr txBox="1"/>
          <p:nvPr/>
        </p:nvSpPr>
        <p:spPr>
          <a:xfrm>
            <a:off x="10233050" y="334670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</a:t>
            </a:r>
            <a:endParaRPr lang="en-US" sz="1000" dirty="0"/>
          </a:p>
        </p:txBody>
      </p:sp>
      <p:sp>
        <p:nvSpPr>
          <p:cNvPr id="142" name="Text 137"/>
          <p:cNvSpPr txBox="1"/>
          <p:nvPr/>
        </p:nvSpPr>
        <p:spPr>
          <a:xfrm>
            <a:off x="10312603" y="3346704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</a:t>
            </a:r>
            <a:endParaRPr lang="en-US" sz="1000" dirty="0"/>
          </a:p>
        </p:txBody>
      </p:sp>
      <p:sp>
        <p:nvSpPr>
          <p:cNvPr id="143" name="Text 138"/>
          <p:cNvSpPr txBox="1"/>
          <p:nvPr/>
        </p:nvSpPr>
        <p:spPr>
          <a:xfrm>
            <a:off x="10473538" y="3346704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144" name="Text 139"/>
          <p:cNvSpPr txBox="1"/>
          <p:nvPr/>
        </p:nvSpPr>
        <p:spPr>
          <a:xfrm>
            <a:off x="6951269" y="3559759"/>
            <a:ext cx="3483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]);</a:t>
            </a:r>
            <a:endParaRPr lang="en-US" sz="1000" dirty="0"/>
          </a:p>
        </p:txBody>
      </p:sp>
      <p:sp>
        <p:nvSpPr>
          <p:cNvPr id="145" name="Text 140"/>
          <p:cNvSpPr txBox="1"/>
          <p:nvPr/>
        </p:nvSpPr>
        <p:spPr>
          <a:xfrm>
            <a:off x="7322515" y="4001414"/>
            <a:ext cx="32936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Token TTL is configurable in config/jwt.php</a:t>
            </a:r>
            <a:endParaRPr lang="en-US" sz="900" dirty="0"/>
          </a:p>
        </p:txBody>
      </p:sp>
      <p:sp>
        <p:nvSpPr>
          <p:cNvPr id="146" name="Shape 141"/>
          <p:cNvSpPr/>
          <p:nvPr/>
        </p:nvSpPr>
        <p:spPr>
          <a:xfrm>
            <a:off x="6951269" y="4689043"/>
            <a:ext cx="1304849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7" name="Text 142"/>
          <p:cNvSpPr txBox="1"/>
          <p:nvPr/>
        </p:nvSpPr>
        <p:spPr>
          <a:xfrm>
            <a:off x="7056425" y="4746650"/>
            <a:ext cx="11740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 DEFINITION</a:t>
            </a:r>
            <a:endParaRPr lang="en-US" sz="800" dirty="0"/>
          </a:p>
        </p:txBody>
      </p:sp>
      <p:sp>
        <p:nvSpPr>
          <p:cNvPr id="148" name="Text 143"/>
          <p:cNvSpPr txBox="1"/>
          <p:nvPr/>
        </p:nvSpPr>
        <p:spPr>
          <a:xfrm>
            <a:off x="6951269" y="5047488"/>
            <a:ext cx="14621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routes/api.php</a:t>
            </a:r>
            <a:endParaRPr lang="en-US" sz="1000" dirty="0"/>
          </a:p>
        </p:txBody>
      </p:sp>
      <p:sp>
        <p:nvSpPr>
          <p:cNvPr id="149" name="Text 144"/>
          <p:cNvSpPr txBox="1"/>
          <p:nvPr/>
        </p:nvSpPr>
        <p:spPr>
          <a:xfrm>
            <a:off x="6951269" y="5260543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</a:t>
            </a:r>
            <a:endParaRPr lang="en-US" sz="1000" dirty="0"/>
          </a:p>
        </p:txBody>
      </p:sp>
      <p:sp>
        <p:nvSpPr>
          <p:cNvPr id="150" name="Text 145"/>
          <p:cNvSpPr txBox="1"/>
          <p:nvPr/>
        </p:nvSpPr>
        <p:spPr>
          <a:xfrm>
            <a:off x="7351776" y="5260543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1000" dirty="0"/>
          </a:p>
        </p:txBody>
      </p:sp>
      <p:sp>
        <p:nvSpPr>
          <p:cNvPr id="151" name="Text 146"/>
          <p:cNvSpPr txBox="1"/>
          <p:nvPr/>
        </p:nvSpPr>
        <p:spPr>
          <a:xfrm>
            <a:off x="7511796" y="5260543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</a:t>
            </a:r>
            <a:endParaRPr lang="en-US" sz="1000" dirty="0"/>
          </a:p>
        </p:txBody>
      </p:sp>
      <p:sp>
        <p:nvSpPr>
          <p:cNvPr id="152" name="Text 147"/>
          <p:cNvSpPr txBox="1"/>
          <p:nvPr/>
        </p:nvSpPr>
        <p:spPr>
          <a:xfrm>
            <a:off x="7831836" y="5260543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153" name="Text 148"/>
          <p:cNvSpPr txBox="1"/>
          <p:nvPr/>
        </p:nvSpPr>
        <p:spPr>
          <a:xfrm>
            <a:off x="7912303" y="5260543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'login'</a:t>
            </a:r>
            <a:endParaRPr lang="en-US" sz="1000" dirty="0"/>
          </a:p>
        </p:txBody>
      </p:sp>
      <p:sp>
        <p:nvSpPr>
          <p:cNvPr id="154" name="Text 149"/>
          <p:cNvSpPr txBox="1"/>
          <p:nvPr/>
        </p:nvSpPr>
        <p:spPr>
          <a:xfrm>
            <a:off x="6951269" y="5260543"/>
            <a:ext cx="170992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[</a:t>
            </a:r>
            <a:endParaRPr lang="en-US" sz="1000" dirty="0"/>
          </a:p>
        </p:txBody>
      </p:sp>
      <p:sp>
        <p:nvSpPr>
          <p:cNvPr id="155" name="Text 150"/>
          <p:cNvSpPr txBox="1"/>
          <p:nvPr/>
        </p:nvSpPr>
        <p:spPr>
          <a:xfrm>
            <a:off x="7031736" y="5474513"/>
            <a:ext cx="12243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AuthController</a:t>
            </a:r>
            <a:endParaRPr lang="en-US" sz="1000" dirty="0"/>
          </a:p>
        </p:txBody>
      </p:sp>
      <p:sp>
        <p:nvSpPr>
          <p:cNvPr id="156" name="Text 151"/>
          <p:cNvSpPr txBox="1"/>
          <p:nvPr/>
        </p:nvSpPr>
        <p:spPr>
          <a:xfrm>
            <a:off x="8151876" y="5474513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1000" dirty="0"/>
          </a:p>
        </p:txBody>
      </p:sp>
      <p:sp>
        <p:nvSpPr>
          <p:cNvPr id="157" name="Text 152"/>
          <p:cNvSpPr txBox="1"/>
          <p:nvPr/>
        </p:nvSpPr>
        <p:spPr>
          <a:xfrm>
            <a:off x="8311896" y="5474513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class,</a:t>
            </a:r>
            <a:endParaRPr lang="en-US" sz="1000" dirty="0"/>
          </a:p>
        </p:txBody>
      </p:sp>
      <p:sp>
        <p:nvSpPr>
          <p:cNvPr id="158" name="Text 153"/>
          <p:cNvSpPr txBox="1"/>
          <p:nvPr/>
        </p:nvSpPr>
        <p:spPr>
          <a:xfrm>
            <a:off x="8791956" y="5474513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'login'</a:t>
            </a:r>
            <a:endParaRPr lang="en-US" sz="1000" dirty="0"/>
          </a:p>
        </p:txBody>
      </p:sp>
      <p:sp>
        <p:nvSpPr>
          <p:cNvPr id="159" name="Text 154"/>
          <p:cNvSpPr txBox="1"/>
          <p:nvPr/>
        </p:nvSpPr>
        <p:spPr>
          <a:xfrm>
            <a:off x="9352483" y="5474513"/>
            <a:ext cx="3483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]);</a:t>
            </a:r>
            <a:endParaRPr lang="en-US" sz="1000" dirty="0"/>
          </a:p>
        </p:txBody>
      </p:sp>
      <p:sp>
        <p:nvSpPr>
          <p:cNvPr id="160" name="Text 155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210605" y="-952805"/>
            <a:ext cx="4762195" cy="4762195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09905" y="4000500"/>
            <a:ext cx="4286707" cy="4286707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Text 14"/>
          <p:cNvSpPr txBox="1"/>
          <p:nvPr/>
        </p:nvSpPr>
        <p:spPr>
          <a:xfrm>
            <a:off x="666598" y="457200"/>
            <a:ext cx="62581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Authorization with Spatie Permission</a:t>
            </a:r>
            <a:endParaRPr lang="en-US" sz="2700" dirty="0"/>
          </a:p>
        </p:txBody>
      </p:sp>
      <p:sp>
        <p:nvSpPr>
          <p:cNvPr id="20" name="Text 15"/>
          <p:cNvSpPr txBox="1"/>
          <p:nvPr/>
        </p:nvSpPr>
        <p:spPr>
          <a:xfrm>
            <a:off x="666598" y="961949"/>
            <a:ext cx="39483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Control (RBAC) Architecture</a:t>
            </a:r>
            <a:endParaRPr lang="en-US" sz="1300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2C46BD2-EE71-ADB7-6D75-CBEA3B403BFB}"/>
              </a:ext>
            </a:extLst>
          </p:cNvPr>
          <p:cNvGrpSpPr/>
          <p:nvPr/>
        </p:nvGrpSpPr>
        <p:grpSpPr>
          <a:xfrm>
            <a:off x="666598" y="1686154"/>
            <a:ext cx="11348014" cy="5154399"/>
            <a:chOff x="666598" y="1686154"/>
            <a:chExt cx="11348014" cy="5530291"/>
          </a:xfrm>
        </p:grpSpPr>
        <p:sp>
          <p:nvSpPr>
            <p:cNvPr id="7" name="Shape 5"/>
            <p:cNvSpPr/>
            <p:nvPr/>
          </p:nvSpPr>
          <p:spPr>
            <a:xfrm>
              <a:off x="666598" y="5419649"/>
              <a:ext cx="3467405" cy="1647749"/>
            </a:xfrm>
            <a:prstGeom prst="roundRect">
              <a:avLst>
                <a:gd name="adj" fmla="val 3849"/>
              </a:avLst>
            </a:prstGeom>
            <a:solidFill>
              <a:srgbClr val="1E293B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Shape 6"/>
            <p:cNvSpPr/>
            <p:nvPr/>
          </p:nvSpPr>
          <p:spPr>
            <a:xfrm>
              <a:off x="866851" y="5619902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94A3B8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52805" y="5705856"/>
              <a:ext cx="133502" cy="133502"/>
            </a:xfrm>
            <a:prstGeom prst="rect">
              <a:avLst/>
            </a:prstGeom>
          </p:spPr>
        </p:pic>
        <p:sp>
          <p:nvSpPr>
            <p:cNvPr id="10" name="Shape 7"/>
            <p:cNvSpPr/>
            <p:nvPr/>
          </p:nvSpPr>
          <p:spPr>
            <a:xfrm>
              <a:off x="866851" y="6343193"/>
              <a:ext cx="3066898" cy="523951"/>
            </a:xfrm>
            <a:prstGeom prst="roundRect">
              <a:avLst>
                <a:gd name="adj" fmla="val 19039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Shape 8"/>
            <p:cNvSpPr/>
            <p:nvPr/>
          </p:nvSpPr>
          <p:spPr>
            <a:xfrm>
              <a:off x="4362602" y="5419649"/>
              <a:ext cx="3467405" cy="1647749"/>
            </a:xfrm>
            <a:prstGeom prst="roundRect">
              <a:avLst>
                <a:gd name="adj" fmla="val 3849"/>
              </a:avLst>
            </a:prstGeom>
            <a:solidFill>
              <a:srgbClr val="1E293B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2" name="Shape 9"/>
            <p:cNvSpPr/>
            <p:nvPr/>
          </p:nvSpPr>
          <p:spPr>
            <a:xfrm>
              <a:off x="4562856" y="5619902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94A3B8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rcRect l="-837" r="-837"/>
            <a:stretch/>
          </p:blipFill>
          <p:spPr>
            <a:xfrm>
              <a:off x="4638751" y="5705856"/>
              <a:ext cx="152705" cy="133502"/>
            </a:xfrm>
            <a:prstGeom prst="rect">
              <a:avLst/>
            </a:prstGeom>
          </p:spPr>
        </p:pic>
        <p:sp>
          <p:nvSpPr>
            <p:cNvPr id="14" name="Shape 10"/>
            <p:cNvSpPr/>
            <p:nvPr/>
          </p:nvSpPr>
          <p:spPr>
            <a:xfrm>
              <a:off x="4562856" y="6499555"/>
              <a:ext cx="3066898" cy="371246"/>
            </a:xfrm>
            <a:prstGeom prst="roundRect">
              <a:avLst>
                <a:gd name="adj" fmla="val 37893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Shape 11"/>
            <p:cNvSpPr/>
            <p:nvPr/>
          </p:nvSpPr>
          <p:spPr>
            <a:xfrm>
              <a:off x="8058607" y="5419649"/>
              <a:ext cx="3467405" cy="1647749"/>
            </a:xfrm>
            <a:prstGeom prst="roundRect">
              <a:avLst>
                <a:gd name="adj" fmla="val 3849"/>
              </a:avLst>
            </a:prstGeom>
            <a:solidFill>
              <a:srgbClr val="1E293B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Shape 12"/>
            <p:cNvSpPr/>
            <p:nvPr/>
          </p:nvSpPr>
          <p:spPr>
            <a:xfrm>
              <a:off x="8257946" y="5619902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94A3B8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17" name="Image 2" descr="preencoded.png"/>
            <p:cNvPicPr>
              <a:picLocks noChangeAspect="1"/>
            </p:cNvPicPr>
            <p:nvPr/>
          </p:nvPicPr>
          <p:blipFill>
            <a:blip r:embed="rId5"/>
            <a:srcRect l="-1507" r="-1507"/>
            <a:stretch/>
          </p:blipFill>
          <p:spPr>
            <a:xfrm>
              <a:off x="8324698" y="5705856"/>
              <a:ext cx="171907" cy="133502"/>
            </a:xfrm>
            <a:prstGeom prst="rect">
              <a:avLst/>
            </a:prstGeom>
          </p:spPr>
        </p:pic>
        <p:sp>
          <p:nvSpPr>
            <p:cNvPr id="18" name="Shape 13"/>
            <p:cNvSpPr/>
            <p:nvPr/>
          </p:nvSpPr>
          <p:spPr>
            <a:xfrm>
              <a:off x="8257946" y="6499555"/>
              <a:ext cx="3066898" cy="371246"/>
            </a:xfrm>
            <a:prstGeom prst="roundRect">
              <a:avLst>
                <a:gd name="adj" fmla="val 37893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Text 16"/>
            <p:cNvSpPr txBox="1"/>
            <p:nvPr/>
          </p:nvSpPr>
          <p:spPr>
            <a:xfrm>
              <a:off x="1285646" y="5676595"/>
              <a:ext cx="98115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Middleware</a:t>
              </a:r>
              <a:endParaRPr lang="en-US" sz="1200" dirty="0"/>
            </a:p>
          </p:txBody>
        </p:sp>
        <p:sp>
          <p:nvSpPr>
            <p:cNvPr id="22" name="Text 17"/>
            <p:cNvSpPr txBox="1"/>
            <p:nvPr/>
          </p:nvSpPr>
          <p:spPr>
            <a:xfrm>
              <a:off x="866851" y="6048756"/>
              <a:ext cx="305592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Protect routes directly in your route definition files.</a:t>
              </a:r>
              <a:endParaRPr lang="en-US" sz="900" dirty="0"/>
            </a:p>
          </p:txBody>
        </p:sp>
        <p:sp>
          <p:nvSpPr>
            <p:cNvPr id="23" name="Text 18"/>
            <p:cNvSpPr txBox="1"/>
            <p:nvPr/>
          </p:nvSpPr>
          <p:spPr>
            <a:xfrm>
              <a:off x="972007" y="6457493"/>
              <a:ext cx="2155241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Route::middleware(['role:admin'])</a:t>
              </a:r>
              <a:endParaRPr lang="en-US" sz="800" dirty="0"/>
            </a:p>
          </p:txBody>
        </p:sp>
        <p:sp>
          <p:nvSpPr>
            <p:cNvPr id="24" name="Text 19"/>
            <p:cNvSpPr txBox="1"/>
            <p:nvPr/>
          </p:nvSpPr>
          <p:spPr>
            <a:xfrm>
              <a:off x="972007" y="6613855"/>
              <a:ext cx="841248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-&gt;group(...)</a:t>
              </a:r>
              <a:endParaRPr lang="en-US" sz="800" dirty="0"/>
            </a:p>
          </p:txBody>
        </p:sp>
        <p:sp>
          <p:nvSpPr>
            <p:cNvPr id="25" name="Text 20"/>
            <p:cNvSpPr txBox="1"/>
            <p:nvPr/>
          </p:nvSpPr>
          <p:spPr>
            <a:xfrm>
              <a:off x="4981651" y="5676595"/>
              <a:ext cx="112471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Policy / Gates</a:t>
              </a:r>
              <a:endParaRPr lang="en-US" sz="1200" dirty="0"/>
            </a:p>
          </p:txBody>
        </p:sp>
        <p:sp>
          <p:nvSpPr>
            <p:cNvPr id="26" name="Text 21"/>
            <p:cNvSpPr txBox="1"/>
            <p:nvPr/>
          </p:nvSpPr>
          <p:spPr>
            <a:xfrm>
              <a:off x="4562856" y="6048756"/>
              <a:ext cx="279806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Authorize actions within controller methods or views.</a:t>
              </a:r>
              <a:endParaRPr lang="en-US" sz="900" dirty="0"/>
            </a:p>
          </p:txBody>
        </p:sp>
        <p:sp>
          <p:nvSpPr>
            <p:cNvPr id="27" name="Text 22"/>
            <p:cNvSpPr txBox="1"/>
            <p:nvPr/>
          </p:nvSpPr>
          <p:spPr>
            <a:xfrm>
              <a:off x="4667098" y="6613855"/>
              <a:ext cx="2346350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$this-&gt;authorize('update', $course);</a:t>
              </a:r>
              <a:endParaRPr lang="en-US" sz="800" dirty="0"/>
            </a:p>
          </p:txBody>
        </p:sp>
        <p:sp>
          <p:nvSpPr>
            <p:cNvPr id="28" name="Text 23"/>
            <p:cNvSpPr txBox="1"/>
            <p:nvPr/>
          </p:nvSpPr>
          <p:spPr>
            <a:xfrm>
              <a:off x="8677656" y="5676595"/>
              <a:ext cx="10671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Direct Check</a:t>
              </a:r>
              <a:endParaRPr lang="en-US" sz="1200" dirty="0"/>
            </a:p>
          </p:txBody>
        </p:sp>
        <p:sp>
          <p:nvSpPr>
            <p:cNvPr id="29" name="Text 24"/>
            <p:cNvSpPr txBox="1"/>
            <p:nvPr/>
          </p:nvSpPr>
          <p:spPr>
            <a:xfrm>
              <a:off x="8257946" y="6048756"/>
              <a:ext cx="3026664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Check permissions explicitly on the user instance.</a:t>
              </a:r>
              <a:endParaRPr lang="en-US" sz="900" dirty="0"/>
            </a:p>
          </p:txBody>
        </p:sp>
        <p:sp>
          <p:nvSpPr>
            <p:cNvPr id="30" name="Text 25"/>
            <p:cNvSpPr txBox="1"/>
            <p:nvPr/>
          </p:nvSpPr>
          <p:spPr>
            <a:xfrm>
              <a:off x="8363102" y="6613855"/>
              <a:ext cx="2469794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if ($user-&gt;can('edit-course')) { ... }</a:t>
              </a:r>
              <a:endParaRPr lang="en-US" sz="800" dirty="0"/>
            </a:p>
          </p:txBody>
        </p:sp>
        <p:sp>
          <p:nvSpPr>
            <p:cNvPr id="31" name="Shape 26"/>
            <p:cNvSpPr/>
            <p:nvPr/>
          </p:nvSpPr>
          <p:spPr>
            <a:xfrm>
              <a:off x="666598" y="1686154"/>
              <a:ext cx="10858500" cy="3504895"/>
            </a:xfrm>
            <a:prstGeom prst="roundRect">
              <a:avLst>
                <a:gd name="adj" fmla="val 1134"/>
              </a:avLst>
            </a:prstGeom>
            <a:solidFill>
              <a:srgbClr val="1E293B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32" name="Shape 27"/>
            <p:cNvSpPr/>
            <p:nvPr/>
          </p:nvSpPr>
          <p:spPr>
            <a:xfrm>
              <a:off x="3308299" y="3188513"/>
              <a:ext cx="733349" cy="237744"/>
            </a:xfrm>
            <a:prstGeom prst="roundRect">
              <a:avLst>
                <a:gd name="adj" fmla="val 61538"/>
              </a:avLst>
            </a:prstGeom>
            <a:solidFill>
              <a:srgbClr val="1E293B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33" name="Text 28"/>
            <p:cNvSpPr txBox="1"/>
            <p:nvPr/>
          </p:nvSpPr>
          <p:spPr>
            <a:xfrm>
              <a:off x="3384194" y="3236062"/>
              <a:ext cx="660197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64748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Assign Role</a:t>
              </a:r>
              <a:endParaRPr lang="en-US" sz="800" dirty="0"/>
            </a:p>
          </p:txBody>
        </p:sp>
        <p:pic>
          <p:nvPicPr>
            <p:cNvPr id="34" name="Image 3" descr="preencoded.png"/>
            <p:cNvPicPr>
              <a:picLocks noChangeAspect="1"/>
            </p:cNvPicPr>
            <p:nvPr/>
          </p:nvPicPr>
          <p:blipFill>
            <a:blip r:embed="rId6"/>
            <a:srcRect l="-1923" r="-1923"/>
            <a:stretch/>
          </p:blipFill>
          <p:spPr>
            <a:xfrm>
              <a:off x="3611880" y="3498494"/>
              <a:ext cx="123444" cy="190195"/>
            </a:xfrm>
            <a:prstGeom prst="rect">
              <a:avLst/>
            </a:prstGeom>
          </p:spPr>
        </p:pic>
        <p:sp>
          <p:nvSpPr>
            <p:cNvPr id="35" name="Shape 29"/>
            <p:cNvSpPr/>
            <p:nvPr/>
          </p:nvSpPr>
          <p:spPr>
            <a:xfrm>
              <a:off x="7036308" y="3188513"/>
              <a:ext cx="923544" cy="237744"/>
            </a:xfrm>
            <a:prstGeom prst="roundRect">
              <a:avLst>
                <a:gd name="adj" fmla="val 61538"/>
              </a:avLst>
            </a:prstGeom>
            <a:solidFill>
              <a:srgbClr val="1E293B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36" name="Text 30"/>
            <p:cNvSpPr txBox="1"/>
            <p:nvPr/>
          </p:nvSpPr>
          <p:spPr>
            <a:xfrm>
              <a:off x="7113118" y="3236062"/>
              <a:ext cx="850392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64748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Has Permission</a:t>
              </a:r>
              <a:endParaRPr lang="en-US" sz="800" dirty="0"/>
            </a:p>
          </p:txBody>
        </p:sp>
        <p:pic>
          <p:nvPicPr>
            <p:cNvPr id="37" name="Image 4" descr="preencoded.png"/>
            <p:cNvPicPr>
              <a:picLocks noChangeAspect="1"/>
            </p:cNvPicPr>
            <p:nvPr/>
          </p:nvPicPr>
          <p:blipFill>
            <a:blip r:embed="rId6"/>
            <a:srcRect l="-1923" r="-1923"/>
            <a:stretch/>
          </p:blipFill>
          <p:spPr>
            <a:xfrm>
              <a:off x="7434986" y="3498494"/>
              <a:ext cx="123444" cy="190195"/>
            </a:xfrm>
            <a:prstGeom prst="rect">
              <a:avLst/>
            </a:prstGeom>
          </p:spPr>
        </p:pic>
        <p:sp>
          <p:nvSpPr>
            <p:cNvPr id="38" name="Text 31"/>
            <p:cNvSpPr txBox="1"/>
            <p:nvPr/>
          </p:nvSpPr>
          <p:spPr>
            <a:xfrm>
              <a:off x="10280910" y="7082943"/>
              <a:ext cx="1733702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FAFC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EPS Backend Web Training</a:t>
              </a:r>
              <a:endParaRPr lang="en-US" sz="900" dirty="0"/>
            </a:p>
          </p:txBody>
        </p:sp>
        <p:sp>
          <p:nvSpPr>
            <p:cNvPr id="39" name="Text 32"/>
            <p:cNvSpPr txBox="1"/>
            <p:nvPr/>
          </p:nvSpPr>
          <p:spPr>
            <a:xfrm>
              <a:off x="1552651" y="2895905"/>
              <a:ext cx="695858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SUBJECT</a:t>
              </a:r>
              <a:endParaRPr lang="en-US" sz="900" dirty="0"/>
            </a:p>
          </p:txBody>
        </p:sp>
        <p:sp>
          <p:nvSpPr>
            <p:cNvPr id="40" name="Shape 33"/>
            <p:cNvSpPr/>
            <p:nvPr/>
          </p:nvSpPr>
          <p:spPr>
            <a:xfrm>
              <a:off x="905256" y="3323844"/>
              <a:ext cx="1904695" cy="666598"/>
            </a:xfrm>
            <a:prstGeom prst="roundRect">
              <a:avLst>
                <a:gd name="adj" fmla="val 23516"/>
              </a:avLst>
            </a:prstGeom>
            <a:solidFill>
              <a:srgbClr val="0F172A">
                <a:alpha val="80000"/>
              </a:srgbClr>
            </a:solidFill>
            <a:ln w="12700">
              <a:solidFill>
                <a:srgbClr val="94A3B8">
                  <a:alpha val="20000"/>
                </a:srgbClr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MY"/>
            </a:p>
          </p:txBody>
        </p:sp>
        <p:sp>
          <p:nvSpPr>
            <p:cNvPr id="41" name="Shape 34"/>
            <p:cNvSpPr/>
            <p:nvPr/>
          </p:nvSpPr>
          <p:spPr>
            <a:xfrm>
              <a:off x="1171346" y="3486607"/>
              <a:ext cx="342900" cy="342900"/>
            </a:xfrm>
            <a:prstGeom prst="roundRect">
              <a:avLst>
                <a:gd name="adj" fmla="val 59259"/>
              </a:avLst>
            </a:prstGeom>
            <a:solidFill>
              <a:srgbClr val="F43F5E">
                <a:alpha val="15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42" name="Image 5" descr="preencoded.png"/>
            <p:cNvPicPr>
              <a:picLocks noChangeAspect="1"/>
            </p:cNvPicPr>
            <p:nvPr/>
          </p:nvPicPr>
          <p:blipFill>
            <a:blip r:embed="rId7"/>
            <a:srcRect t="-43" b="-43"/>
            <a:stretch/>
          </p:blipFill>
          <p:spPr>
            <a:xfrm>
              <a:off x="1276502" y="3581705"/>
              <a:ext cx="133502" cy="152705"/>
            </a:xfrm>
            <a:prstGeom prst="rect">
              <a:avLst/>
            </a:prstGeom>
          </p:spPr>
        </p:pic>
        <p:sp>
          <p:nvSpPr>
            <p:cNvPr id="43" name="Text 35"/>
            <p:cNvSpPr txBox="1"/>
            <p:nvPr/>
          </p:nvSpPr>
          <p:spPr>
            <a:xfrm>
              <a:off x="1628546" y="3495751"/>
              <a:ext cx="41513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User</a:t>
              </a:r>
              <a:endParaRPr lang="en-US" sz="1000" dirty="0"/>
            </a:p>
          </p:txBody>
        </p:sp>
        <p:sp>
          <p:nvSpPr>
            <p:cNvPr id="44" name="Text 36"/>
            <p:cNvSpPr txBox="1"/>
            <p:nvPr/>
          </p:nvSpPr>
          <p:spPr>
            <a:xfrm>
              <a:off x="1628546" y="3676802"/>
              <a:ext cx="734263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Auth::user()</a:t>
              </a:r>
              <a:endParaRPr lang="en-US" sz="900" dirty="0"/>
            </a:p>
          </p:txBody>
        </p:sp>
        <p:sp>
          <p:nvSpPr>
            <p:cNvPr id="45" name="Text 37"/>
            <p:cNvSpPr txBox="1"/>
            <p:nvPr/>
          </p:nvSpPr>
          <p:spPr>
            <a:xfrm>
              <a:off x="5371186" y="1933956"/>
              <a:ext cx="514807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ROLES</a:t>
              </a:r>
              <a:endParaRPr lang="en-US" sz="900" dirty="0"/>
            </a:p>
          </p:txBody>
        </p:sp>
        <p:sp>
          <p:nvSpPr>
            <p:cNvPr id="46" name="Shape 38"/>
            <p:cNvSpPr/>
            <p:nvPr/>
          </p:nvSpPr>
          <p:spPr>
            <a:xfrm>
              <a:off x="4537253" y="2361895"/>
              <a:ext cx="2095805" cy="666598"/>
            </a:xfrm>
            <a:prstGeom prst="roundRect">
              <a:avLst>
                <a:gd name="adj" fmla="val 23516"/>
              </a:avLst>
            </a:prstGeom>
            <a:solidFill>
              <a:srgbClr val="0F172A">
                <a:alpha val="80000"/>
              </a:srgbClr>
            </a:solidFill>
            <a:ln w="12700">
              <a:solidFill>
                <a:srgbClr val="94A3B8">
                  <a:alpha val="20000"/>
                </a:srgbClr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MY"/>
            </a:p>
          </p:txBody>
        </p:sp>
        <p:sp>
          <p:nvSpPr>
            <p:cNvPr id="47" name="Shape 39"/>
            <p:cNvSpPr/>
            <p:nvPr/>
          </p:nvSpPr>
          <p:spPr>
            <a:xfrm>
              <a:off x="4804258" y="2523744"/>
              <a:ext cx="342900" cy="342900"/>
            </a:xfrm>
            <a:prstGeom prst="roundRect">
              <a:avLst>
                <a:gd name="adj" fmla="val 59259"/>
              </a:avLst>
            </a:prstGeom>
            <a:solidFill>
              <a:srgbClr val="A855F7">
                <a:alpha val="15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48" name="Image 6" descr="preencoded.png"/>
            <p:cNvPicPr>
              <a:picLocks noChangeAspect="1"/>
            </p:cNvPicPr>
            <p:nvPr/>
          </p:nvPicPr>
          <p:blipFill>
            <a:blip r:embed="rId8"/>
            <a:srcRect l="-33" r="-33"/>
            <a:stretch/>
          </p:blipFill>
          <p:spPr>
            <a:xfrm>
              <a:off x="4890211" y="2619756"/>
              <a:ext cx="171907" cy="152705"/>
            </a:xfrm>
            <a:prstGeom prst="rect">
              <a:avLst/>
            </a:prstGeom>
          </p:spPr>
        </p:pic>
        <p:sp>
          <p:nvSpPr>
            <p:cNvPr id="49" name="Text 40"/>
            <p:cNvSpPr txBox="1"/>
            <p:nvPr/>
          </p:nvSpPr>
          <p:spPr>
            <a:xfrm>
              <a:off x="5261458" y="2600554"/>
              <a:ext cx="58155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Admin</a:t>
              </a:r>
              <a:endParaRPr lang="en-US" sz="1200" dirty="0"/>
            </a:p>
          </p:txBody>
        </p:sp>
        <p:sp>
          <p:nvSpPr>
            <p:cNvPr id="50" name="Shape 41"/>
            <p:cNvSpPr/>
            <p:nvPr/>
          </p:nvSpPr>
          <p:spPr>
            <a:xfrm>
              <a:off x="4537253" y="3276295"/>
              <a:ext cx="2095805" cy="666598"/>
            </a:xfrm>
            <a:prstGeom prst="roundRect">
              <a:avLst>
                <a:gd name="adj" fmla="val 23516"/>
              </a:avLst>
            </a:prstGeom>
            <a:solidFill>
              <a:srgbClr val="0F172A">
                <a:alpha val="80000"/>
              </a:srgbClr>
            </a:solidFill>
            <a:ln w="12700">
              <a:solidFill>
                <a:srgbClr val="94A3B8">
                  <a:alpha val="20000"/>
                </a:srgbClr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MY"/>
            </a:p>
          </p:txBody>
        </p:sp>
        <p:sp>
          <p:nvSpPr>
            <p:cNvPr id="51" name="Shape 42"/>
            <p:cNvSpPr/>
            <p:nvPr/>
          </p:nvSpPr>
          <p:spPr>
            <a:xfrm>
              <a:off x="4804258" y="3438144"/>
              <a:ext cx="342900" cy="342900"/>
            </a:xfrm>
            <a:prstGeom prst="roundRect">
              <a:avLst>
                <a:gd name="adj" fmla="val 59259"/>
              </a:avLst>
            </a:prstGeom>
            <a:solidFill>
              <a:srgbClr val="F59E0B">
                <a:alpha val="15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52" name="Image 7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4899355" y="3534156"/>
              <a:ext cx="152705" cy="152705"/>
            </a:xfrm>
            <a:prstGeom prst="rect">
              <a:avLst/>
            </a:prstGeom>
          </p:spPr>
        </p:pic>
        <p:sp>
          <p:nvSpPr>
            <p:cNvPr id="53" name="Text 43"/>
            <p:cNvSpPr txBox="1"/>
            <p:nvPr/>
          </p:nvSpPr>
          <p:spPr>
            <a:xfrm>
              <a:off x="5261458" y="3514954"/>
              <a:ext cx="76261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Manager</a:t>
              </a:r>
              <a:endParaRPr lang="en-US" sz="1200" dirty="0"/>
            </a:p>
          </p:txBody>
        </p:sp>
        <p:sp>
          <p:nvSpPr>
            <p:cNvPr id="54" name="Shape 44"/>
            <p:cNvSpPr/>
            <p:nvPr/>
          </p:nvSpPr>
          <p:spPr>
            <a:xfrm>
              <a:off x="4537253" y="4190695"/>
              <a:ext cx="2095805" cy="666598"/>
            </a:xfrm>
            <a:prstGeom prst="roundRect">
              <a:avLst>
                <a:gd name="adj" fmla="val 23516"/>
              </a:avLst>
            </a:prstGeom>
            <a:solidFill>
              <a:srgbClr val="0F172A">
                <a:alpha val="80000"/>
              </a:srgbClr>
            </a:solidFill>
            <a:ln w="12700">
              <a:solidFill>
                <a:srgbClr val="94A3B8">
                  <a:alpha val="20000"/>
                </a:srgbClr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MY"/>
            </a:p>
          </p:txBody>
        </p:sp>
        <p:sp>
          <p:nvSpPr>
            <p:cNvPr id="55" name="Shape 45"/>
            <p:cNvSpPr/>
            <p:nvPr/>
          </p:nvSpPr>
          <p:spPr>
            <a:xfrm>
              <a:off x="4804258" y="4352544"/>
              <a:ext cx="342900" cy="342900"/>
            </a:xfrm>
            <a:prstGeom prst="roundRect">
              <a:avLst>
                <a:gd name="adj" fmla="val 59259"/>
              </a:avLst>
            </a:prstGeom>
            <a:solidFill>
              <a:srgbClr val="3B82F6">
                <a:alpha val="15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56" name="Image 8" descr="preencoded.png"/>
            <p:cNvPicPr>
              <a:picLocks noChangeAspect="1"/>
            </p:cNvPicPr>
            <p:nvPr/>
          </p:nvPicPr>
          <p:blipFill>
            <a:blip r:embed="rId10"/>
            <a:srcRect t="-180" b="-180"/>
            <a:stretch/>
          </p:blipFill>
          <p:spPr>
            <a:xfrm>
              <a:off x="4880153" y="4448556"/>
              <a:ext cx="190195" cy="152705"/>
            </a:xfrm>
            <a:prstGeom prst="rect">
              <a:avLst/>
            </a:prstGeom>
          </p:spPr>
        </p:pic>
        <p:sp>
          <p:nvSpPr>
            <p:cNvPr id="57" name="Text 46"/>
            <p:cNvSpPr txBox="1"/>
            <p:nvPr/>
          </p:nvSpPr>
          <p:spPr>
            <a:xfrm>
              <a:off x="5261458" y="4429354"/>
              <a:ext cx="46725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User</a:t>
              </a:r>
              <a:endParaRPr lang="en-US" sz="1200" dirty="0"/>
            </a:p>
          </p:txBody>
        </p:sp>
        <p:sp>
          <p:nvSpPr>
            <p:cNvPr id="58" name="Shape 47"/>
            <p:cNvSpPr/>
            <p:nvPr/>
          </p:nvSpPr>
          <p:spPr>
            <a:xfrm>
              <a:off x="8361274" y="3029407"/>
              <a:ext cx="1410005" cy="342900"/>
            </a:xfrm>
            <a:prstGeom prst="roundRect">
              <a:avLst>
                <a:gd name="adj" fmla="val 148148"/>
              </a:avLst>
            </a:prstGeom>
            <a:solidFill>
              <a:srgbClr val="10B981">
                <a:alpha val="10000"/>
              </a:srgbClr>
            </a:solidFill>
            <a:ln w="12700">
              <a:solidFill>
                <a:srgbClr val="10B981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59" name="Image 9" descr="preencoded.png"/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8523122" y="3143707"/>
              <a:ext cx="114300" cy="114300"/>
            </a:xfrm>
            <a:prstGeom prst="rect">
              <a:avLst/>
            </a:prstGeom>
          </p:spPr>
        </p:pic>
        <p:sp>
          <p:nvSpPr>
            <p:cNvPr id="60" name="Text 48"/>
            <p:cNvSpPr txBox="1"/>
            <p:nvPr/>
          </p:nvSpPr>
          <p:spPr>
            <a:xfrm>
              <a:off x="8713318" y="3114446"/>
              <a:ext cx="981151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create-course</a:t>
              </a:r>
              <a:endParaRPr lang="en-US" sz="900" dirty="0"/>
            </a:p>
          </p:txBody>
        </p:sp>
        <p:sp>
          <p:nvSpPr>
            <p:cNvPr id="61" name="Shape 49"/>
            <p:cNvSpPr/>
            <p:nvPr/>
          </p:nvSpPr>
          <p:spPr>
            <a:xfrm>
              <a:off x="9881006" y="3029407"/>
              <a:ext cx="1410005" cy="342900"/>
            </a:xfrm>
            <a:prstGeom prst="roundRect">
              <a:avLst>
                <a:gd name="adj" fmla="val 148148"/>
              </a:avLst>
            </a:prstGeom>
            <a:solidFill>
              <a:srgbClr val="10B981">
                <a:alpha val="10000"/>
              </a:srgbClr>
            </a:solidFill>
            <a:ln w="12700">
              <a:solidFill>
                <a:srgbClr val="10B981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62" name="Image 10" descr="preencoded.png"/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10042855" y="3143707"/>
              <a:ext cx="114300" cy="114300"/>
            </a:xfrm>
            <a:prstGeom prst="rect">
              <a:avLst/>
            </a:prstGeom>
          </p:spPr>
        </p:pic>
        <p:sp>
          <p:nvSpPr>
            <p:cNvPr id="63" name="Text 50"/>
            <p:cNvSpPr txBox="1"/>
            <p:nvPr/>
          </p:nvSpPr>
          <p:spPr>
            <a:xfrm>
              <a:off x="10233965" y="3114446"/>
              <a:ext cx="84856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edit-course</a:t>
              </a:r>
              <a:endParaRPr lang="en-US" sz="900" dirty="0"/>
            </a:p>
          </p:txBody>
        </p:sp>
        <p:sp>
          <p:nvSpPr>
            <p:cNvPr id="64" name="Shape 51"/>
            <p:cNvSpPr/>
            <p:nvPr/>
          </p:nvSpPr>
          <p:spPr>
            <a:xfrm>
              <a:off x="8361274" y="3486607"/>
              <a:ext cx="1410005" cy="342900"/>
            </a:xfrm>
            <a:prstGeom prst="roundRect">
              <a:avLst>
                <a:gd name="adj" fmla="val 148148"/>
              </a:avLst>
            </a:prstGeom>
            <a:solidFill>
              <a:srgbClr val="10B981">
                <a:alpha val="10000"/>
              </a:srgbClr>
            </a:solidFill>
            <a:ln w="12700">
              <a:solidFill>
                <a:srgbClr val="10B981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65" name="Image 11" descr="preencoded.png"/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8523122" y="3600907"/>
              <a:ext cx="114300" cy="114300"/>
            </a:xfrm>
            <a:prstGeom prst="rect">
              <a:avLst/>
            </a:prstGeom>
          </p:spPr>
        </p:pic>
        <p:sp>
          <p:nvSpPr>
            <p:cNvPr id="66" name="Text 52"/>
            <p:cNvSpPr txBox="1"/>
            <p:nvPr/>
          </p:nvSpPr>
          <p:spPr>
            <a:xfrm>
              <a:off x="8713318" y="3571646"/>
              <a:ext cx="981151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delete-course</a:t>
              </a:r>
              <a:endParaRPr lang="en-US" sz="900" dirty="0"/>
            </a:p>
          </p:txBody>
        </p:sp>
        <p:sp>
          <p:nvSpPr>
            <p:cNvPr id="67" name="Shape 53"/>
            <p:cNvSpPr/>
            <p:nvPr/>
          </p:nvSpPr>
          <p:spPr>
            <a:xfrm>
              <a:off x="9881006" y="3486607"/>
              <a:ext cx="1410005" cy="342900"/>
            </a:xfrm>
            <a:prstGeom prst="roundRect">
              <a:avLst>
                <a:gd name="adj" fmla="val 148148"/>
              </a:avLst>
            </a:prstGeom>
            <a:solidFill>
              <a:srgbClr val="10B981">
                <a:alpha val="10000"/>
              </a:srgbClr>
            </a:solidFill>
            <a:ln w="12700">
              <a:solidFill>
                <a:srgbClr val="10B981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68" name="Image 12" descr="preencoded.png"/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10042855" y="3600907"/>
              <a:ext cx="114300" cy="114300"/>
            </a:xfrm>
            <a:prstGeom prst="rect">
              <a:avLst/>
            </a:prstGeom>
          </p:spPr>
        </p:pic>
        <p:sp>
          <p:nvSpPr>
            <p:cNvPr id="69" name="Text 54"/>
            <p:cNvSpPr txBox="1"/>
            <p:nvPr/>
          </p:nvSpPr>
          <p:spPr>
            <a:xfrm>
              <a:off x="10233965" y="3571646"/>
              <a:ext cx="914400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view-reports</a:t>
              </a:r>
              <a:endParaRPr lang="en-US" sz="900" dirty="0"/>
            </a:p>
          </p:txBody>
        </p:sp>
        <p:sp>
          <p:nvSpPr>
            <p:cNvPr id="70" name="Shape 55"/>
            <p:cNvSpPr/>
            <p:nvPr/>
          </p:nvSpPr>
          <p:spPr>
            <a:xfrm>
              <a:off x="8361274" y="3943807"/>
              <a:ext cx="1410005" cy="342900"/>
            </a:xfrm>
            <a:prstGeom prst="roundRect">
              <a:avLst>
                <a:gd name="adj" fmla="val 148148"/>
              </a:avLst>
            </a:prstGeom>
            <a:solidFill>
              <a:srgbClr val="10B981">
                <a:alpha val="10000"/>
              </a:srgbClr>
            </a:solidFill>
            <a:ln w="12700">
              <a:solidFill>
                <a:srgbClr val="10B981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71" name="Image 13" descr="preencoded.png"/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8523122" y="4058107"/>
              <a:ext cx="114300" cy="114300"/>
            </a:xfrm>
            <a:prstGeom prst="rect">
              <a:avLst/>
            </a:prstGeom>
          </p:spPr>
        </p:pic>
        <p:sp>
          <p:nvSpPr>
            <p:cNvPr id="72" name="Text 56"/>
            <p:cNvSpPr txBox="1"/>
            <p:nvPr/>
          </p:nvSpPr>
          <p:spPr>
            <a:xfrm>
              <a:off x="8713318" y="4028846"/>
              <a:ext cx="914400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manage-users</a:t>
              </a:r>
              <a:endParaRPr lang="en-US" sz="900" dirty="0"/>
            </a:p>
          </p:txBody>
        </p:sp>
        <p:sp>
          <p:nvSpPr>
            <p:cNvPr id="73" name="Shape 57"/>
            <p:cNvSpPr/>
            <p:nvPr/>
          </p:nvSpPr>
          <p:spPr>
            <a:xfrm>
              <a:off x="9881006" y="3943807"/>
              <a:ext cx="1410005" cy="342900"/>
            </a:xfrm>
            <a:prstGeom prst="roundRect">
              <a:avLst>
                <a:gd name="adj" fmla="val 148148"/>
              </a:avLst>
            </a:prstGeom>
            <a:solidFill>
              <a:srgbClr val="10B981">
                <a:alpha val="10000"/>
              </a:srgbClr>
            </a:solidFill>
            <a:ln w="12700">
              <a:solidFill>
                <a:srgbClr val="10B981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74" name="Image 14" descr="preencoded.png"/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10042855" y="4058107"/>
              <a:ext cx="114300" cy="114300"/>
            </a:xfrm>
            <a:prstGeom prst="rect">
              <a:avLst/>
            </a:prstGeom>
          </p:spPr>
        </p:pic>
        <p:sp>
          <p:nvSpPr>
            <p:cNvPr id="75" name="Text 58"/>
            <p:cNvSpPr txBox="1"/>
            <p:nvPr/>
          </p:nvSpPr>
          <p:spPr>
            <a:xfrm>
              <a:off x="10233965" y="4028846"/>
              <a:ext cx="914400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approve-exam</a:t>
              </a:r>
              <a:endParaRPr lang="en-US" sz="900" dirty="0"/>
            </a:p>
          </p:txBody>
        </p:sp>
        <p:sp>
          <p:nvSpPr>
            <p:cNvPr id="76" name="Text 59"/>
            <p:cNvSpPr txBox="1"/>
            <p:nvPr/>
          </p:nvSpPr>
          <p:spPr>
            <a:xfrm>
              <a:off x="9368942" y="2600554"/>
              <a:ext cx="1000354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PERMISSIONS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210605" y="-952805"/>
            <a:ext cx="4762195" cy="476219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09905" y="4000500"/>
            <a:ext cx="4286707" cy="4286707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61695" y="1390802"/>
            <a:ext cx="106683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761695" y="1686154"/>
            <a:ext cx="5191049" cy="4695444"/>
          </a:xfrm>
          <a:prstGeom prst="roundRect">
            <a:avLst>
              <a:gd name="adj" fmla="val 63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771754" y="1695298"/>
            <a:ext cx="5171846" cy="4288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771754" y="2115007"/>
            <a:ext cx="51718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961949" y="1836115"/>
            <a:ext cx="171907" cy="1335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52898" y="18553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Shape 9"/>
          <p:cNvSpPr/>
          <p:nvPr/>
        </p:nvSpPr>
        <p:spPr>
          <a:xfrm>
            <a:off x="5505602" y="18553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5658307" y="18553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1314907" y="2348179"/>
            <a:ext cx="9144" cy="27523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Shape 12"/>
          <p:cNvSpPr/>
          <p:nvPr/>
        </p:nvSpPr>
        <p:spPr>
          <a:xfrm>
            <a:off x="6238951" y="1686154"/>
            <a:ext cx="5191049" cy="4695444"/>
          </a:xfrm>
          <a:prstGeom prst="roundRect">
            <a:avLst>
              <a:gd name="adj" fmla="val 63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Shape 13"/>
          <p:cNvSpPr/>
          <p:nvPr/>
        </p:nvSpPr>
        <p:spPr>
          <a:xfrm>
            <a:off x="6248095" y="1695298"/>
            <a:ext cx="5171846" cy="4288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Shape 14"/>
          <p:cNvSpPr/>
          <p:nvPr/>
        </p:nvSpPr>
        <p:spPr>
          <a:xfrm>
            <a:off x="6248095" y="2115007"/>
            <a:ext cx="51718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6439205" y="1836115"/>
            <a:ext cx="171907" cy="13350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830154" y="18553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6"/>
          <p:cNvSpPr/>
          <p:nvPr/>
        </p:nvSpPr>
        <p:spPr>
          <a:xfrm>
            <a:off x="10981944" y="18553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Shape 17"/>
          <p:cNvSpPr/>
          <p:nvPr/>
        </p:nvSpPr>
        <p:spPr>
          <a:xfrm>
            <a:off x="11134649" y="18553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Shape 18"/>
          <p:cNvSpPr/>
          <p:nvPr/>
        </p:nvSpPr>
        <p:spPr>
          <a:xfrm>
            <a:off x="6791249" y="2348179"/>
            <a:ext cx="9144" cy="3114446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Shape 19"/>
          <p:cNvSpPr/>
          <p:nvPr/>
        </p:nvSpPr>
        <p:spPr>
          <a:xfrm>
            <a:off x="6951269" y="3257093"/>
            <a:ext cx="4248302" cy="390449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Shape 20"/>
          <p:cNvSpPr/>
          <p:nvPr/>
        </p:nvSpPr>
        <p:spPr>
          <a:xfrm>
            <a:off x="6951269" y="3257093"/>
            <a:ext cx="28346" cy="390449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23176" y="3388766"/>
            <a:ext cx="123444" cy="1234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61695" y="457200"/>
            <a:ext cx="52678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 Implementation Example</a:t>
            </a:r>
            <a:endParaRPr lang="en-US" sz="2700" dirty="0"/>
          </a:p>
        </p:txBody>
      </p:sp>
      <p:sp>
        <p:nvSpPr>
          <p:cNvPr id="27" name="Text 22"/>
          <p:cNvSpPr txBox="1"/>
          <p:nvPr/>
        </p:nvSpPr>
        <p:spPr>
          <a:xfrm>
            <a:off x="761695" y="961949"/>
            <a:ext cx="51773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assignment, middleware, and policies in Spatie Permission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1228954" y="1819656"/>
            <a:ext cx="9125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Basic Usage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079906" y="236738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1079906" y="258043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1079906" y="279349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1079906" y="300746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079906" y="322051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1079906" y="3434486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1079906" y="364754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1079906" y="386059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1079906" y="4074566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1000354" y="428762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1000354" y="4501591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1000354" y="471464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1474927" y="2348179"/>
            <a:ext cx="961949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Text 37"/>
          <p:cNvSpPr txBox="1"/>
          <p:nvPr/>
        </p:nvSpPr>
        <p:spPr>
          <a:xfrm>
            <a:off x="1579169" y="2404872"/>
            <a:ext cx="8311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ASSIGNMENTS</a:t>
            </a:r>
            <a:endParaRPr lang="en-US" sz="800" dirty="0"/>
          </a:p>
        </p:txBody>
      </p:sp>
      <p:sp>
        <p:nvSpPr>
          <p:cNvPr id="43" name="Text 38"/>
          <p:cNvSpPr txBox="1"/>
          <p:nvPr/>
        </p:nvSpPr>
        <p:spPr>
          <a:xfrm>
            <a:off x="1474927" y="2705710"/>
            <a:ext cx="18626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Assign role to user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1474927" y="2919679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$user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1874520" y="2919679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2034540" y="2919679"/>
            <a:ext cx="9006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assignRole</a:t>
            </a:r>
            <a:endParaRPr lang="en-US" sz="1000" dirty="0"/>
          </a:p>
        </p:txBody>
      </p:sp>
      <p:sp>
        <p:nvSpPr>
          <p:cNvPr id="47" name="Text 42"/>
          <p:cNvSpPr txBox="1"/>
          <p:nvPr/>
        </p:nvSpPr>
        <p:spPr>
          <a:xfrm>
            <a:off x="2834640" y="2919679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2915107" y="2919679"/>
            <a:ext cx="13862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'course-manager'</a:t>
            </a:r>
            <a:endParaRPr lang="en-US" sz="1000" dirty="0"/>
          </a:p>
        </p:txBody>
      </p:sp>
      <p:sp>
        <p:nvSpPr>
          <p:cNvPr id="49" name="Text 44"/>
          <p:cNvSpPr txBox="1"/>
          <p:nvPr/>
        </p:nvSpPr>
        <p:spPr>
          <a:xfrm>
            <a:off x="4195267" y="2919679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1474927" y="3345790"/>
            <a:ext cx="23481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Assign permission to role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1474927" y="3559759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$role</a:t>
            </a:r>
            <a:endParaRPr lang="en-US" sz="1000" dirty="0"/>
          </a:p>
        </p:txBody>
      </p:sp>
      <p:sp>
        <p:nvSpPr>
          <p:cNvPr id="52" name="Text 47"/>
          <p:cNvSpPr txBox="1"/>
          <p:nvPr/>
        </p:nvSpPr>
        <p:spPr>
          <a:xfrm>
            <a:off x="1874520" y="3559759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2034540" y="3559759"/>
            <a:ext cx="13862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givePermissionTo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3314700" y="3559759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55" name="Text 50"/>
          <p:cNvSpPr txBox="1"/>
          <p:nvPr/>
        </p:nvSpPr>
        <p:spPr>
          <a:xfrm>
            <a:off x="3395167" y="3559759"/>
            <a:ext cx="13002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'create-course'</a:t>
            </a:r>
            <a:endParaRPr lang="en-US" sz="1000" dirty="0"/>
          </a:p>
        </p:txBody>
      </p:sp>
      <p:sp>
        <p:nvSpPr>
          <p:cNvPr id="56" name="Text 51"/>
          <p:cNvSpPr txBox="1"/>
          <p:nvPr/>
        </p:nvSpPr>
        <p:spPr>
          <a:xfrm>
            <a:off x="4594860" y="3559759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000" dirty="0"/>
          </a:p>
        </p:txBody>
      </p:sp>
      <p:sp>
        <p:nvSpPr>
          <p:cNvPr id="57" name="Shape 52"/>
          <p:cNvSpPr/>
          <p:nvPr/>
        </p:nvSpPr>
        <p:spPr>
          <a:xfrm>
            <a:off x="1474927" y="3906317"/>
            <a:ext cx="1028700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Text 53"/>
          <p:cNvSpPr txBox="1"/>
          <p:nvPr/>
        </p:nvSpPr>
        <p:spPr>
          <a:xfrm>
            <a:off x="1579169" y="3963010"/>
            <a:ext cx="8979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DIRECT CHECK</a:t>
            </a:r>
            <a:endParaRPr lang="en-US" sz="800" dirty="0"/>
          </a:p>
        </p:txBody>
      </p:sp>
      <p:sp>
        <p:nvSpPr>
          <p:cNvPr id="59" name="Text 54"/>
          <p:cNvSpPr txBox="1"/>
          <p:nvPr/>
        </p:nvSpPr>
        <p:spPr>
          <a:xfrm>
            <a:off x="1474927" y="4264762"/>
            <a:ext cx="27486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Check permission in controller</a:t>
            </a:r>
            <a:endParaRPr lang="en-US" sz="1000" dirty="0"/>
          </a:p>
        </p:txBody>
      </p:sp>
      <p:sp>
        <p:nvSpPr>
          <p:cNvPr id="60" name="Text 55"/>
          <p:cNvSpPr txBox="1"/>
          <p:nvPr/>
        </p:nvSpPr>
        <p:spPr>
          <a:xfrm>
            <a:off x="1474927" y="447781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endParaRPr lang="en-US" sz="1000" dirty="0"/>
          </a:p>
        </p:txBody>
      </p:sp>
      <p:sp>
        <p:nvSpPr>
          <p:cNvPr id="61" name="Text 56"/>
          <p:cNvSpPr txBox="1"/>
          <p:nvPr/>
        </p:nvSpPr>
        <p:spPr>
          <a:xfrm>
            <a:off x="1634947" y="447781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62" name="Text 57"/>
          <p:cNvSpPr txBox="1"/>
          <p:nvPr/>
        </p:nvSpPr>
        <p:spPr>
          <a:xfrm>
            <a:off x="1714500" y="4477817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</a:t>
            </a:r>
            <a:endParaRPr lang="en-US" sz="1000" dirty="0"/>
          </a:p>
        </p:txBody>
      </p:sp>
      <p:sp>
        <p:nvSpPr>
          <p:cNvPr id="63" name="Text 58"/>
          <p:cNvSpPr txBox="1"/>
          <p:nvPr/>
        </p:nvSpPr>
        <p:spPr>
          <a:xfrm>
            <a:off x="2034540" y="447781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000" dirty="0"/>
          </a:p>
        </p:txBody>
      </p:sp>
      <p:sp>
        <p:nvSpPr>
          <p:cNvPr id="64" name="Text 59"/>
          <p:cNvSpPr txBox="1"/>
          <p:nvPr/>
        </p:nvSpPr>
        <p:spPr>
          <a:xfrm>
            <a:off x="2195474" y="447781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65" name="Text 60"/>
          <p:cNvSpPr txBox="1"/>
          <p:nvPr/>
        </p:nvSpPr>
        <p:spPr>
          <a:xfrm>
            <a:off x="2355494" y="4477817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endParaRPr lang="en-US" sz="1000" dirty="0"/>
          </a:p>
        </p:txBody>
      </p:sp>
      <p:sp>
        <p:nvSpPr>
          <p:cNvPr id="66" name="Text 61"/>
          <p:cNvSpPr txBox="1"/>
          <p:nvPr/>
        </p:nvSpPr>
        <p:spPr>
          <a:xfrm>
            <a:off x="2675534" y="447781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000" dirty="0"/>
          </a:p>
        </p:txBody>
      </p:sp>
      <p:sp>
        <p:nvSpPr>
          <p:cNvPr id="67" name="Text 62"/>
          <p:cNvSpPr txBox="1"/>
          <p:nvPr/>
        </p:nvSpPr>
        <p:spPr>
          <a:xfrm>
            <a:off x="2835554" y="447781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68" name="Text 63"/>
          <p:cNvSpPr txBox="1"/>
          <p:nvPr/>
        </p:nvSpPr>
        <p:spPr>
          <a:xfrm>
            <a:off x="2995574" y="4477817"/>
            <a:ext cx="3483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</a:t>
            </a:r>
            <a:endParaRPr lang="en-US" sz="1000" dirty="0"/>
          </a:p>
        </p:txBody>
      </p:sp>
      <p:sp>
        <p:nvSpPr>
          <p:cNvPr id="69" name="Text 64"/>
          <p:cNvSpPr txBox="1"/>
          <p:nvPr/>
        </p:nvSpPr>
        <p:spPr>
          <a:xfrm>
            <a:off x="3236062" y="447781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70" name="Text 65"/>
          <p:cNvSpPr txBox="1"/>
          <p:nvPr/>
        </p:nvSpPr>
        <p:spPr>
          <a:xfrm>
            <a:off x="3315614" y="4477817"/>
            <a:ext cx="13002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'create-course'</a:t>
            </a:r>
            <a:endParaRPr lang="en-US" sz="1000" dirty="0"/>
          </a:p>
        </p:txBody>
      </p:sp>
      <p:sp>
        <p:nvSpPr>
          <p:cNvPr id="71" name="Text 66"/>
          <p:cNvSpPr txBox="1"/>
          <p:nvPr/>
        </p:nvSpPr>
        <p:spPr>
          <a:xfrm>
            <a:off x="4516222" y="447781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))</a:t>
            </a:r>
            <a:endParaRPr lang="en-US" sz="1000" dirty="0"/>
          </a:p>
        </p:txBody>
      </p:sp>
      <p:sp>
        <p:nvSpPr>
          <p:cNvPr id="72" name="Text 67"/>
          <p:cNvSpPr txBox="1"/>
          <p:nvPr/>
        </p:nvSpPr>
        <p:spPr>
          <a:xfrm>
            <a:off x="4676242" y="4477817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73" name="Text 68"/>
          <p:cNvSpPr txBox="1"/>
          <p:nvPr/>
        </p:nvSpPr>
        <p:spPr>
          <a:xfrm>
            <a:off x="1474927" y="4690872"/>
            <a:ext cx="21003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Create course logic...</a:t>
            </a:r>
            <a:endParaRPr lang="en-US" sz="1000" dirty="0"/>
          </a:p>
        </p:txBody>
      </p:sp>
      <p:sp>
        <p:nvSpPr>
          <p:cNvPr id="74" name="Text 69"/>
          <p:cNvSpPr txBox="1"/>
          <p:nvPr/>
        </p:nvSpPr>
        <p:spPr>
          <a:xfrm>
            <a:off x="1474927" y="4904842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75" name="Text 70"/>
          <p:cNvSpPr txBox="1"/>
          <p:nvPr/>
        </p:nvSpPr>
        <p:spPr>
          <a:xfrm>
            <a:off x="6705295" y="1819656"/>
            <a:ext cx="16550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Middleware &amp; Policies</a:t>
            </a:r>
            <a:endParaRPr lang="en-US" sz="900" dirty="0"/>
          </a:p>
        </p:txBody>
      </p:sp>
      <p:sp>
        <p:nvSpPr>
          <p:cNvPr id="76" name="Text 71"/>
          <p:cNvSpPr txBox="1"/>
          <p:nvPr/>
        </p:nvSpPr>
        <p:spPr>
          <a:xfrm>
            <a:off x="6476695" y="236738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1000" dirty="0"/>
          </a:p>
        </p:txBody>
      </p:sp>
      <p:sp>
        <p:nvSpPr>
          <p:cNvPr id="77" name="Text 72"/>
          <p:cNvSpPr txBox="1"/>
          <p:nvPr/>
        </p:nvSpPr>
        <p:spPr>
          <a:xfrm>
            <a:off x="6476695" y="258043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endParaRPr lang="en-US" sz="1000" dirty="0"/>
          </a:p>
        </p:txBody>
      </p:sp>
      <p:sp>
        <p:nvSpPr>
          <p:cNvPr id="78" name="Text 73"/>
          <p:cNvSpPr txBox="1"/>
          <p:nvPr/>
        </p:nvSpPr>
        <p:spPr>
          <a:xfrm>
            <a:off x="6476695" y="279349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endParaRPr lang="en-US" sz="1000" dirty="0"/>
          </a:p>
        </p:txBody>
      </p:sp>
      <p:sp>
        <p:nvSpPr>
          <p:cNvPr id="79" name="Text 74"/>
          <p:cNvSpPr txBox="1"/>
          <p:nvPr/>
        </p:nvSpPr>
        <p:spPr>
          <a:xfrm>
            <a:off x="6476695" y="300746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endParaRPr lang="en-US" sz="1000" dirty="0"/>
          </a:p>
        </p:txBody>
      </p:sp>
      <p:sp>
        <p:nvSpPr>
          <p:cNvPr id="80" name="Text 75"/>
          <p:cNvSpPr txBox="1"/>
          <p:nvPr/>
        </p:nvSpPr>
        <p:spPr>
          <a:xfrm>
            <a:off x="6476695" y="322051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endParaRPr lang="en-US" sz="1000" dirty="0"/>
          </a:p>
        </p:txBody>
      </p:sp>
      <p:sp>
        <p:nvSpPr>
          <p:cNvPr id="81" name="Text 76"/>
          <p:cNvSpPr txBox="1"/>
          <p:nvPr/>
        </p:nvSpPr>
        <p:spPr>
          <a:xfrm>
            <a:off x="6476695" y="343448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endParaRPr lang="en-US" sz="1000" dirty="0"/>
          </a:p>
        </p:txBody>
      </p:sp>
      <p:sp>
        <p:nvSpPr>
          <p:cNvPr id="82" name="Text 77"/>
          <p:cNvSpPr txBox="1"/>
          <p:nvPr/>
        </p:nvSpPr>
        <p:spPr>
          <a:xfrm>
            <a:off x="6476695" y="364754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endParaRPr lang="en-US" sz="1000" dirty="0"/>
          </a:p>
        </p:txBody>
      </p:sp>
      <p:sp>
        <p:nvSpPr>
          <p:cNvPr id="83" name="Text 78"/>
          <p:cNvSpPr txBox="1"/>
          <p:nvPr/>
        </p:nvSpPr>
        <p:spPr>
          <a:xfrm>
            <a:off x="6476695" y="3860597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</a:t>
            </a:r>
            <a:endParaRPr lang="en-US" sz="1000" dirty="0"/>
          </a:p>
        </p:txBody>
      </p:sp>
      <p:sp>
        <p:nvSpPr>
          <p:cNvPr id="84" name="Text 79"/>
          <p:cNvSpPr txBox="1"/>
          <p:nvPr/>
        </p:nvSpPr>
        <p:spPr>
          <a:xfrm>
            <a:off x="6476695" y="407456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</a:t>
            </a:r>
            <a:endParaRPr lang="en-US" sz="1000" dirty="0"/>
          </a:p>
        </p:txBody>
      </p:sp>
      <p:sp>
        <p:nvSpPr>
          <p:cNvPr id="85" name="Text 80"/>
          <p:cNvSpPr txBox="1"/>
          <p:nvPr/>
        </p:nvSpPr>
        <p:spPr>
          <a:xfrm>
            <a:off x="6476695" y="428762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</a:t>
            </a:r>
            <a:endParaRPr lang="en-US" sz="1000" dirty="0"/>
          </a:p>
        </p:txBody>
      </p:sp>
      <p:sp>
        <p:nvSpPr>
          <p:cNvPr id="86" name="Text 81"/>
          <p:cNvSpPr txBox="1"/>
          <p:nvPr/>
        </p:nvSpPr>
        <p:spPr>
          <a:xfrm>
            <a:off x="6476695" y="4501591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endParaRPr lang="en-US" sz="1000" dirty="0"/>
          </a:p>
        </p:txBody>
      </p:sp>
      <p:sp>
        <p:nvSpPr>
          <p:cNvPr id="87" name="Text 82"/>
          <p:cNvSpPr txBox="1"/>
          <p:nvPr/>
        </p:nvSpPr>
        <p:spPr>
          <a:xfrm>
            <a:off x="6476695" y="4714646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</a:t>
            </a:r>
            <a:endParaRPr lang="en-US" sz="1000" dirty="0"/>
          </a:p>
        </p:txBody>
      </p:sp>
      <p:sp>
        <p:nvSpPr>
          <p:cNvPr id="88" name="Text 83"/>
          <p:cNvSpPr txBox="1"/>
          <p:nvPr/>
        </p:nvSpPr>
        <p:spPr>
          <a:xfrm>
            <a:off x="6476695" y="4927702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</a:t>
            </a:r>
            <a:endParaRPr lang="en-US" sz="1000" dirty="0"/>
          </a:p>
        </p:txBody>
      </p:sp>
      <p:sp>
        <p:nvSpPr>
          <p:cNvPr id="89" name="Shape 84"/>
          <p:cNvSpPr/>
          <p:nvPr/>
        </p:nvSpPr>
        <p:spPr>
          <a:xfrm>
            <a:off x="6951269" y="2348179"/>
            <a:ext cx="1304849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0" name="Text 85"/>
          <p:cNvSpPr txBox="1"/>
          <p:nvPr/>
        </p:nvSpPr>
        <p:spPr>
          <a:xfrm>
            <a:off x="7056425" y="2404872"/>
            <a:ext cx="11740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 MIDDLEWARE</a:t>
            </a:r>
            <a:endParaRPr lang="en-US" sz="800" dirty="0"/>
          </a:p>
        </p:txBody>
      </p:sp>
      <p:sp>
        <p:nvSpPr>
          <p:cNvPr id="91" name="Text 86"/>
          <p:cNvSpPr txBox="1"/>
          <p:nvPr/>
        </p:nvSpPr>
        <p:spPr>
          <a:xfrm>
            <a:off x="6951269" y="2705710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</a:t>
            </a:r>
            <a:endParaRPr lang="en-US" sz="1000" dirty="0"/>
          </a:p>
        </p:txBody>
      </p:sp>
      <p:sp>
        <p:nvSpPr>
          <p:cNvPr id="92" name="Text 87"/>
          <p:cNvSpPr txBox="1"/>
          <p:nvPr/>
        </p:nvSpPr>
        <p:spPr>
          <a:xfrm>
            <a:off x="7351776" y="2705710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1000" dirty="0"/>
          </a:p>
        </p:txBody>
      </p:sp>
      <p:sp>
        <p:nvSpPr>
          <p:cNvPr id="93" name="Text 88"/>
          <p:cNvSpPr txBox="1"/>
          <p:nvPr/>
        </p:nvSpPr>
        <p:spPr>
          <a:xfrm>
            <a:off x="7511796" y="2705710"/>
            <a:ext cx="9006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middleware</a:t>
            </a:r>
            <a:endParaRPr lang="en-US" sz="1000" dirty="0"/>
          </a:p>
        </p:txBody>
      </p:sp>
      <p:sp>
        <p:nvSpPr>
          <p:cNvPr id="94" name="Text 89"/>
          <p:cNvSpPr txBox="1"/>
          <p:nvPr/>
        </p:nvSpPr>
        <p:spPr>
          <a:xfrm>
            <a:off x="8311896" y="2705710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95" name="Text 90"/>
          <p:cNvSpPr txBox="1"/>
          <p:nvPr/>
        </p:nvSpPr>
        <p:spPr>
          <a:xfrm>
            <a:off x="8391449" y="2705710"/>
            <a:ext cx="20244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'permission:edit-course'</a:t>
            </a:r>
            <a:endParaRPr lang="en-US" sz="1000" dirty="0"/>
          </a:p>
        </p:txBody>
      </p:sp>
      <p:sp>
        <p:nvSpPr>
          <p:cNvPr id="96" name="Text 91"/>
          <p:cNvSpPr txBox="1"/>
          <p:nvPr/>
        </p:nvSpPr>
        <p:spPr>
          <a:xfrm>
            <a:off x="10312603" y="2705710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97" name="Text 92"/>
          <p:cNvSpPr txBox="1"/>
          <p:nvPr/>
        </p:nvSpPr>
        <p:spPr>
          <a:xfrm>
            <a:off x="6951269" y="2919679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98" name="Text 93"/>
          <p:cNvSpPr txBox="1"/>
          <p:nvPr/>
        </p:nvSpPr>
        <p:spPr>
          <a:xfrm>
            <a:off x="7111289" y="2919679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</a:t>
            </a:r>
            <a:endParaRPr lang="en-US" sz="1000" dirty="0"/>
          </a:p>
        </p:txBody>
      </p:sp>
      <p:sp>
        <p:nvSpPr>
          <p:cNvPr id="99" name="Text 94"/>
          <p:cNvSpPr txBox="1"/>
          <p:nvPr/>
        </p:nvSpPr>
        <p:spPr>
          <a:xfrm>
            <a:off x="7431329" y="2919679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100" name="Text 95"/>
          <p:cNvSpPr txBox="1"/>
          <p:nvPr/>
        </p:nvSpPr>
        <p:spPr>
          <a:xfrm>
            <a:off x="7511796" y="2919679"/>
            <a:ext cx="13002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'/courses/{id}'</a:t>
            </a:r>
            <a:endParaRPr lang="en-US" sz="1000" dirty="0"/>
          </a:p>
        </p:txBody>
      </p:sp>
      <p:sp>
        <p:nvSpPr>
          <p:cNvPr id="101" name="Text 96"/>
          <p:cNvSpPr txBox="1"/>
          <p:nvPr/>
        </p:nvSpPr>
        <p:spPr>
          <a:xfrm>
            <a:off x="8712403" y="2919679"/>
            <a:ext cx="8247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[...]);</a:t>
            </a:r>
            <a:endParaRPr lang="en-US" sz="1000" dirty="0"/>
          </a:p>
        </p:txBody>
      </p:sp>
      <p:sp>
        <p:nvSpPr>
          <p:cNvPr id="102" name="Text 97"/>
          <p:cNvSpPr txBox="1"/>
          <p:nvPr/>
        </p:nvSpPr>
        <p:spPr>
          <a:xfrm>
            <a:off x="7322515" y="3361334"/>
            <a:ext cx="32936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Protects routes before controller execution</a:t>
            </a:r>
            <a:endParaRPr lang="en-US" sz="900" dirty="0"/>
          </a:p>
        </p:txBody>
      </p:sp>
      <p:sp>
        <p:nvSpPr>
          <p:cNvPr id="103" name="Shape 98"/>
          <p:cNvSpPr/>
          <p:nvPr/>
        </p:nvSpPr>
        <p:spPr>
          <a:xfrm>
            <a:off x="6951269" y="3835908"/>
            <a:ext cx="1028700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4" name="Text 99"/>
          <p:cNvSpPr txBox="1"/>
          <p:nvPr/>
        </p:nvSpPr>
        <p:spPr>
          <a:xfrm>
            <a:off x="7056425" y="3892601"/>
            <a:ext cx="8979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POLICY LOGIC</a:t>
            </a:r>
            <a:endParaRPr lang="en-US" sz="800" dirty="0"/>
          </a:p>
        </p:txBody>
      </p:sp>
      <p:sp>
        <p:nvSpPr>
          <p:cNvPr id="105" name="Text 100"/>
          <p:cNvSpPr txBox="1"/>
          <p:nvPr/>
        </p:nvSpPr>
        <p:spPr>
          <a:xfrm>
            <a:off x="6951269" y="4193438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</a:t>
            </a:r>
            <a:endParaRPr lang="en-US" sz="1000" dirty="0"/>
          </a:p>
        </p:txBody>
      </p:sp>
      <p:sp>
        <p:nvSpPr>
          <p:cNvPr id="106" name="Text 101"/>
          <p:cNvSpPr txBox="1"/>
          <p:nvPr/>
        </p:nvSpPr>
        <p:spPr>
          <a:xfrm>
            <a:off x="7351776" y="4193438"/>
            <a:ext cx="10625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CoursePolicy</a:t>
            </a:r>
            <a:endParaRPr lang="en-US" sz="1000" dirty="0"/>
          </a:p>
        </p:txBody>
      </p:sp>
      <p:sp>
        <p:nvSpPr>
          <p:cNvPr id="107" name="Text 102"/>
          <p:cNvSpPr txBox="1"/>
          <p:nvPr/>
        </p:nvSpPr>
        <p:spPr>
          <a:xfrm>
            <a:off x="8311896" y="4193438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108" name="Text 103"/>
          <p:cNvSpPr txBox="1"/>
          <p:nvPr/>
        </p:nvSpPr>
        <p:spPr>
          <a:xfrm>
            <a:off x="6951269" y="4407408"/>
            <a:ext cx="13002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function</a:t>
            </a:r>
            <a:endParaRPr lang="en-US" sz="1000" dirty="0"/>
          </a:p>
        </p:txBody>
      </p:sp>
      <p:sp>
        <p:nvSpPr>
          <p:cNvPr id="109" name="Text 104"/>
          <p:cNvSpPr txBox="1"/>
          <p:nvPr/>
        </p:nvSpPr>
        <p:spPr>
          <a:xfrm>
            <a:off x="8151876" y="4407408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</a:t>
            </a:r>
            <a:endParaRPr lang="en-US" sz="1000" dirty="0"/>
          </a:p>
        </p:txBody>
      </p:sp>
      <p:sp>
        <p:nvSpPr>
          <p:cNvPr id="110" name="Text 105"/>
          <p:cNvSpPr txBox="1"/>
          <p:nvPr/>
        </p:nvSpPr>
        <p:spPr>
          <a:xfrm>
            <a:off x="8471916" y="4407408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00" dirty="0"/>
          </a:p>
        </p:txBody>
      </p:sp>
      <p:sp>
        <p:nvSpPr>
          <p:cNvPr id="111" name="Text 106"/>
          <p:cNvSpPr txBox="1"/>
          <p:nvPr/>
        </p:nvSpPr>
        <p:spPr>
          <a:xfrm>
            <a:off x="8551469" y="4407408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endParaRPr lang="en-US" sz="1000" dirty="0"/>
          </a:p>
        </p:txBody>
      </p:sp>
      <p:sp>
        <p:nvSpPr>
          <p:cNvPr id="112" name="Text 107"/>
          <p:cNvSpPr txBox="1"/>
          <p:nvPr/>
        </p:nvSpPr>
        <p:spPr>
          <a:xfrm>
            <a:off x="8871509" y="4407408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$user</a:t>
            </a:r>
            <a:endParaRPr lang="en-US" sz="1000" dirty="0"/>
          </a:p>
        </p:txBody>
      </p:sp>
      <p:sp>
        <p:nvSpPr>
          <p:cNvPr id="113" name="Text 108"/>
          <p:cNvSpPr txBox="1"/>
          <p:nvPr/>
        </p:nvSpPr>
        <p:spPr>
          <a:xfrm>
            <a:off x="9272016" y="4407408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114" name="Text 109"/>
          <p:cNvSpPr txBox="1"/>
          <p:nvPr/>
        </p:nvSpPr>
        <p:spPr>
          <a:xfrm>
            <a:off x="9352483" y="4407408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</a:t>
            </a:r>
            <a:endParaRPr lang="en-US" sz="1000" dirty="0"/>
          </a:p>
        </p:txBody>
      </p:sp>
      <p:sp>
        <p:nvSpPr>
          <p:cNvPr id="115" name="Text 110"/>
          <p:cNvSpPr txBox="1"/>
          <p:nvPr/>
        </p:nvSpPr>
        <p:spPr>
          <a:xfrm>
            <a:off x="9832543" y="4407408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</a:t>
            </a:r>
            <a:endParaRPr lang="en-US" sz="1000" dirty="0"/>
          </a:p>
        </p:txBody>
      </p:sp>
      <p:sp>
        <p:nvSpPr>
          <p:cNvPr id="116" name="Text 111"/>
          <p:cNvSpPr txBox="1"/>
          <p:nvPr/>
        </p:nvSpPr>
        <p:spPr>
          <a:xfrm>
            <a:off x="9992563" y="4407408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117" name="Text 112"/>
          <p:cNvSpPr txBox="1"/>
          <p:nvPr/>
        </p:nvSpPr>
        <p:spPr>
          <a:xfrm>
            <a:off x="10072116" y="4407408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118" name="Text 113"/>
          <p:cNvSpPr txBox="1"/>
          <p:nvPr/>
        </p:nvSpPr>
        <p:spPr>
          <a:xfrm>
            <a:off x="6951269" y="4620463"/>
            <a:ext cx="586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endParaRPr lang="en-US" sz="1000" dirty="0"/>
          </a:p>
        </p:txBody>
      </p:sp>
      <p:sp>
        <p:nvSpPr>
          <p:cNvPr id="119" name="Text 114"/>
          <p:cNvSpPr txBox="1"/>
          <p:nvPr/>
        </p:nvSpPr>
        <p:spPr>
          <a:xfrm>
            <a:off x="7431329" y="4620463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$user</a:t>
            </a:r>
            <a:endParaRPr lang="en-US" sz="1000" dirty="0"/>
          </a:p>
        </p:txBody>
      </p:sp>
      <p:sp>
        <p:nvSpPr>
          <p:cNvPr id="120" name="Text 115"/>
          <p:cNvSpPr txBox="1"/>
          <p:nvPr/>
        </p:nvSpPr>
        <p:spPr>
          <a:xfrm>
            <a:off x="7831836" y="4620463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121" name="Text 116"/>
          <p:cNvSpPr txBox="1"/>
          <p:nvPr/>
        </p:nvSpPr>
        <p:spPr>
          <a:xfrm>
            <a:off x="7991856" y="4620463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endParaRPr lang="en-US" sz="1000" dirty="0"/>
          </a:p>
        </p:txBody>
      </p:sp>
      <p:sp>
        <p:nvSpPr>
          <p:cNvPr id="122" name="Text 117"/>
          <p:cNvSpPr txBox="1"/>
          <p:nvPr/>
        </p:nvSpPr>
        <p:spPr>
          <a:xfrm>
            <a:off x="8151876" y="4620463"/>
            <a:ext cx="3483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===</a:t>
            </a:r>
            <a:endParaRPr lang="en-US" sz="1000" dirty="0"/>
          </a:p>
        </p:txBody>
      </p:sp>
      <p:sp>
        <p:nvSpPr>
          <p:cNvPr id="123" name="Text 118"/>
          <p:cNvSpPr txBox="1"/>
          <p:nvPr/>
        </p:nvSpPr>
        <p:spPr>
          <a:xfrm>
            <a:off x="8392363" y="4620463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</a:t>
            </a:r>
            <a:endParaRPr lang="en-US" sz="1000" dirty="0"/>
          </a:p>
        </p:txBody>
      </p:sp>
      <p:sp>
        <p:nvSpPr>
          <p:cNvPr id="124" name="Text 119"/>
          <p:cNvSpPr txBox="1"/>
          <p:nvPr/>
        </p:nvSpPr>
        <p:spPr>
          <a:xfrm>
            <a:off x="8552383" y="4620463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125" name="Text 120"/>
          <p:cNvSpPr txBox="1"/>
          <p:nvPr/>
        </p:nvSpPr>
        <p:spPr>
          <a:xfrm>
            <a:off x="8712403" y="4620463"/>
            <a:ext cx="9006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created_by</a:t>
            </a:r>
            <a:endParaRPr lang="en-US" sz="1000" dirty="0"/>
          </a:p>
        </p:txBody>
      </p:sp>
      <p:sp>
        <p:nvSpPr>
          <p:cNvPr id="126" name="Text 121"/>
          <p:cNvSpPr txBox="1"/>
          <p:nvPr/>
        </p:nvSpPr>
        <p:spPr>
          <a:xfrm>
            <a:off x="6951269" y="4834433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||</a:t>
            </a:r>
            <a:endParaRPr lang="en-US" sz="1000" dirty="0"/>
          </a:p>
        </p:txBody>
      </p:sp>
      <p:sp>
        <p:nvSpPr>
          <p:cNvPr id="127" name="Text 122"/>
          <p:cNvSpPr txBox="1"/>
          <p:nvPr/>
        </p:nvSpPr>
        <p:spPr>
          <a:xfrm>
            <a:off x="7111289" y="4834433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$user</a:t>
            </a:r>
            <a:endParaRPr lang="en-US" sz="1000" dirty="0"/>
          </a:p>
        </p:txBody>
      </p:sp>
      <p:sp>
        <p:nvSpPr>
          <p:cNvPr id="128" name="Text 123"/>
          <p:cNvSpPr txBox="1"/>
          <p:nvPr/>
        </p:nvSpPr>
        <p:spPr>
          <a:xfrm>
            <a:off x="7511796" y="4834433"/>
            <a:ext cx="262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1000" dirty="0"/>
          </a:p>
        </p:txBody>
      </p:sp>
      <p:sp>
        <p:nvSpPr>
          <p:cNvPr id="129" name="Text 124"/>
          <p:cNvSpPr txBox="1"/>
          <p:nvPr/>
        </p:nvSpPr>
        <p:spPr>
          <a:xfrm>
            <a:off x="7671816" y="4834433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isAdmin</a:t>
            </a:r>
            <a:endParaRPr lang="en-US" sz="1000" dirty="0"/>
          </a:p>
        </p:txBody>
      </p:sp>
      <p:sp>
        <p:nvSpPr>
          <p:cNvPr id="130" name="Text 125"/>
          <p:cNvSpPr txBox="1"/>
          <p:nvPr/>
        </p:nvSpPr>
        <p:spPr>
          <a:xfrm>
            <a:off x="8232343" y="4834433"/>
            <a:ext cx="3483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</a:t>
            </a:r>
            <a:endParaRPr lang="en-US" sz="1000" dirty="0"/>
          </a:p>
        </p:txBody>
      </p:sp>
      <p:sp>
        <p:nvSpPr>
          <p:cNvPr id="131" name="Text 126"/>
          <p:cNvSpPr txBox="1"/>
          <p:nvPr/>
        </p:nvSpPr>
        <p:spPr>
          <a:xfrm>
            <a:off x="6951269" y="5047488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132" name="Text 127"/>
          <p:cNvSpPr txBox="1"/>
          <p:nvPr/>
        </p:nvSpPr>
        <p:spPr>
          <a:xfrm>
            <a:off x="6951269" y="5260543"/>
            <a:ext cx="186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133" name="Text 128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953098" y="-952805"/>
            <a:ext cx="5715000" cy="5715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-476402" y="3047695"/>
            <a:ext cx="4762195" cy="4762195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10375697" y="866851"/>
            <a:ext cx="1152144" cy="333756"/>
          </a:xfrm>
          <a:prstGeom prst="roundRect">
            <a:avLst>
              <a:gd name="adj" fmla="val 62622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10537546" y="966521"/>
            <a:ext cx="142646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757002" y="933602"/>
            <a:ext cx="7104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2.1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666598" y="457200"/>
            <a:ext cx="59344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2.1: Role-Based Access Control</a:t>
            </a:r>
            <a:endParaRPr lang="en-US" sz="2700" dirty="0"/>
          </a:p>
        </p:txBody>
      </p:sp>
      <p:sp>
        <p:nvSpPr>
          <p:cNvPr id="37" name="Text 31"/>
          <p:cNvSpPr txBox="1"/>
          <p:nvPr/>
        </p:nvSpPr>
        <p:spPr>
          <a:xfrm>
            <a:off x="666598" y="961949"/>
            <a:ext cx="29297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Secure Authorization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6598" y="1781251"/>
            <a:ext cx="7181698" cy="4752314"/>
          </a:xfrm>
          <a:prstGeom prst="roundRect">
            <a:avLst>
              <a:gd name="adj" fmla="val 40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1949" y="2053527"/>
            <a:ext cx="171907" cy="13834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61949" y="2409693"/>
            <a:ext cx="6590995" cy="444472"/>
          </a:xfrm>
          <a:prstGeom prst="roundRect">
            <a:avLst>
              <a:gd name="adj" fmla="val 28545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9"/>
          <p:cNvSpPr txBox="1"/>
          <p:nvPr/>
        </p:nvSpPr>
        <p:spPr>
          <a:xfrm>
            <a:off x="1123798" y="2539944"/>
            <a:ext cx="4067251" cy="18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permissions: approve-course and reject-course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61949" y="2977056"/>
            <a:ext cx="6590995" cy="459925"/>
          </a:xfrm>
          <a:prstGeom prst="roundRect">
            <a:avLst>
              <a:gd name="adj" fmla="val 26667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1"/>
          <p:cNvSpPr/>
          <p:nvPr/>
        </p:nvSpPr>
        <p:spPr>
          <a:xfrm>
            <a:off x="1123798" y="3122761"/>
            <a:ext cx="228600" cy="183970"/>
          </a:xfrm>
          <a:prstGeom prst="roundRect">
            <a:avLst>
              <a:gd name="adj" fmla="val 100000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2"/>
          <p:cNvSpPr/>
          <p:nvPr/>
        </p:nvSpPr>
        <p:spPr>
          <a:xfrm>
            <a:off x="961949" y="3559874"/>
            <a:ext cx="6590995" cy="444472"/>
          </a:xfrm>
          <a:prstGeom prst="roundRect">
            <a:avLst>
              <a:gd name="adj" fmla="val 28545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3"/>
          <p:cNvSpPr txBox="1"/>
          <p:nvPr/>
        </p:nvSpPr>
        <p:spPr>
          <a:xfrm>
            <a:off x="1123798" y="3690125"/>
            <a:ext cx="2638958" cy="18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authorization Policy classes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961949" y="4126501"/>
            <a:ext cx="6590995" cy="444472"/>
          </a:xfrm>
          <a:prstGeom prst="roundRect">
            <a:avLst>
              <a:gd name="adj" fmla="val 28545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 txBox="1"/>
          <p:nvPr/>
        </p:nvSpPr>
        <p:spPr>
          <a:xfrm>
            <a:off x="1123798" y="4257488"/>
            <a:ext cx="3010205" cy="18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endpoints using can middleware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961949" y="4693865"/>
            <a:ext cx="6590995" cy="459925"/>
          </a:xfrm>
          <a:prstGeom prst="roundRect">
            <a:avLst>
              <a:gd name="adj" fmla="val 26667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7"/>
          <p:cNvSpPr/>
          <p:nvPr/>
        </p:nvSpPr>
        <p:spPr>
          <a:xfrm>
            <a:off x="1123798" y="4839570"/>
            <a:ext cx="228600" cy="183970"/>
          </a:xfrm>
          <a:prstGeom prst="roundRect">
            <a:avLst>
              <a:gd name="adj" fmla="val 100000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18"/>
          <p:cNvSpPr/>
          <p:nvPr/>
        </p:nvSpPr>
        <p:spPr>
          <a:xfrm>
            <a:off x="961949" y="5276682"/>
            <a:ext cx="6590995" cy="459925"/>
          </a:xfrm>
          <a:prstGeom prst="roundRect">
            <a:avLst>
              <a:gd name="adj" fmla="val 26667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19"/>
          <p:cNvSpPr/>
          <p:nvPr/>
        </p:nvSpPr>
        <p:spPr>
          <a:xfrm>
            <a:off x="1123798" y="5422386"/>
            <a:ext cx="228600" cy="183970"/>
          </a:xfrm>
          <a:prstGeom prst="roundRect">
            <a:avLst>
              <a:gd name="adj" fmla="val 100000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Shape 20"/>
          <p:cNvSpPr/>
          <p:nvPr/>
        </p:nvSpPr>
        <p:spPr>
          <a:xfrm>
            <a:off x="961949" y="5859499"/>
            <a:ext cx="6590995" cy="559269"/>
          </a:xfrm>
          <a:prstGeom prst="roundRect">
            <a:avLst>
              <a:gd name="adj" fmla="val 14420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1"/>
          <p:cNvSpPr txBox="1"/>
          <p:nvPr/>
        </p:nvSpPr>
        <p:spPr>
          <a:xfrm>
            <a:off x="1123798" y="5989750"/>
            <a:ext cx="6360566" cy="299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Tip: Use php artisan make:policy CoursePolicy --model=Course to generate a policy class linked to a model.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8355787" y="1782774"/>
            <a:ext cx="3295498" cy="2598393"/>
          </a:xfrm>
          <a:prstGeom prst="roundRect">
            <a:avLst>
              <a:gd name="adj" fmla="val 1002"/>
            </a:avLst>
          </a:prstGeom>
          <a:solidFill>
            <a:srgbClr val="EC4899">
              <a:alpha val="5000"/>
            </a:srgbClr>
          </a:solidFill>
          <a:ln w="12700">
            <a:solidFill>
              <a:srgbClr val="EC489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93531" y="2005009"/>
            <a:ext cx="152705" cy="12289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822131" y="1974103"/>
            <a:ext cx="1219810" cy="18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72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Objectives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355787" y="4561457"/>
            <a:ext cx="3295498" cy="858772"/>
          </a:xfrm>
          <a:prstGeom prst="roundRect">
            <a:avLst>
              <a:gd name="adj" fmla="val 918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27"/>
          <p:cNvSpPr/>
          <p:nvPr/>
        </p:nvSpPr>
        <p:spPr>
          <a:xfrm>
            <a:off x="8593531" y="5028741"/>
            <a:ext cx="666598" cy="199423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28"/>
          <p:cNvSpPr/>
          <p:nvPr/>
        </p:nvSpPr>
        <p:spPr>
          <a:xfrm>
            <a:off x="9329623" y="5028741"/>
            <a:ext cx="800100" cy="199423"/>
          </a:xfrm>
          <a:prstGeom prst="roundRect">
            <a:avLst>
              <a:gd name="adj" fmla="val 56770"/>
            </a:avLst>
          </a:prstGeom>
          <a:solidFill>
            <a:srgbClr val="831843">
              <a:alpha val="50000"/>
            </a:srgbClr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29"/>
          <p:cNvSpPr/>
          <p:nvPr/>
        </p:nvSpPr>
        <p:spPr>
          <a:xfrm>
            <a:off x="10201961" y="5028741"/>
            <a:ext cx="942746" cy="199423"/>
          </a:xfrm>
          <a:prstGeom prst="roundRect">
            <a:avLst>
              <a:gd name="adj" fmla="val 56770"/>
            </a:avLst>
          </a:prstGeom>
          <a:solidFill>
            <a:srgbClr val="312E81">
              <a:alpha val="5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2"/>
          <p:cNvSpPr txBox="1"/>
          <p:nvPr/>
        </p:nvSpPr>
        <p:spPr>
          <a:xfrm>
            <a:off x="1228954" y="2041753"/>
            <a:ext cx="1433779" cy="161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Checklist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1505102" y="3122761"/>
            <a:ext cx="3115361" cy="15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defined permissions to User Roles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1505102" y="4839570"/>
            <a:ext cx="3543300" cy="15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permission-protected endpoint logic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1505102" y="5422386"/>
            <a:ext cx="3905402" cy="15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endpoints with authorized &amp; unauthorized users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8593531" y="4760145"/>
            <a:ext cx="1014984" cy="130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8717889" y="5075102"/>
            <a:ext cx="505663" cy="107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Spatie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9453067" y="5075102"/>
            <a:ext cx="638251" cy="107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9A8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Policies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10325405" y="5075102"/>
            <a:ext cx="781812" cy="107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Middleware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8784641" y="2265511"/>
            <a:ext cx="1901038" cy="130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RBAC security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8784641" y="2503200"/>
            <a:ext cx="1586484" cy="130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Securing API Endpoints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8784641" y="2740889"/>
            <a:ext cx="1957730" cy="130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Writing Authorization Policies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10371582" y="6646999"/>
            <a:ext cx="1733702" cy="107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4990795" y="-952805"/>
            <a:ext cx="4762195" cy="4762195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1218895" y="4000500"/>
            <a:ext cx="4286707" cy="4286707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66598" y="4359859"/>
            <a:ext cx="2572207" cy="2029054"/>
          </a:xfrm>
          <a:prstGeom prst="roundRect">
            <a:avLst>
              <a:gd name="adj" fmla="val 253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866851" y="456011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2007" y="4664354"/>
            <a:ext cx="171907" cy="17190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29000" y="4359859"/>
            <a:ext cx="2572207" cy="2029054"/>
          </a:xfrm>
          <a:prstGeom prst="roundRect">
            <a:avLst>
              <a:gd name="adj" fmla="val 253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8"/>
          <p:cNvSpPr/>
          <p:nvPr/>
        </p:nvSpPr>
        <p:spPr>
          <a:xfrm>
            <a:off x="3629254" y="456011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33495" y="4664354"/>
            <a:ext cx="171907" cy="17190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191402" y="4359859"/>
            <a:ext cx="2572207" cy="2029054"/>
          </a:xfrm>
          <a:prstGeom prst="roundRect">
            <a:avLst>
              <a:gd name="adj" fmla="val 253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0"/>
          <p:cNvSpPr/>
          <p:nvPr/>
        </p:nvSpPr>
        <p:spPr>
          <a:xfrm>
            <a:off x="6391656" y="456011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6472123" y="4664354"/>
            <a:ext cx="219456" cy="17190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953805" y="4359859"/>
            <a:ext cx="2572207" cy="2029054"/>
          </a:xfrm>
          <a:prstGeom prst="roundRect">
            <a:avLst>
              <a:gd name="adj" fmla="val 253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2"/>
          <p:cNvSpPr/>
          <p:nvPr/>
        </p:nvSpPr>
        <p:spPr>
          <a:xfrm>
            <a:off x="9153144" y="456011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C4899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58300" y="4664354"/>
            <a:ext cx="171907" cy="17190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6598" y="457200"/>
            <a:ext cx="37152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Layer Pattern</a:t>
            </a:r>
            <a:endParaRPr lang="en-US" sz="2700" dirty="0"/>
          </a:p>
        </p:txBody>
      </p:sp>
      <p:sp>
        <p:nvSpPr>
          <p:cNvPr id="20" name="Text 14"/>
          <p:cNvSpPr txBox="1"/>
          <p:nvPr/>
        </p:nvSpPr>
        <p:spPr>
          <a:xfrm>
            <a:off x="666598" y="961949"/>
            <a:ext cx="34344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Separation of Concerns &amp; Business Logic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866851" y="5064862"/>
            <a:ext cx="878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Reusability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866851" y="5336438"/>
            <a:ext cx="22082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the same service logic from API controllers, web forms, CLI commands, or jobs without duplication.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3629254" y="5064862"/>
            <a:ext cx="83119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Testability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3629254" y="5336438"/>
            <a:ext cx="221742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 business logic in services for easier unit testing without mocking HTTP requests.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6391656" y="5064862"/>
            <a:ext cx="89794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Decoupling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391656" y="5336438"/>
            <a:ext cx="219821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controllers "skinny" by removing complex logic. Controllers only handle input/output.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9153144" y="5064862"/>
            <a:ext cx="13935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Atomic Operations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9153144" y="5336438"/>
            <a:ext cx="222656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 complex multi-step operations in database transactions within the service method.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66598" y="1686154"/>
            <a:ext cx="10858500" cy="2447849"/>
          </a:xfrm>
          <a:prstGeom prst="roundRect">
            <a:avLst>
              <a:gd name="adj" fmla="val 232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4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24051" y="2670048"/>
            <a:ext cx="228600" cy="228600"/>
          </a:xfrm>
          <a:prstGeom prst="rect">
            <a:avLst/>
          </a:prstGeom>
        </p:spPr>
      </p:pic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639044" y="2670048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168603" y="2984602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/ Web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10553090" y="2984602"/>
            <a:ext cx="4956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1819656" y="2908706"/>
            <a:ext cx="857707" cy="1920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 l="-3120" r="-3120"/>
          <a:stretch/>
        </p:blipFill>
        <p:spPr>
          <a:xfrm>
            <a:off x="2595982" y="2851099"/>
            <a:ext cx="75895" cy="1143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671877" y="2242109"/>
            <a:ext cx="1714500" cy="1333195"/>
          </a:xfrm>
          <a:prstGeom prst="roundRect">
            <a:avLst>
              <a:gd name="adj" fmla="val 5879"/>
            </a:avLst>
          </a:prstGeom>
          <a:solidFill>
            <a:srgbClr val="1E293B">
              <a:alpha val="80000"/>
            </a:srgbClr>
          </a:solidFill>
          <a:ln w="508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Shape 29"/>
          <p:cNvSpPr/>
          <p:nvPr/>
        </p:nvSpPr>
        <p:spPr>
          <a:xfrm>
            <a:off x="3300070" y="2470709"/>
            <a:ext cx="457200" cy="256946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433572" y="2500884"/>
            <a:ext cx="190195" cy="19019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3156509" y="2855671"/>
            <a:ext cx="8668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3083357" y="3102559"/>
            <a:ext cx="97475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&amp; HTTP Transport</a:t>
            </a:r>
            <a:endParaRPr lang="en-US" sz="800" dirty="0"/>
          </a:p>
        </p:txBody>
      </p:sp>
      <p:sp>
        <p:nvSpPr>
          <p:cNvPr id="42" name="Shape 32"/>
          <p:cNvSpPr/>
          <p:nvPr/>
        </p:nvSpPr>
        <p:spPr>
          <a:xfrm>
            <a:off x="4386377" y="2908706"/>
            <a:ext cx="857707" cy="1920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9"/>
          <a:srcRect l="-3120" r="-3120"/>
          <a:stretch/>
        </p:blipFill>
        <p:spPr>
          <a:xfrm>
            <a:off x="5162702" y="2851099"/>
            <a:ext cx="75895" cy="114300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6953098" y="2908706"/>
            <a:ext cx="857707" cy="1920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9"/>
          <a:srcRect l="-3120" r="-3120"/>
          <a:stretch/>
        </p:blipFill>
        <p:spPr>
          <a:xfrm>
            <a:off x="7729423" y="2851099"/>
            <a:ext cx="75895" cy="114300"/>
          </a:xfrm>
          <a:prstGeom prst="rect">
            <a:avLst/>
          </a:prstGeom>
        </p:spPr>
      </p:pic>
      <p:sp>
        <p:nvSpPr>
          <p:cNvPr id="46" name="Shape 34"/>
          <p:cNvSpPr/>
          <p:nvPr/>
        </p:nvSpPr>
        <p:spPr>
          <a:xfrm>
            <a:off x="7805318" y="2242109"/>
            <a:ext cx="1714500" cy="1333195"/>
          </a:xfrm>
          <a:prstGeom prst="roundRect">
            <a:avLst>
              <a:gd name="adj" fmla="val 5879"/>
            </a:avLst>
          </a:prstGeom>
          <a:solidFill>
            <a:srgbClr val="1E293B">
              <a:alpha val="80000"/>
            </a:srgbClr>
          </a:solidFill>
          <a:ln w="508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7" name="Shape 35"/>
          <p:cNvSpPr/>
          <p:nvPr/>
        </p:nvSpPr>
        <p:spPr>
          <a:xfrm>
            <a:off x="8434426" y="2470709"/>
            <a:ext cx="457200" cy="390449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1"/>
          <a:srcRect l="-1648" r="-1648"/>
          <a:stretch/>
        </p:blipFill>
        <p:spPr>
          <a:xfrm>
            <a:off x="8577072" y="2568550"/>
            <a:ext cx="171907" cy="190195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8430768" y="2991002"/>
            <a:ext cx="581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1200" dirty="0"/>
          </a:p>
        </p:txBody>
      </p:sp>
      <p:sp>
        <p:nvSpPr>
          <p:cNvPr id="50" name="Text 37"/>
          <p:cNvSpPr txBox="1"/>
          <p:nvPr/>
        </p:nvSpPr>
        <p:spPr>
          <a:xfrm>
            <a:off x="8016545" y="3238805"/>
            <a:ext cx="13743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Structure &amp; Relations</a:t>
            </a:r>
            <a:endParaRPr lang="en-US" sz="800" dirty="0"/>
          </a:p>
        </p:txBody>
      </p:sp>
      <p:sp>
        <p:nvSpPr>
          <p:cNvPr id="51" name="Shape 38"/>
          <p:cNvSpPr/>
          <p:nvPr/>
        </p:nvSpPr>
        <p:spPr>
          <a:xfrm>
            <a:off x="9519818" y="2908706"/>
            <a:ext cx="857707" cy="1920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9"/>
          <a:srcRect l="-3120" r="-3120"/>
          <a:stretch/>
        </p:blipFill>
        <p:spPr>
          <a:xfrm>
            <a:off x="10296144" y="2851099"/>
            <a:ext cx="75895" cy="114300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1902866" y="2789834"/>
            <a:ext cx="685800" cy="237744"/>
          </a:xfrm>
          <a:prstGeom prst="roundRect">
            <a:avLst>
              <a:gd name="adj" fmla="val 184615"/>
            </a:avLst>
          </a:prstGeom>
          <a:solidFill>
            <a:srgbClr val="0F172A"/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 40"/>
          <p:cNvSpPr txBox="1"/>
          <p:nvPr/>
        </p:nvSpPr>
        <p:spPr>
          <a:xfrm>
            <a:off x="2008022" y="2846527"/>
            <a:ext cx="553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</a:t>
            </a:r>
            <a:endParaRPr lang="en-US" sz="800" dirty="0"/>
          </a:p>
        </p:txBody>
      </p:sp>
      <p:sp>
        <p:nvSpPr>
          <p:cNvPr id="55" name="Shape 41"/>
          <p:cNvSpPr/>
          <p:nvPr/>
        </p:nvSpPr>
        <p:spPr>
          <a:xfrm>
            <a:off x="4544568" y="2789834"/>
            <a:ext cx="543154" cy="237744"/>
          </a:xfrm>
          <a:prstGeom prst="roundRect">
            <a:avLst>
              <a:gd name="adj" fmla="val 184615"/>
            </a:avLst>
          </a:prstGeom>
          <a:solidFill>
            <a:srgbClr val="0F172A"/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Text 42"/>
          <p:cNvSpPr txBox="1"/>
          <p:nvPr/>
        </p:nvSpPr>
        <p:spPr>
          <a:xfrm>
            <a:off x="4649724" y="2846527"/>
            <a:ext cx="4096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</a:t>
            </a:r>
            <a:endParaRPr lang="en-US" sz="800" dirty="0"/>
          </a:p>
        </p:txBody>
      </p:sp>
      <p:sp>
        <p:nvSpPr>
          <p:cNvPr id="57" name="Shape 43"/>
          <p:cNvSpPr/>
          <p:nvPr/>
        </p:nvSpPr>
        <p:spPr>
          <a:xfrm>
            <a:off x="7139635" y="2789834"/>
            <a:ext cx="485546" cy="237744"/>
          </a:xfrm>
          <a:prstGeom prst="roundRect">
            <a:avLst>
              <a:gd name="adj" fmla="val 184615"/>
            </a:avLst>
          </a:prstGeom>
          <a:solidFill>
            <a:srgbClr val="0F172A"/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Text 44"/>
          <p:cNvSpPr txBox="1"/>
          <p:nvPr/>
        </p:nvSpPr>
        <p:spPr>
          <a:xfrm>
            <a:off x="7244791" y="2846527"/>
            <a:ext cx="352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</a:t>
            </a:r>
            <a:endParaRPr lang="en-US" sz="800" dirty="0"/>
          </a:p>
        </p:txBody>
      </p:sp>
      <p:sp>
        <p:nvSpPr>
          <p:cNvPr id="59" name="Shape 45"/>
          <p:cNvSpPr/>
          <p:nvPr/>
        </p:nvSpPr>
        <p:spPr>
          <a:xfrm>
            <a:off x="9630461" y="2789834"/>
            <a:ext cx="638251" cy="237744"/>
          </a:xfrm>
          <a:prstGeom prst="roundRect">
            <a:avLst>
              <a:gd name="adj" fmla="val 184615"/>
            </a:avLst>
          </a:prstGeom>
          <a:solidFill>
            <a:srgbClr val="0F172A"/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Text 46"/>
          <p:cNvSpPr txBox="1"/>
          <p:nvPr/>
        </p:nvSpPr>
        <p:spPr>
          <a:xfrm>
            <a:off x="9735617" y="2846527"/>
            <a:ext cx="505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</a:t>
            </a:r>
            <a:endParaRPr lang="en-US" sz="800" dirty="0"/>
          </a:p>
        </p:txBody>
      </p:sp>
      <p:sp>
        <p:nvSpPr>
          <p:cNvPr id="61" name="Shape 47"/>
          <p:cNvSpPr/>
          <p:nvPr/>
        </p:nvSpPr>
        <p:spPr>
          <a:xfrm>
            <a:off x="5152644" y="2175358"/>
            <a:ext cx="1886407" cy="1466698"/>
          </a:xfrm>
          <a:prstGeom prst="roundRect">
            <a:avLst>
              <a:gd name="adj" fmla="val 4858"/>
            </a:avLst>
          </a:prstGeom>
          <a:solidFill>
            <a:srgbClr val="1E293B">
              <a:alpha val="95000"/>
            </a:srgbClr>
          </a:solidFill>
          <a:ln w="50800">
            <a:solidFill>
              <a:srgbClr val="F59E0B">
                <a:alpha val="30000"/>
              </a:srgbClr>
            </a:solidFill>
            <a:prstDash val="solid"/>
          </a:ln>
          <a:effectLst>
            <a:outerShdw blurRad="2413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2" name="Shape 48"/>
          <p:cNvSpPr/>
          <p:nvPr/>
        </p:nvSpPr>
        <p:spPr>
          <a:xfrm>
            <a:off x="5844845" y="2426818"/>
            <a:ext cx="504749" cy="286207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12"/>
          <a:srcRect t="-310" b="-310"/>
          <a:stretch/>
        </p:blipFill>
        <p:spPr>
          <a:xfrm>
            <a:off x="5949086" y="2449678"/>
            <a:ext cx="295351" cy="237744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5783580" y="2850185"/>
            <a:ext cx="7434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endParaRPr lang="en-US" sz="1200" dirty="0"/>
          </a:p>
        </p:txBody>
      </p:sp>
      <p:sp>
        <p:nvSpPr>
          <p:cNvPr id="65" name="Text 50"/>
          <p:cNvSpPr txBox="1"/>
          <p:nvPr/>
        </p:nvSpPr>
        <p:spPr>
          <a:xfrm>
            <a:off x="5632704" y="3122676"/>
            <a:ext cx="101224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Rules &amp; Transactions</a:t>
            </a:r>
            <a:endParaRPr lang="en-US" sz="800" dirty="0"/>
          </a:p>
        </p:txBody>
      </p:sp>
      <p:sp>
        <p:nvSpPr>
          <p:cNvPr id="66" name="Text 51"/>
          <p:cNvSpPr txBox="1"/>
          <p:nvPr/>
        </p:nvSpPr>
        <p:spPr>
          <a:xfrm>
            <a:off x="5965546" y="2154326"/>
            <a:ext cx="12198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LOGIC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210605" y="-952805"/>
            <a:ext cx="4762195" cy="476219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09905" y="4000500"/>
            <a:ext cx="4286707" cy="4286707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61695" y="1390802"/>
            <a:ext cx="106683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Shape 18"/>
          <p:cNvSpPr/>
          <p:nvPr/>
        </p:nvSpPr>
        <p:spPr>
          <a:xfrm>
            <a:off x="5737860" y="2348179"/>
            <a:ext cx="9144" cy="522945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Text 21"/>
          <p:cNvSpPr txBox="1"/>
          <p:nvPr/>
        </p:nvSpPr>
        <p:spPr>
          <a:xfrm>
            <a:off x="761695" y="457200"/>
            <a:ext cx="39346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Layer Example</a:t>
            </a:r>
            <a:endParaRPr lang="en-US" sz="2700" dirty="0"/>
          </a:p>
        </p:txBody>
      </p:sp>
      <p:sp>
        <p:nvSpPr>
          <p:cNvPr id="27" name="Text 22"/>
          <p:cNvSpPr txBox="1"/>
          <p:nvPr/>
        </p:nvSpPr>
        <p:spPr>
          <a:xfrm>
            <a:off x="761695" y="961949"/>
            <a:ext cx="43388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Encapsulating complex business logic &amp; transactions</a:t>
            </a:r>
            <a:endParaRPr lang="en-US" sz="1300" dirty="0"/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73C6D5D0-85A2-7497-E7F6-C43E963257E5}"/>
              </a:ext>
            </a:extLst>
          </p:cNvPr>
          <p:cNvGrpSpPr/>
          <p:nvPr/>
        </p:nvGrpSpPr>
        <p:grpSpPr>
          <a:xfrm>
            <a:off x="761695" y="1686154"/>
            <a:ext cx="11182198" cy="5162354"/>
            <a:chOff x="761695" y="1686154"/>
            <a:chExt cx="11182198" cy="5828443"/>
          </a:xfrm>
        </p:grpSpPr>
        <p:sp>
          <p:nvSpPr>
            <p:cNvPr id="7" name="Shape 5"/>
            <p:cNvSpPr/>
            <p:nvPr/>
          </p:nvSpPr>
          <p:spPr>
            <a:xfrm>
              <a:off x="761695" y="1686154"/>
              <a:ext cx="4162349" cy="4993670"/>
            </a:xfrm>
            <a:prstGeom prst="roundRect">
              <a:avLst>
                <a:gd name="adj" fmla="val 804"/>
              </a:avLst>
            </a:prstGeom>
            <a:solidFill>
              <a:srgbClr val="0F172A">
                <a:alpha val="80000"/>
              </a:srgbClr>
            </a:solidFill>
            <a:ln w="12700">
              <a:solidFill>
                <a:srgbClr val="94A3B8">
                  <a:alpha val="20000"/>
                </a:srgbClr>
              </a:solidFill>
              <a:prstDash val="solid"/>
            </a:ln>
            <a:effectLst>
              <a:outerShdw blurRad="292100" dist="101600" dir="54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Shape 6"/>
            <p:cNvSpPr/>
            <p:nvPr/>
          </p:nvSpPr>
          <p:spPr>
            <a:xfrm>
              <a:off x="771754" y="1695298"/>
              <a:ext cx="4143146" cy="428854"/>
            </a:xfrm>
            <a:prstGeom prst="rect">
              <a:avLst/>
            </a:prstGeom>
            <a:solidFill>
              <a:srgbClr val="1E293B">
                <a:alpha val="5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9" name="Shape 7"/>
            <p:cNvSpPr/>
            <p:nvPr/>
          </p:nvSpPr>
          <p:spPr>
            <a:xfrm>
              <a:off x="771754" y="2115007"/>
              <a:ext cx="4143146" cy="9144"/>
            </a:xfrm>
            <a:prstGeom prst="rect">
              <a:avLst/>
            </a:prstGeom>
            <a:solidFill>
              <a:srgbClr val="94A3B8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10" name="Image 0" descr="preencoded.png"/>
            <p:cNvPicPr>
              <a:picLocks noChangeAspect="1"/>
            </p:cNvPicPr>
            <p:nvPr/>
          </p:nvPicPr>
          <p:blipFill>
            <a:blip r:embed="rId3"/>
            <a:srcRect l="-1507" r="-1507"/>
            <a:stretch/>
          </p:blipFill>
          <p:spPr>
            <a:xfrm>
              <a:off x="961949" y="1836115"/>
              <a:ext cx="171907" cy="133502"/>
            </a:xfrm>
            <a:prstGeom prst="rect">
              <a:avLst/>
            </a:prstGeom>
          </p:spPr>
        </p:pic>
        <p:sp>
          <p:nvSpPr>
            <p:cNvPr id="11" name="Shape 8"/>
            <p:cNvSpPr/>
            <p:nvPr/>
          </p:nvSpPr>
          <p:spPr>
            <a:xfrm>
              <a:off x="4318711" y="1855318"/>
              <a:ext cx="95098" cy="95098"/>
            </a:xfrm>
            <a:prstGeom prst="ellipse">
              <a:avLst/>
            </a:prstGeom>
            <a:solidFill>
              <a:srgbClr val="EF4444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12" name="Shape 9"/>
            <p:cNvSpPr/>
            <p:nvPr/>
          </p:nvSpPr>
          <p:spPr>
            <a:xfrm>
              <a:off x="4471416" y="1855318"/>
              <a:ext cx="95098" cy="95098"/>
            </a:xfrm>
            <a:prstGeom prst="ellipse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Shape 10"/>
            <p:cNvSpPr/>
            <p:nvPr/>
          </p:nvSpPr>
          <p:spPr>
            <a:xfrm>
              <a:off x="4623206" y="1855318"/>
              <a:ext cx="95098" cy="95098"/>
            </a:xfrm>
            <a:prstGeom prst="ellipse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Shape 11"/>
            <p:cNvSpPr/>
            <p:nvPr/>
          </p:nvSpPr>
          <p:spPr>
            <a:xfrm>
              <a:off x="1295705" y="2348179"/>
              <a:ext cx="9144" cy="3267151"/>
            </a:xfrm>
            <a:prstGeom prst="rect">
              <a:avLst/>
            </a:prstGeom>
            <a:solidFill>
              <a:srgbClr val="94A3B8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Shape 12"/>
            <p:cNvSpPr/>
            <p:nvPr/>
          </p:nvSpPr>
          <p:spPr>
            <a:xfrm>
              <a:off x="5204765" y="1686154"/>
              <a:ext cx="6229807" cy="4993670"/>
            </a:xfrm>
            <a:prstGeom prst="roundRect">
              <a:avLst>
                <a:gd name="adj" fmla="val 632"/>
              </a:avLst>
            </a:prstGeom>
            <a:solidFill>
              <a:srgbClr val="0F172A">
                <a:alpha val="80000"/>
              </a:srgbClr>
            </a:solidFill>
            <a:ln w="12700">
              <a:solidFill>
                <a:srgbClr val="94A3B8">
                  <a:alpha val="20000"/>
                </a:srgbClr>
              </a:solidFill>
              <a:prstDash val="solid"/>
            </a:ln>
            <a:effectLst>
              <a:outerShdw blurRad="292100" dist="101600" dir="54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Shape 13"/>
            <p:cNvSpPr/>
            <p:nvPr/>
          </p:nvSpPr>
          <p:spPr>
            <a:xfrm>
              <a:off x="5213909" y="1695298"/>
              <a:ext cx="6210605" cy="428854"/>
            </a:xfrm>
            <a:prstGeom prst="rect">
              <a:avLst/>
            </a:prstGeom>
            <a:solidFill>
              <a:srgbClr val="1E293B">
                <a:alpha val="5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Shape 14"/>
            <p:cNvSpPr/>
            <p:nvPr/>
          </p:nvSpPr>
          <p:spPr>
            <a:xfrm>
              <a:off x="5213909" y="2115007"/>
              <a:ext cx="6210605" cy="9144"/>
            </a:xfrm>
            <a:prstGeom prst="rect">
              <a:avLst/>
            </a:prstGeom>
            <a:solidFill>
              <a:srgbClr val="94A3B8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18" name="Image 1" descr="preencoded.png"/>
            <p:cNvPicPr>
              <a:picLocks noChangeAspect="1"/>
            </p:cNvPicPr>
            <p:nvPr/>
          </p:nvPicPr>
          <p:blipFill>
            <a:blip r:embed="rId3"/>
            <a:srcRect l="-1507" r="-1507"/>
            <a:stretch/>
          </p:blipFill>
          <p:spPr>
            <a:xfrm>
              <a:off x="5404104" y="1836115"/>
              <a:ext cx="171907" cy="133502"/>
            </a:xfrm>
            <a:prstGeom prst="rect">
              <a:avLst/>
            </a:prstGeom>
          </p:spPr>
        </p:pic>
        <p:sp>
          <p:nvSpPr>
            <p:cNvPr id="19" name="Shape 15"/>
            <p:cNvSpPr/>
            <p:nvPr/>
          </p:nvSpPr>
          <p:spPr>
            <a:xfrm>
              <a:off x="10830154" y="1855318"/>
              <a:ext cx="95098" cy="95098"/>
            </a:xfrm>
            <a:prstGeom prst="ellipse">
              <a:avLst/>
            </a:prstGeom>
            <a:solidFill>
              <a:srgbClr val="EF4444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Shape 16"/>
            <p:cNvSpPr/>
            <p:nvPr/>
          </p:nvSpPr>
          <p:spPr>
            <a:xfrm>
              <a:off x="10981944" y="1855318"/>
              <a:ext cx="95098" cy="95098"/>
            </a:xfrm>
            <a:prstGeom prst="ellipse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Shape 17"/>
            <p:cNvSpPr/>
            <p:nvPr/>
          </p:nvSpPr>
          <p:spPr>
            <a:xfrm>
              <a:off x="11134649" y="1855318"/>
              <a:ext cx="95098" cy="95098"/>
            </a:xfrm>
            <a:prstGeom prst="ellipse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Shape 19"/>
            <p:cNvSpPr/>
            <p:nvPr/>
          </p:nvSpPr>
          <p:spPr>
            <a:xfrm>
              <a:off x="5894222" y="6791249"/>
              <a:ext cx="5305349" cy="590702"/>
            </a:xfrm>
            <a:prstGeom prst="rect">
              <a:avLst/>
            </a:prstGeom>
            <a:solidFill>
              <a:srgbClr val="10B981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Shape 20"/>
            <p:cNvSpPr/>
            <p:nvPr/>
          </p:nvSpPr>
          <p:spPr>
            <a:xfrm>
              <a:off x="5894222" y="6791249"/>
              <a:ext cx="28346" cy="590702"/>
            </a:xfrm>
            <a:prstGeom prst="rect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25" name="Image 2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065215" y="7023506"/>
              <a:ext cx="123444" cy="123444"/>
            </a:xfrm>
            <a:prstGeom prst="rect">
              <a:avLst/>
            </a:prstGeom>
          </p:spPr>
        </p:pic>
        <p:sp>
          <p:nvSpPr>
            <p:cNvPr id="28" name="Text 23"/>
            <p:cNvSpPr txBox="1"/>
            <p:nvPr/>
          </p:nvSpPr>
          <p:spPr>
            <a:xfrm>
              <a:off x="1228954" y="1819656"/>
              <a:ext cx="299831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BD5E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app/Http/Controllers/JoinController.php</a:t>
              </a:r>
              <a:endParaRPr lang="en-US" sz="900" dirty="0"/>
            </a:p>
          </p:txBody>
        </p:sp>
        <p:sp>
          <p:nvSpPr>
            <p:cNvPr id="29" name="Text 24"/>
            <p:cNvSpPr txBox="1"/>
            <p:nvPr/>
          </p:nvSpPr>
          <p:spPr>
            <a:xfrm>
              <a:off x="1000354" y="2367382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24</a:t>
              </a:r>
              <a:endParaRPr lang="en-US" sz="900" dirty="0"/>
            </a:p>
          </p:txBody>
        </p:sp>
        <p:sp>
          <p:nvSpPr>
            <p:cNvPr id="30" name="Text 25"/>
            <p:cNvSpPr txBox="1"/>
            <p:nvPr/>
          </p:nvSpPr>
          <p:spPr>
            <a:xfrm>
              <a:off x="1000354" y="2561234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25</a:t>
              </a:r>
              <a:endParaRPr lang="en-US" sz="900" dirty="0"/>
            </a:p>
          </p:txBody>
        </p:sp>
        <p:sp>
          <p:nvSpPr>
            <p:cNvPr id="31" name="Text 26"/>
            <p:cNvSpPr txBox="1"/>
            <p:nvPr/>
          </p:nvSpPr>
          <p:spPr>
            <a:xfrm>
              <a:off x="1000354" y="2756002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26</a:t>
              </a:r>
              <a:endParaRPr lang="en-US" sz="900" dirty="0"/>
            </a:p>
          </p:txBody>
        </p:sp>
        <p:sp>
          <p:nvSpPr>
            <p:cNvPr id="32" name="Text 27"/>
            <p:cNvSpPr txBox="1"/>
            <p:nvPr/>
          </p:nvSpPr>
          <p:spPr>
            <a:xfrm>
              <a:off x="1000354" y="2949854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27</a:t>
              </a:r>
              <a:endParaRPr lang="en-US" sz="900" dirty="0"/>
            </a:p>
          </p:txBody>
        </p:sp>
        <p:sp>
          <p:nvSpPr>
            <p:cNvPr id="33" name="Text 28"/>
            <p:cNvSpPr txBox="1"/>
            <p:nvPr/>
          </p:nvSpPr>
          <p:spPr>
            <a:xfrm>
              <a:off x="1000354" y="3144622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28</a:t>
              </a:r>
              <a:endParaRPr lang="en-US" sz="900" dirty="0"/>
            </a:p>
          </p:txBody>
        </p:sp>
        <p:sp>
          <p:nvSpPr>
            <p:cNvPr id="34" name="Text 29"/>
            <p:cNvSpPr txBox="1"/>
            <p:nvPr/>
          </p:nvSpPr>
          <p:spPr>
            <a:xfrm>
              <a:off x="1000354" y="3338474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29</a:t>
              </a:r>
              <a:endParaRPr lang="en-US" sz="900" dirty="0"/>
            </a:p>
          </p:txBody>
        </p:sp>
        <p:sp>
          <p:nvSpPr>
            <p:cNvPr id="35" name="Text 30"/>
            <p:cNvSpPr txBox="1"/>
            <p:nvPr/>
          </p:nvSpPr>
          <p:spPr>
            <a:xfrm>
              <a:off x="1000354" y="3533242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36" name="Text 31"/>
            <p:cNvSpPr txBox="1"/>
            <p:nvPr/>
          </p:nvSpPr>
          <p:spPr>
            <a:xfrm>
              <a:off x="1000354" y="3727094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31</a:t>
              </a:r>
              <a:endParaRPr lang="en-US" sz="900" dirty="0"/>
            </a:p>
          </p:txBody>
        </p:sp>
        <p:sp>
          <p:nvSpPr>
            <p:cNvPr id="37" name="Text 32"/>
            <p:cNvSpPr txBox="1"/>
            <p:nvPr/>
          </p:nvSpPr>
          <p:spPr>
            <a:xfrm>
              <a:off x="1000354" y="3921862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32</a:t>
              </a:r>
              <a:endParaRPr lang="en-US" sz="900" dirty="0"/>
            </a:p>
          </p:txBody>
        </p:sp>
        <p:sp>
          <p:nvSpPr>
            <p:cNvPr id="38" name="Text 33"/>
            <p:cNvSpPr txBox="1"/>
            <p:nvPr/>
          </p:nvSpPr>
          <p:spPr>
            <a:xfrm>
              <a:off x="1000354" y="4116629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33</a:t>
              </a:r>
              <a:endParaRPr lang="en-US" sz="900" dirty="0"/>
            </a:p>
          </p:txBody>
        </p:sp>
        <p:sp>
          <p:nvSpPr>
            <p:cNvPr id="39" name="Text 34"/>
            <p:cNvSpPr txBox="1"/>
            <p:nvPr/>
          </p:nvSpPr>
          <p:spPr>
            <a:xfrm>
              <a:off x="1000354" y="4310482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34</a:t>
              </a:r>
              <a:endParaRPr lang="en-US" sz="900" dirty="0"/>
            </a:p>
          </p:txBody>
        </p:sp>
        <p:sp>
          <p:nvSpPr>
            <p:cNvPr id="40" name="Text 35"/>
            <p:cNvSpPr txBox="1"/>
            <p:nvPr/>
          </p:nvSpPr>
          <p:spPr>
            <a:xfrm>
              <a:off x="1000354" y="4505249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41" name="Shape 36"/>
            <p:cNvSpPr/>
            <p:nvPr/>
          </p:nvSpPr>
          <p:spPr>
            <a:xfrm>
              <a:off x="1452067" y="2348179"/>
              <a:ext cx="1238098" cy="267005"/>
            </a:xfrm>
            <a:prstGeom prst="roundRect">
              <a:avLst>
                <a:gd name="adj" fmla="val 48924"/>
              </a:avLst>
            </a:prstGeom>
            <a:solidFill>
              <a:srgbClr val="3B82F6">
                <a:alpha val="15000"/>
              </a:srgbClr>
            </a:solidFill>
            <a:ln w="12700">
              <a:solidFill>
                <a:srgbClr val="3B82F6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42" name="Text 37"/>
            <p:cNvSpPr txBox="1"/>
            <p:nvPr/>
          </p:nvSpPr>
          <p:spPr>
            <a:xfrm>
              <a:off x="1556309" y="2404872"/>
              <a:ext cx="1107338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THIN CONTROLLER</a:t>
              </a:r>
              <a:endParaRPr lang="en-US" sz="800" dirty="0"/>
            </a:p>
          </p:txBody>
        </p:sp>
        <p:sp>
          <p:nvSpPr>
            <p:cNvPr id="43" name="Text 38"/>
            <p:cNvSpPr txBox="1"/>
            <p:nvPr/>
          </p:nvSpPr>
          <p:spPr>
            <a:xfrm>
              <a:off x="1452067" y="2696566"/>
              <a:ext cx="121706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public function</a:t>
              </a:r>
              <a:endParaRPr lang="en-US" sz="900" dirty="0"/>
            </a:p>
          </p:txBody>
        </p:sp>
        <p:sp>
          <p:nvSpPr>
            <p:cNvPr id="44" name="Text 39"/>
            <p:cNvSpPr txBox="1"/>
            <p:nvPr/>
          </p:nvSpPr>
          <p:spPr>
            <a:xfrm>
              <a:off x="2565806" y="2696566"/>
              <a:ext cx="4745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store</a:t>
              </a:r>
              <a:endParaRPr lang="en-US" sz="900" dirty="0"/>
            </a:p>
          </p:txBody>
        </p:sp>
        <p:sp>
          <p:nvSpPr>
            <p:cNvPr id="45" name="Text 40"/>
            <p:cNvSpPr txBox="1"/>
            <p:nvPr/>
          </p:nvSpPr>
          <p:spPr>
            <a:xfrm>
              <a:off x="2937967" y="269656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46" name="Text 41"/>
            <p:cNvSpPr txBox="1"/>
            <p:nvPr/>
          </p:nvSpPr>
          <p:spPr>
            <a:xfrm>
              <a:off x="1452067" y="2894990"/>
              <a:ext cx="91257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JoinRequest</a:t>
              </a:r>
              <a:endParaRPr lang="en-US" sz="900" dirty="0"/>
            </a:p>
          </p:txBody>
        </p:sp>
        <p:sp>
          <p:nvSpPr>
            <p:cNvPr id="47" name="Text 42"/>
            <p:cNvSpPr txBox="1"/>
            <p:nvPr/>
          </p:nvSpPr>
          <p:spPr>
            <a:xfrm>
              <a:off x="2268626" y="2894990"/>
              <a:ext cx="69311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$request</a:t>
              </a:r>
              <a:endParaRPr lang="en-US" sz="900" dirty="0"/>
            </a:p>
          </p:txBody>
        </p:sp>
        <p:sp>
          <p:nvSpPr>
            <p:cNvPr id="48" name="Text 43"/>
            <p:cNvSpPr txBox="1"/>
            <p:nvPr/>
          </p:nvSpPr>
          <p:spPr>
            <a:xfrm>
              <a:off x="2863901" y="2894990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,</a:t>
              </a:r>
              <a:endParaRPr lang="en-US" sz="900" dirty="0"/>
            </a:p>
          </p:txBody>
        </p:sp>
        <p:sp>
          <p:nvSpPr>
            <p:cNvPr id="49" name="Text 44"/>
            <p:cNvSpPr txBox="1"/>
            <p:nvPr/>
          </p:nvSpPr>
          <p:spPr>
            <a:xfrm>
              <a:off x="1452067" y="3092501"/>
              <a:ext cx="18836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CourseParticipantService</a:t>
              </a:r>
              <a:endParaRPr lang="en-US" sz="900" dirty="0"/>
            </a:p>
          </p:txBody>
        </p:sp>
        <p:sp>
          <p:nvSpPr>
            <p:cNvPr id="50" name="Text 45"/>
            <p:cNvSpPr txBox="1"/>
            <p:nvPr/>
          </p:nvSpPr>
          <p:spPr>
            <a:xfrm>
              <a:off x="3235147" y="3092501"/>
              <a:ext cx="69311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$service</a:t>
              </a:r>
              <a:endParaRPr lang="en-US" sz="900" dirty="0"/>
            </a:p>
          </p:txBody>
        </p:sp>
        <p:sp>
          <p:nvSpPr>
            <p:cNvPr id="51" name="Text 46"/>
            <p:cNvSpPr txBox="1"/>
            <p:nvPr/>
          </p:nvSpPr>
          <p:spPr>
            <a:xfrm>
              <a:off x="1452067" y="329092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</a:t>
              </a:r>
              <a:endParaRPr lang="en-US" sz="900" dirty="0"/>
            </a:p>
          </p:txBody>
        </p:sp>
        <p:sp>
          <p:nvSpPr>
            <p:cNvPr id="52" name="Text 47"/>
            <p:cNvSpPr txBox="1"/>
            <p:nvPr/>
          </p:nvSpPr>
          <p:spPr>
            <a:xfrm>
              <a:off x="1526134" y="329092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{</a:t>
              </a:r>
              <a:endParaRPr lang="en-US" sz="900" dirty="0"/>
            </a:p>
          </p:txBody>
        </p:sp>
        <p:sp>
          <p:nvSpPr>
            <p:cNvPr id="53" name="Text 48"/>
            <p:cNvSpPr txBox="1"/>
            <p:nvPr/>
          </p:nvSpPr>
          <p:spPr>
            <a:xfrm>
              <a:off x="1452067" y="3686861"/>
              <a:ext cx="217901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// Delegate logic to service</a:t>
              </a:r>
              <a:endParaRPr lang="en-US" sz="900" dirty="0"/>
            </a:p>
          </p:txBody>
        </p:sp>
        <p:sp>
          <p:nvSpPr>
            <p:cNvPr id="54" name="Text 49"/>
            <p:cNvSpPr txBox="1"/>
            <p:nvPr/>
          </p:nvSpPr>
          <p:spPr>
            <a:xfrm>
              <a:off x="1452067" y="3885286"/>
              <a:ext cx="98846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$participant</a:t>
              </a:r>
              <a:endParaRPr lang="en-US" sz="900" dirty="0"/>
            </a:p>
          </p:txBody>
        </p:sp>
        <p:sp>
          <p:nvSpPr>
            <p:cNvPr id="55" name="Text 50"/>
            <p:cNvSpPr txBox="1"/>
            <p:nvPr/>
          </p:nvSpPr>
          <p:spPr>
            <a:xfrm>
              <a:off x="2343607" y="388528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=</a:t>
              </a:r>
              <a:endParaRPr lang="en-US" sz="900" dirty="0"/>
            </a:p>
          </p:txBody>
        </p:sp>
        <p:sp>
          <p:nvSpPr>
            <p:cNvPr id="56" name="Text 51"/>
            <p:cNvSpPr txBox="1"/>
            <p:nvPr/>
          </p:nvSpPr>
          <p:spPr>
            <a:xfrm>
              <a:off x="2417674" y="3885286"/>
              <a:ext cx="69311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$service</a:t>
              </a:r>
              <a:endParaRPr lang="en-US" sz="900" dirty="0"/>
            </a:p>
          </p:txBody>
        </p:sp>
        <p:sp>
          <p:nvSpPr>
            <p:cNvPr id="57" name="Text 52"/>
            <p:cNvSpPr txBox="1"/>
            <p:nvPr/>
          </p:nvSpPr>
          <p:spPr>
            <a:xfrm>
              <a:off x="3012034" y="388528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58" name="Text 53"/>
            <p:cNvSpPr txBox="1"/>
            <p:nvPr/>
          </p:nvSpPr>
          <p:spPr>
            <a:xfrm>
              <a:off x="3161081" y="3885286"/>
              <a:ext cx="151241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registerParticipant</a:t>
              </a:r>
              <a:endParaRPr lang="en-US" sz="900" dirty="0"/>
            </a:p>
          </p:txBody>
        </p:sp>
        <p:sp>
          <p:nvSpPr>
            <p:cNvPr id="59" name="Text 54"/>
            <p:cNvSpPr txBox="1"/>
            <p:nvPr/>
          </p:nvSpPr>
          <p:spPr>
            <a:xfrm>
              <a:off x="4572000" y="388528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60" name="Text 55"/>
            <p:cNvSpPr txBox="1"/>
            <p:nvPr/>
          </p:nvSpPr>
          <p:spPr>
            <a:xfrm>
              <a:off x="1452067" y="4082796"/>
              <a:ext cx="3977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auth</a:t>
              </a:r>
              <a:endParaRPr lang="en-US" sz="900" dirty="0"/>
            </a:p>
          </p:txBody>
        </p:sp>
        <p:sp>
          <p:nvSpPr>
            <p:cNvPr id="61" name="Text 56"/>
            <p:cNvSpPr txBox="1"/>
            <p:nvPr/>
          </p:nvSpPr>
          <p:spPr>
            <a:xfrm>
              <a:off x="1749247" y="408279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</a:t>
              </a:r>
              <a:endParaRPr lang="en-US" sz="900" dirty="0"/>
            </a:p>
          </p:txBody>
        </p:sp>
        <p:sp>
          <p:nvSpPr>
            <p:cNvPr id="62" name="Text 57"/>
            <p:cNvSpPr txBox="1"/>
            <p:nvPr/>
          </p:nvSpPr>
          <p:spPr>
            <a:xfrm>
              <a:off x="1897380" y="408279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63" name="Text 58"/>
            <p:cNvSpPr txBox="1"/>
            <p:nvPr/>
          </p:nvSpPr>
          <p:spPr>
            <a:xfrm>
              <a:off x="2046427" y="408279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id</a:t>
              </a:r>
              <a:endParaRPr lang="en-US" sz="900" dirty="0"/>
            </a:p>
          </p:txBody>
        </p:sp>
        <p:sp>
          <p:nvSpPr>
            <p:cNvPr id="64" name="Text 59"/>
            <p:cNvSpPr txBox="1"/>
            <p:nvPr/>
          </p:nvSpPr>
          <p:spPr>
            <a:xfrm>
              <a:off x="2194560" y="4082796"/>
              <a:ext cx="321869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(),</a:t>
              </a:r>
              <a:endParaRPr lang="en-US" sz="900" dirty="0"/>
            </a:p>
          </p:txBody>
        </p:sp>
        <p:sp>
          <p:nvSpPr>
            <p:cNvPr id="65" name="Text 60"/>
            <p:cNvSpPr txBox="1"/>
            <p:nvPr/>
          </p:nvSpPr>
          <p:spPr>
            <a:xfrm>
              <a:off x="1452067" y="4281221"/>
              <a:ext cx="69311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$request</a:t>
              </a:r>
              <a:endParaRPr lang="en-US" sz="900" dirty="0"/>
            </a:p>
          </p:txBody>
        </p:sp>
        <p:sp>
          <p:nvSpPr>
            <p:cNvPr id="66" name="Text 61"/>
            <p:cNvSpPr txBox="1"/>
            <p:nvPr/>
          </p:nvSpPr>
          <p:spPr>
            <a:xfrm>
              <a:off x="2046427" y="4281221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67" name="Text 62"/>
            <p:cNvSpPr txBox="1"/>
            <p:nvPr/>
          </p:nvSpPr>
          <p:spPr>
            <a:xfrm>
              <a:off x="2194560" y="4281221"/>
              <a:ext cx="91257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calendar_id</a:t>
              </a:r>
              <a:endParaRPr lang="en-US" sz="900" dirty="0"/>
            </a:p>
          </p:txBody>
        </p:sp>
        <p:sp>
          <p:nvSpPr>
            <p:cNvPr id="68" name="Text 63"/>
            <p:cNvSpPr txBox="1"/>
            <p:nvPr/>
          </p:nvSpPr>
          <p:spPr>
            <a:xfrm>
              <a:off x="1452067" y="447964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);</a:t>
              </a:r>
              <a:endParaRPr lang="en-US" sz="900" dirty="0"/>
            </a:p>
          </p:txBody>
        </p:sp>
        <p:sp>
          <p:nvSpPr>
            <p:cNvPr id="69" name="Text 64"/>
            <p:cNvSpPr txBox="1"/>
            <p:nvPr/>
          </p:nvSpPr>
          <p:spPr>
            <a:xfrm>
              <a:off x="1452067" y="4875581"/>
              <a:ext cx="541325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return new</a:t>
              </a:r>
              <a:endParaRPr lang="en-US" sz="900" dirty="0"/>
            </a:p>
          </p:txBody>
        </p:sp>
        <p:sp>
          <p:nvSpPr>
            <p:cNvPr id="70" name="Text 65"/>
            <p:cNvSpPr txBox="1"/>
            <p:nvPr/>
          </p:nvSpPr>
          <p:spPr>
            <a:xfrm>
              <a:off x="1674266" y="5074006"/>
              <a:ext cx="151241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ParticipantResource</a:t>
              </a:r>
              <a:endParaRPr lang="en-US" sz="900" dirty="0"/>
            </a:p>
          </p:txBody>
        </p:sp>
        <p:sp>
          <p:nvSpPr>
            <p:cNvPr id="71" name="Text 66"/>
            <p:cNvSpPr txBox="1"/>
            <p:nvPr/>
          </p:nvSpPr>
          <p:spPr>
            <a:xfrm>
              <a:off x="3086100" y="507400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72" name="Text 67"/>
            <p:cNvSpPr txBox="1"/>
            <p:nvPr/>
          </p:nvSpPr>
          <p:spPr>
            <a:xfrm>
              <a:off x="3161081" y="5074006"/>
              <a:ext cx="98846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$participant</a:t>
              </a:r>
              <a:endParaRPr lang="en-US" sz="900" dirty="0"/>
            </a:p>
          </p:txBody>
        </p:sp>
        <p:sp>
          <p:nvSpPr>
            <p:cNvPr id="73" name="Text 68"/>
            <p:cNvSpPr txBox="1"/>
            <p:nvPr/>
          </p:nvSpPr>
          <p:spPr>
            <a:xfrm>
              <a:off x="4052621" y="507400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);</a:t>
              </a:r>
              <a:endParaRPr lang="en-US" sz="900" dirty="0"/>
            </a:p>
          </p:txBody>
        </p:sp>
        <p:sp>
          <p:nvSpPr>
            <p:cNvPr id="74" name="Text 69"/>
            <p:cNvSpPr txBox="1"/>
            <p:nvPr/>
          </p:nvSpPr>
          <p:spPr>
            <a:xfrm>
              <a:off x="1452067" y="527151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}</a:t>
              </a:r>
              <a:endParaRPr lang="en-US" sz="900" dirty="0"/>
            </a:p>
          </p:txBody>
        </p:sp>
        <p:sp>
          <p:nvSpPr>
            <p:cNvPr id="75" name="Text 70"/>
            <p:cNvSpPr txBox="1"/>
            <p:nvPr/>
          </p:nvSpPr>
          <p:spPr>
            <a:xfrm>
              <a:off x="5671109" y="1819656"/>
              <a:ext cx="31409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BD5E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app/Services/CourseParticipantService.php</a:t>
              </a:r>
              <a:endParaRPr lang="en-US" sz="900" dirty="0"/>
            </a:p>
          </p:txBody>
        </p:sp>
        <p:sp>
          <p:nvSpPr>
            <p:cNvPr id="76" name="Text 71"/>
            <p:cNvSpPr txBox="1"/>
            <p:nvPr/>
          </p:nvSpPr>
          <p:spPr>
            <a:xfrm>
              <a:off x="5442509" y="2367382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77" name="Text 72"/>
            <p:cNvSpPr txBox="1"/>
            <p:nvPr/>
          </p:nvSpPr>
          <p:spPr>
            <a:xfrm>
              <a:off x="5442509" y="2561234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11</a:t>
              </a:r>
              <a:endParaRPr lang="en-US" sz="900" dirty="0"/>
            </a:p>
          </p:txBody>
        </p:sp>
        <p:sp>
          <p:nvSpPr>
            <p:cNvPr id="78" name="Text 73"/>
            <p:cNvSpPr txBox="1"/>
            <p:nvPr/>
          </p:nvSpPr>
          <p:spPr>
            <a:xfrm>
              <a:off x="5442509" y="2756002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12</a:t>
              </a:r>
              <a:endParaRPr lang="en-US" sz="900" dirty="0"/>
            </a:p>
          </p:txBody>
        </p:sp>
        <p:sp>
          <p:nvSpPr>
            <p:cNvPr id="79" name="Text 74"/>
            <p:cNvSpPr txBox="1"/>
            <p:nvPr/>
          </p:nvSpPr>
          <p:spPr>
            <a:xfrm>
              <a:off x="5442509" y="2949854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13</a:t>
              </a:r>
              <a:endParaRPr lang="en-US" sz="900" dirty="0"/>
            </a:p>
          </p:txBody>
        </p:sp>
        <p:sp>
          <p:nvSpPr>
            <p:cNvPr id="80" name="Text 75"/>
            <p:cNvSpPr txBox="1"/>
            <p:nvPr/>
          </p:nvSpPr>
          <p:spPr>
            <a:xfrm>
              <a:off x="5442509" y="3144622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14</a:t>
              </a:r>
              <a:endParaRPr lang="en-US" sz="900" dirty="0"/>
            </a:p>
          </p:txBody>
        </p:sp>
        <p:sp>
          <p:nvSpPr>
            <p:cNvPr id="81" name="Text 76"/>
            <p:cNvSpPr txBox="1"/>
            <p:nvPr/>
          </p:nvSpPr>
          <p:spPr>
            <a:xfrm>
              <a:off x="5442509" y="3338474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82" name="Text 77"/>
            <p:cNvSpPr txBox="1"/>
            <p:nvPr/>
          </p:nvSpPr>
          <p:spPr>
            <a:xfrm>
              <a:off x="5442509" y="3533242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16</a:t>
              </a:r>
              <a:endParaRPr lang="en-US" sz="900" dirty="0"/>
            </a:p>
          </p:txBody>
        </p:sp>
        <p:sp>
          <p:nvSpPr>
            <p:cNvPr id="83" name="Text 78"/>
            <p:cNvSpPr txBox="1"/>
            <p:nvPr/>
          </p:nvSpPr>
          <p:spPr>
            <a:xfrm>
              <a:off x="5442509" y="3727094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17</a:t>
              </a:r>
              <a:endParaRPr lang="en-US" sz="900" dirty="0"/>
            </a:p>
          </p:txBody>
        </p:sp>
        <p:sp>
          <p:nvSpPr>
            <p:cNvPr id="84" name="Text 79"/>
            <p:cNvSpPr txBox="1"/>
            <p:nvPr/>
          </p:nvSpPr>
          <p:spPr>
            <a:xfrm>
              <a:off x="5442509" y="3921862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18</a:t>
              </a:r>
              <a:endParaRPr lang="en-US" sz="900" dirty="0"/>
            </a:p>
          </p:txBody>
        </p:sp>
        <p:sp>
          <p:nvSpPr>
            <p:cNvPr id="85" name="Text 80"/>
            <p:cNvSpPr txBox="1"/>
            <p:nvPr/>
          </p:nvSpPr>
          <p:spPr>
            <a:xfrm>
              <a:off x="5442509" y="4116629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19</a:t>
              </a:r>
              <a:endParaRPr lang="en-US" sz="900" dirty="0"/>
            </a:p>
          </p:txBody>
        </p:sp>
        <p:sp>
          <p:nvSpPr>
            <p:cNvPr id="86" name="Text 81"/>
            <p:cNvSpPr txBox="1"/>
            <p:nvPr/>
          </p:nvSpPr>
          <p:spPr>
            <a:xfrm>
              <a:off x="5442509" y="4310482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87" name="Text 82"/>
            <p:cNvSpPr txBox="1"/>
            <p:nvPr/>
          </p:nvSpPr>
          <p:spPr>
            <a:xfrm>
              <a:off x="5442509" y="4505249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21</a:t>
              </a:r>
              <a:endParaRPr lang="en-US" sz="900" dirty="0"/>
            </a:p>
          </p:txBody>
        </p:sp>
        <p:sp>
          <p:nvSpPr>
            <p:cNvPr id="88" name="Text 83"/>
            <p:cNvSpPr txBox="1"/>
            <p:nvPr/>
          </p:nvSpPr>
          <p:spPr>
            <a:xfrm>
              <a:off x="5442509" y="4699102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22</a:t>
              </a:r>
              <a:endParaRPr lang="en-US" sz="900" dirty="0"/>
            </a:p>
          </p:txBody>
        </p:sp>
        <p:sp>
          <p:nvSpPr>
            <p:cNvPr id="89" name="Text 84"/>
            <p:cNvSpPr txBox="1"/>
            <p:nvPr/>
          </p:nvSpPr>
          <p:spPr>
            <a:xfrm>
              <a:off x="5442509" y="4893869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23</a:t>
              </a:r>
              <a:endParaRPr lang="en-US" sz="900" dirty="0"/>
            </a:p>
          </p:txBody>
        </p:sp>
        <p:sp>
          <p:nvSpPr>
            <p:cNvPr id="90" name="Text 85"/>
            <p:cNvSpPr txBox="1"/>
            <p:nvPr/>
          </p:nvSpPr>
          <p:spPr>
            <a:xfrm>
              <a:off x="5442509" y="5087722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24</a:t>
              </a:r>
              <a:endParaRPr lang="en-US" sz="900" dirty="0"/>
            </a:p>
          </p:txBody>
        </p:sp>
        <p:sp>
          <p:nvSpPr>
            <p:cNvPr id="91" name="Text 86"/>
            <p:cNvSpPr txBox="1"/>
            <p:nvPr/>
          </p:nvSpPr>
          <p:spPr>
            <a:xfrm>
              <a:off x="5442509" y="5282489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25</a:t>
              </a:r>
              <a:endParaRPr lang="en-US" sz="900" dirty="0"/>
            </a:p>
          </p:txBody>
        </p:sp>
        <p:sp>
          <p:nvSpPr>
            <p:cNvPr id="92" name="Text 87"/>
            <p:cNvSpPr txBox="1"/>
            <p:nvPr/>
          </p:nvSpPr>
          <p:spPr>
            <a:xfrm>
              <a:off x="5442509" y="5477256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26</a:t>
              </a:r>
              <a:endParaRPr lang="en-US" sz="900" dirty="0"/>
            </a:p>
          </p:txBody>
        </p:sp>
        <p:sp>
          <p:nvSpPr>
            <p:cNvPr id="93" name="Text 88"/>
            <p:cNvSpPr txBox="1"/>
            <p:nvPr/>
          </p:nvSpPr>
          <p:spPr>
            <a:xfrm>
              <a:off x="5442509" y="5671109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27</a:t>
              </a:r>
              <a:endParaRPr lang="en-US" sz="900" dirty="0"/>
            </a:p>
          </p:txBody>
        </p:sp>
        <p:sp>
          <p:nvSpPr>
            <p:cNvPr id="94" name="Text 89"/>
            <p:cNvSpPr txBox="1"/>
            <p:nvPr/>
          </p:nvSpPr>
          <p:spPr>
            <a:xfrm>
              <a:off x="5442509" y="5865876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28</a:t>
              </a:r>
              <a:endParaRPr lang="en-US" sz="900" dirty="0"/>
            </a:p>
          </p:txBody>
        </p:sp>
        <p:sp>
          <p:nvSpPr>
            <p:cNvPr id="95" name="Text 90"/>
            <p:cNvSpPr txBox="1"/>
            <p:nvPr/>
          </p:nvSpPr>
          <p:spPr>
            <a:xfrm>
              <a:off x="5442509" y="6059729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29</a:t>
              </a:r>
              <a:endParaRPr lang="en-US" sz="900" dirty="0"/>
            </a:p>
          </p:txBody>
        </p:sp>
        <p:sp>
          <p:nvSpPr>
            <p:cNvPr id="96" name="Text 91"/>
            <p:cNvSpPr txBox="1"/>
            <p:nvPr/>
          </p:nvSpPr>
          <p:spPr>
            <a:xfrm>
              <a:off x="5442509" y="6254496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97" name="Shape 92"/>
            <p:cNvSpPr/>
            <p:nvPr/>
          </p:nvSpPr>
          <p:spPr>
            <a:xfrm>
              <a:off x="5894222" y="2348179"/>
              <a:ext cx="1647749" cy="267005"/>
            </a:xfrm>
            <a:prstGeom prst="roundRect">
              <a:avLst>
                <a:gd name="adj" fmla="val 48924"/>
              </a:avLst>
            </a:prstGeom>
            <a:solidFill>
              <a:srgbClr val="3B82F6">
                <a:alpha val="15000"/>
              </a:srgbClr>
            </a:solidFill>
            <a:ln w="12700">
              <a:solidFill>
                <a:srgbClr val="3B82F6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98" name="Text 93"/>
            <p:cNvSpPr txBox="1"/>
            <p:nvPr/>
          </p:nvSpPr>
          <p:spPr>
            <a:xfrm>
              <a:off x="5999378" y="2404872"/>
              <a:ext cx="1516990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ATOMIC BUSINESS LOGIC</a:t>
              </a:r>
              <a:endParaRPr lang="en-US" sz="800" dirty="0"/>
            </a:p>
          </p:txBody>
        </p:sp>
        <p:sp>
          <p:nvSpPr>
            <p:cNvPr id="99" name="Text 94"/>
            <p:cNvSpPr txBox="1"/>
            <p:nvPr/>
          </p:nvSpPr>
          <p:spPr>
            <a:xfrm>
              <a:off x="5894222" y="2696566"/>
              <a:ext cx="121706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public function</a:t>
              </a:r>
              <a:endParaRPr lang="en-US" sz="900" dirty="0"/>
            </a:p>
          </p:txBody>
        </p:sp>
        <p:sp>
          <p:nvSpPr>
            <p:cNvPr id="100" name="Text 95"/>
            <p:cNvSpPr txBox="1"/>
            <p:nvPr/>
          </p:nvSpPr>
          <p:spPr>
            <a:xfrm>
              <a:off x="7008876" y="2696566"/>
              <a:ext cx="151241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registerParticipant</a:t>
              </a:r>
              <a:endParaRPr lang="en-US" sz="900" dirty="0"/>
            </a:p>
          </p:txBody>
        </p:sp>
        <p:sp>
          <p:nvSpPr>
            <p:cNvPr id="101" name="Text 96"/>
            <p:cNvSpPr txBox="1"/>
            <p:nvPr/>
          </p:nvSpPr>
          <p:spPr>
            <a:xfrm>
              <a:off x="8420710" y="269656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102" name="Text 97"/>
            <p:cNvSpPr txBox="1"/>
            <p:nvPr/>
          </p:nvSpPr>
          <p:spPr>
            <a:xfrm>
              <a:off x="8494776" y="2696566"/>
              <a:ext cx="61722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$userId</a:t>
              </a:r>
              <a:endParaRPr lang="en-US" sz="900" dirty="0"/>
            </a:p>
          </p:txBody>
        </p:sp>
        <p:sp>
          <p:nvSpPr>
            <p:cNvPr id="103" name="Text 98"/>
            <p:cNvSpPr txBox="1"/>
            <p:nvPr/>
          </p:nvSpPr>
          <p:spPr>
            <a:xfrm>
              <a:off x="9015070" y="269656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,</a:t>
              </a:r>
              <a:endParaRPr lang="en-US" sz="900" dirty="0"/>
            </a:p>
          </p:txBody>
        </p:sp>
        <p:sp>
          <p:nvSpPr>
            <p:cNvPr id="104" name="Text 99"/>
            <p:cNvSpPr txBox="1"/>
            <p:nvPr/>
          </p:nvSpPr>
          <p:spPr>
            <a:xfrm>
              <a:off x="9089136" y="2696566"/>
              <a:ext cx="5413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$calId</a:t>
              </a:r>
              <a:endParaRPr lang="en-US" sz="900" dirty="0"/>
            </a:p>
          </p:txBody>
        </p:sp>
        <p:sp>
          <p:nvSpPr>
            <p:cNvPr id="105" name="Text 100"/>
            <p:cNvSpPr txBox="1"/>
            <p:nvPr/>
          </p:nvSpPr>
          <p:spPr>
            <a:xfrm>
              <a:off x="9535363" y="269656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</a:t>
              </a:r>
              <a:endParaRPr lang="en-US" sz="900" dirty="0"/>
            </a:p>
          </p:txBody>
        </p:sp>
        <p:sp>
          <p:nvSpPr>
            <p:cNvPr id="106" name="Text 101"/>
            <p:cNvSpPr txBox="1"/>
            <p:nvPr/>
          </p:nvSpPr>
          <p:spPr>
            <a:xfrm>
              <a:off x="9609430" y="269656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{</a:t>
              </a:r>
              <a:endParaRPr lang="en-US" sz="900" dirty="0"/>
            </a:p>
          </p:txBody>
        </p:sp>
        <p:sp>
          <p:nvSpPr>
            <p:cNvPr id="107" name="Text 102"/>
            <p:cNvSpPr txBox="1"/>
            <p:nvPr/>
          </p:nvSpPr>
          <p:spPr>
            <a:xfrm>
              <a:off x="5894222" y="2894990"/>
              <a:ext cx="5413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return</a:t>
              </a:r>
              <a:endParaRPr lang="en-US" sz="900" dirty="0"/>
            </a:p>
          </p:txBody>
        </p:sp>
        <p:sp>
          <p:nvSpPr>
            <p:cNvPr id="108" name="Text 103"/>
            <p:cNvSpPr txBox="1"/>
            <p:nvPr/>
          </p:nvSpPr>
          <p:spPr>
            <a:xfrm>
              <a:off x="6340450" y="2894990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DB</a:t>
              </a:r>
              <a:endParaRPr lang="en-US" sz="900" dirty="0"/>
            </a:p>
          </p:txBody>
        </p:sp>
        <p:sp>
          <p:nvSpPr>
            <p:cNvPr id="109" name="Text 104"/>
            <p:cNvSpPr txBox="1"/>
            <p:nvPr/>
          </p:nvSpPr>
          <p:spPr>
            <a:xfrm>
              <a:off x="6488582" y="2894990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::</a:t>
              </a:r>
              <a:endParaRPr lang="en-US" sz="900" dirty="0"/>
            </a:p>
          </p:txBody>
        </p:sp>
        <p:sp>
          <p:nvSpPr>
            <p:cNvPr id="110" name="Text 105"/>
            <p:cNvSpPr txBox="1"/>
            <p:nvPr/>
          </p:nvSpPr>
          <p:spPr>
            <a:xfrm>
              <a:off x="6637630" y="2894990"/>
              <a:ext cx="91257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transaction</a:t>
              </a:r>
              <a:endParaRPr lang="en-US" sz="900" dirty="0"/>
            </a:p>
          </p:txBody>
        </p:sp>
        <p:sp>
          <p:nvSpPr>
            <p:cNvPr id="111" name="Text 106"/>
            <p:cNvSpPr txBox="1"/>
            <p:nvPr/>
          </p:nvSpPr>
          <p:spPr>
            <a:xfrm>
              <a:off x="7455103" y="2894990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112" name="Text 107"/>
            <p:cNvSpPr txBox="1"/>
            <p:nvPr/>
          </p:nvSpPr>
          <p:spPr>
            <a:xfrm>
              <a:off x="7529170" y="2894990"/>
              <a:ext cx="69311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function</a:t>
              </a:r>
              <a:endParaRPr lang="en-US" sz="900" dirty="0"/>
            </a:p>
          </p:txBody>
        </p:sp>
        <p:sp>
          <p:nvSpPr>
            <p:cNvPr id="113" name="Text 108"/>
            <p:cNvSpPr txBox="1"/>
            <p:nvPr/>
          </p:nvSpPr>
          <p:spPr>
            <a:xfrm>
              <a:off x="8123530" y="2894990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</a:t>
              </a:r>
              <a:endParaRPr lang="en-US" sz="900" dirty="0"/>
            </a:p>
          </p:txBody>
        </p:sp>
        <p:sp>
          <p:nvSpPr>
            <p:cNvPr id="114" name="Text 109"/>
            <p:cNvSpPr txBox="1"/>
            <p:nvPr/>
          </p:nvSpPr>
          <p:spPr>
            <a:xfrm>
              <a:off x="8272577" y="2894990"/>
              <a:ext cx="321869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use</a:t>
              </a:r>
              <a:endParaRPr lang="en-US" sz="900" dirty="0"/>
            </a:p>
          </p:txBody>
        </p:sp>
        <p:sp>
          <p:nvSpPr>
            <p:cNvPr id="115" name="Text 110"/>
            <p:cNvSpPr txBox="1"/>
            <p:nvPr/>
          </p:nvSpPr>
          <p:spPr>
            <a:xfrm>
              <a:off x="8495690" y="2894990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116" name="Text 111"/>
            <p:cNvSpPr txBox="1"/>
            <p:nvPr/>
          </p:nvSpPr>
          <p:spPr>
            <a:xfrm>
              <a:off x="8569757" y="2894990"/>
              <a:ext cx="61722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$userId</a:t>
              </a:r>
              <a:endParaRPr lang="en-US" sz="900" dirty="0"/>
            </a:p>
          </p:txBody>
        </p:sp>
        <p:sp>
          <p:nvSpPr>
            <p:cNvPr id="117" name="Text 112"/>
            <p:cNvSpPr txBox="1"/>
            <p:nvPr/>
          </p:nvSpPr>
          <p:spPr>
            <a:xfrm>
              <a:off x="9090050" y="2894990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,</a:t>
              </a:r>
              <a:endParaRPr lang="en-US" sz="900" dirty="0"/>
            </a:p>
          </p:txBody>
        </p:sp>
        <p:sp>
          <p:nvSpPr>
            <p:cNvPr id="118" name="Text 113"/>
            <p:cNvSpPr txBox="1"/>
            <p:nvPr/>
          </p:nvSpPr>
          <p:spPr>
            <a:xfrm>
              <a:off x="9164117" y="2894990"/>
              <a:ext cx="5413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$calId</a:t>
              </a:r>
              <a:endParaRPr lang="en-US" sz="900" dirty="0"/>
            </a:p>
          </p:txBody>
        </p:sp>
        <p:sp>
          <p:nvSpPr>
            <p:cNvPr id="119" name="Text 114"/>
            <p:cNvSpPr txBox="1"/>
            <p:nvPr/>
          </p:nvSpPr>
          <p:spPr>
            <a:xfrm>
              <a:off x="9610344" y="2894990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</a:t>
              </a:r>
              <a:endParaRPr lang="en-US" sz="900" dirty="0"/>
            </a:p>
          </p:txBody>
        </p:sp>
        <p:sp>
          <p:nvSpPr>
            <p:cNvPr id="120" name="Text 115"/>
            <p:cNvSpPr txBox="1"/>
            <p:nvPr/>
          </p:nvSpPr>
          <p:spPr>
            <a:xfrm>
              <a:off x="9684410" y="2894990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{</a:t>
              </a:r>
              <a:endParaRPr lang="en-US" sz="900" dirty="0"/>
            </a:p>
          </p:txBody>
        </p:sp>
        <p:sp>
          <p:nvSpPr>
            <p:cNvPr id="121" name="Text 116"/>
            <p:cNvSpPr txBox="1"/>
            <p:nvPr/>
          </p:nvSpPr>
          <p:spPr>
            <a:xfrm>
              <a:off x="5894222" y="3290926"/>
              <a:ext cx="239847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// Step 1: Validate eligibility</a:t>
              </a:r>
              <a:endParaRPr lang="en-US" sz="900" dirty="0"/>
            </a:p>
          </p:txBody>
        </p:sp>
        <p:sp>
          <p:nvSpPr>
            <p:cNvPr id="122" name="Text 117"/>
            <p:cNvSpPr txBox="1"/>
            <p:nvPr/>
          </p:nvSpPr>
          <p:spPr>
            <a:xfrm>
              <a:off x="5894222" y="3488436"/>
              <a:ext cx="4745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$this</a:t>
              </a:r>
              <a:endParaRPr lang="en-US" sz="900" dirty="0"/>
            </a:p>
          </p:txBody>
        </p:sp>
        <p:sp>
          <p:nvSpPr>
            <p:cNvPr id="123" name="Text 118"/>
            <p:cNvSpPr txBox="1"/>
            <p:nvPr/>
          </p:nvSpPr>
          <p:spPr>
            <a:xfrm>
              <a:off x="6265469" y="348843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124" name="Text 119"/>
            <p:cNvSpPr txBox="1"/>
            <p:nvPr/>
          </p:nvSpPr>
          <p:spPr>
            <a:xfrm>
              <a:off x="6414516" y="3488436"/>
              <a:ext cx="151241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validateEligibility</a:t>
              </a:r>
              <a:endParaRPr lang="en-US" sz="900" dirty="0"/>
            </a:p>
          </p:txBody>
        </p:sp>
        <p:sp>
          <p:nvSpPr>
            <p:cNvPr id="125" name="Text 120"/>
            <p:cNvSpPr txBox="1"/>
            <p:nvPr/>
          </p:nvSpPr>
          <p:spPr>
            <a:xfrm>
              <a:off x="7826350" y="348843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126" name="Text 121"/>
            <p:cNvSpPr txBox="1"/>
            <p:nvPr/>
          </p:nvSpPr>
          <p:spPr>
            <a:xfrm>
              <a:off x="7900416" y="3488436"/>
              <a:ext cx="61722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$userId</a:t>
              </a:r>
              <a:endParaRPr lang="en-US" sz="900" dirty="0"/>
            </a:p>
          </p:txBody>
        </p:sp>
        <p:sp>
          <p:nvSpPr>
            <p:cNvPr id="127" name="Text 122"/>
            <p:cNvSpPr txBox="1"/>
            <p:nvPr/>
          </p:nvSpPr>
          <p:spPr>
            <a:xfrm>
              <a:off x="8420710" y="348843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,</a:t>
              </a:r>
              <a:endParaRPr lang="en-US" sz="900" dirty="0"/>
            </a:p>
          </p:txBody>
        </p:sp>
        <p:sp>
          <p:nvSpPr>
            <p:cNvPr id="128" name="Text 123"/>
            <p:cNvSpPr txBox="1"/>
            <p:nvPr/>
          </p:nvSpPr>
          <p:spPr>
            <a:xfrm>
              <a:off x="8494776" y="3488436"/>
              <a:ext cx="5413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$calId</a:t>
              </a:r>
              <a:endParaRPr lang="en-US" sz="900" dirty="0"/>
            </a:p>
          </p:txBody>
        </p:sp>
        <p:sp>
          <p:nvSpPr>
            <p:cNvPr id="129" name="Text 124"/>
            <p:cNvSpPr txBox="1"/>
            <p:nvPr/>
          </p:nvSpPr>
          <p:spPr>
            <a:xfrm>
              <a:off x="8941003" y="348843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);</a:t>
              </a:r>
              <a:endParaRPr lang="en-US" sz="900" dirty="0"/>
            </a:p>
          </p:txBody>
        </p:sp>
        <p:sp>
          <p:nvSpPr>
            <p:cNvPr id="130" name="Text 125"/>
            <p:cNvSpPr txBox="1"/>
            <p:nvPr/>
          </p:nvSpPr>
          <p:spPr>
            <a:xfrm>
              <a:off x="5894222" y="3885286"/>
              <a:ext cx="22558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// Step 2: Create participant</a:t>
              </a:r>
              <a:endParaRPr lang="en-US" sz="900" dirty="0"/>
            </a:p>
          </p:txBody>
        </p:sp>
        <p:sp>
          <p:nvSpPr>
            <p:cNvPr id="131" name="Text 126"/>
            <p:cNvSpPr txBox="1"/>
            <p:nvPr/>
          </p:nvSpPr>
          <p:spPr>
            <a:xfrm>
              <a:off x="5894222" y="4082796"/>
              <a:ext cx="98846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$participant</a:t>
              </a:r>
              <a:endParaRPr lang="en-US" sz="900" dirty="0"/>
            </a:p>
          </p:txBody>
        </p:sp>
        <p:sp>
          <p:nvSpPr>
            <p:cNvPr id="132" name="Text 127"/>
            <p:cNvSpPr txBox="1"/>
            <p:nvPr/>
          </p:nvSpPr>
          <p:spPr>
            <a:xfrm>
              <a:off x="6785762" y="408279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=</a:t>
              </a:r>
              <a:endParaRPr lang="en-US" sz="900" dirty="0"/>
            </a:p>
          </p:txBody>
        </p:sp>
        <p:sp>
          <p:nvSpPr>
            <p:cNvPr id="133" name="Text 128"/>
            <p:cNvSpPr txBox="1"/>
            <p:nvPr/>
          </p:nvSpPr>
          <p:spPr>
            <a:xfrm>
              <a:off x="6859829" y="4082796"/>
              <a:ext cx="19604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CourseCalendarParticipant</a:t>
              </a:r>
              <a:endParaRPr lang="en-US" sz="900" dirty="0"/>
            </a:p>
          </p:txBody>
        </p:sp>
        <p:sp>
          <p:nvSpPr>
            <p:cNvPr id="134" name="Text 129"/>
            <p:cNvSpPr txBox="1"/>
            <p:nvPr/>
          </p:nvSpPr>
          <p:spPr>
            <a:xfrm>
              <a:off x="8717890" y="408279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::</a:t>
              </a:r>
              <a:endParaRPr lang="en-US" sz="900" dirty="0"/>
            </a:p>
          </p:txBody>
        </p:sp>
        <p:sp>
          <p:nvSpPr>
            <p:cNvPr id="135" name="Text 130"/>
            <p:cNvSpPr txBox="1"/>
            <p:nvPr/>
          </p:nvSpPr>
          <p:spPr>
            <a:xfrm>
              <a:off x="8866022" y="4082796"/>
              <a:ext cx="5413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create</a:t>
              </a:r>
              <a:endParaRPr lang="en-US" sz="900" dirty="0"/>
            </a:p>
          </p:txBody>
        </p:sp>
        <p:sp>
          <p:nvSpPr>
            <p:cNvPr id="136" name="Text 131"/>
            <p:cNvSpPr txBox="1"/>
            <p:nvPr/>
          </p:nvSpPr>
          <p:spPr>
            <a:xfrm>
              <a:off x="9312250" y="408279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([</a:t>
              </a:r>
              <a:endParaRPr lang="en-US" sz="900" dirty="0"/>
            </a:p>
          </p:txBody>
        </p:sp>
        <p:sp>
          <p:nvSpPr>
            <p:cNvPr id="137" name="Text 132"/>
            <p:cNvSpPr txBox="1"/>
            <p:nvPr/>
          </p:nvSpPr>
          <p:spPr>
            <a:xfrm>
              <a:off x="5894222" y="4281221"/>
              <a:ext cx="7699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A7F3D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'user_id'</a:t>
              </a:r>
              <a:endParaRPr lang="en-US" sz="900" dirty="0"/>
            </a:p>
          </p:txBody>
        </p:sp>
        <p:sp>
          <p:nvSpPr>
            <p:cNvPr id="138" name="Text 133"/>
            <p:cNvSpPr txBox="1"/>
            <p:nvPr/>
          </p:nvSpPr>
          <p:spPr>
            <a:xfrm>
              <a:off x="6562649" y="4281221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=&gt;</a:t>
              </a:r>
              <a:endParaRPr lang="en-US" sz="900" dirty="0"/>
            </a:p>
          </p:txBody>
        </p:sp>
        <p:sp>
          <p:nvSpPr>
            <p:cNvPr id="139" name="Text 134"/>
            <p:cNvSpPr txBox="1"/>
            <p:nvPr/>
          </p:nvSpPr>
          <p:spPr>
            <a:xfrm>
              <a:off x="6711696" y="4281221"/>
              <a:ext cx="61722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$userId</a:t>
              </a:r>
              <a:endParaRPr lang="en-US" sz="900" dirty="0"/>
            </a:p>
          </p:txBody>
        </p:sp>
        <p:sp>
          <p:nvSpPr>
            <p:cNvPr id="140" name="Text 135"/>
            <p:cNvSpPr txBox="1"/>
            <p:nvPr/>
          </p:nvSpPr>
          <p:spPr>
            <a:xfrm>
              <a:off x="7231990" y="4281221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,</a:t>
              </a:r>
              <a:endParaRPr lang="en-US" sz="900" dirty="0"/>
            </a:p>
          </p:txBody>
        </p:sp>
        <p:sp>
          <p:nvSpPr>
            <p:cNvPr id="141" name="Text 136"/>
            <p:cNvSpPr txBox="1"/>
            <p:nvPr/>
          </p:nvSpPr>
          <p:spPr>
            <a:xfrm>
              <a:off x="5894222" y="4479646"/>
              <a:ext cx="158831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A7F3D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'course_calendar_id'</a:t>
              </a:r>
              <a:endParaRPr lang="en-US" sz="900" dirty="0"/>
            </a:p>
          </p:txBody>
        </p:sp>
        <p:sp>
          <p:nvSpPr>
            <p:cNvPr id="142" name="Text 137"/>
            <p:cNvSpPr txBox="1"/>
            <p:nvPr/>
          </p:nvSpPr>
          <p:spPr>
            <a:xfrm>
              <a:off x="7380122" y="447964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=&gt;</a:t>
              </a:r>
              <a:endParaRPr lang="en-US" sz="900" dirty="0"/>
            </a:p>
          </p:txBody>
        </p:sp>
        <p:sp>
          <p:nvSpPr>
            <p:cNvPr id="143" name="Text 138"/>
            <p:cNvSpPr txBox="1"/>
            <p:nvPr/>
          </p:nvSpPr>
          <p:spPr>
            <a:xfrm>
              <a:off x="7529170" y="4479646"/>
              <a:ext cx="5413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$calId</a:t>
              </a:r>
              <a:endParaRPr lang="en-US" sz="900" dirty="0"/>
            </a:p>
          </p:txBody>
        </p:sp>
        <p:sp>
          <p:nvSpPr>
            <p:cNvPr id="144" name="Text 139"/>
            <p:cNvSpPr txBox="1"/>
            <p:nvPr/>
          </p:nvSpPr>
          <p:spPr>
            <a:xfrm>
              <a:off x="7974482" y="447964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,</a:t>
              </a:r>
              <a:endParaRPr lang="en-US" sz="900" dirty="0"/>
            </a:p>
          </p:txBody>
        </p:sp>
        <p:sp>
          <p:nvSpPr>
            <p:cNvPr id="145" name="Text 140"/>
            <p:cNvSpPr txBox="1"/>
            <p:nvPr/>
          </p:nvSpPr>
          <p:spPr>
            <a:xfrm>
              <a:off x="5894222" y="4677156"/>
              <a:ext cx="321869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]);</a:t>
              </a:r>
              <a:endParaRPr lang="en-US" sz="900" dirty="0"/>
            </a:p>
          </p:txBody>
        </p:sp>
        <p:sp>
          <p:nvSpPr>
            <p:cNvPr id="146" name="Text 141"/>
            <p:cNvSpPr txBox="1"/>
            <p:nvPr/>
          </p:nvSpPr>
          <p:spPr>
            <a:xfrm>
              <a:off x="5894222" y="5074006"/>
              <a:ext cx="19604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// Step 3-5: Side effects</a:t>
              </a:r>
              <a:endParaRPr lang="en-US" sz="900" dirty="0"/>
            </a:p>
          </p:txBody>
        </p:sp>
        <p:sp>
          <p:nvSpPr>
            <p:cNvPr id="147" name="Text 142"/>
            <p:cNvSpPr txBox="1"/>
            <p:nvPr/>
          </p:nvSpPr>
          <p:spPr>
            <a:xfrm>
              <a:off x="5894222" y="5271516"/>
              <a:ext cx="4745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$this</a:t>
              </a:r>
              <a:endParaRPr lang="en-US" sz="900" dirty="0"/>
            </a:p>
          </p:txBody>
        </p:sp>
        <p:sp>
          <p:nvSpPr>
            <p:cNvPr id="148" name="Text 143"/>
            <p:cNvSpPr txBox="1"/>
            <p:nvPr/>
          </p:nvSpPr>
          <p:spPr>
            <a:xfrm>
              <a:off x="6265469" y="527151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149" name="Text 144"/>
            <p:cNvSpPr txBox="1"/>
            <p:nvPr/>
          </p:nvSpPr>
          <p:spPr>
            <a:xfrm>
              <a:off x="6414516" y="5271516"/>
              <a:ext cx="158831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initializeAttendance</a:t>
              </a:r>
              <a:endParaRPr lang="en-US" sz="900" dirty="0"/>
            </a:p>
          </p:txBody>
        </p:sp>
        <p:sp>
          <p:nvSpPr>
            <p:cNvPr id="150" name="Text 145"/>
            <p:cNvSpPr txBox="1"/>
            <p:nvPr/>
          </p:nvSpPr>
          <p:spPr>
            <a:xfrm>
              <a:off x="7900416" y="527151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151" name="Text 146"/>
            <p:cNvSpPr txBox="1"/>
            <p:nvPr/>
          </p:nvSpPr>
          <p:spPr>
            <a:xfrm>
              <a:off x="7975397" y="5271516"/>
              <a:ext cx="98846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$participant</a:t>
              </a:r>
              <a:endParaRPr lang="en-US" sz="900" dirty="0"/>
            </a:p>
          </p:txBody>
        </p:sp>
        <p:sp>
          <p:nvSpPr>
            <p:cNvPr id="152" name="Text 147"/>
            <p:cNvSpPr txBox="1"/>
            <p:nvPr/>
          </p:nvSpPr>
          <p:spPr>
            <a:xfrm>
              <a:off x="8866937" y="527151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);</a:t>
              </a:r>
              <a:endParaRPr lang="en-US" sz="900" dirty="0"/>
            </a:p>
          </p:txBody>
        </p:sp>
        <p:sp>
          <p:nvSpPr>
            <p:cNvPr id="153" name="Text 148"/>
            <p:cNvSpPr txBox="1"/>
            <p:nvPr/>
          </p:nvSpPr>
          <p:spPr>
            <a:xfrm>
              <a:off x="5894222" y="5469941"/>
              <a:ext cx="4745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$this</a:t>
              </a:r>
              <a:endParaRPr lang="en-US" sz="900" dirty="0"/>
            </a:p>
          </p:txBody>
        </p:sp>
        <p:sp>
          <p:nvSpPr>
            <p:cNvPr id="154" name="Text 149"/>
            <p:cNvSpPr txBox="1"/>
            <p:nvPr/>
          </p:nvSpPr>
          <p:spPr>
            <a:xfrm>
              <a:off x="6265469" y="5469941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155" name="Text 150"/>
            <p:cNvSpPr txBox="1"/>
            <p:nvPr/>
          </p:nvSpPr>
          <p:spPr>
            <a:xfrm>
              <a:off x="6414516" y="5469941"/>
              <a:ext cx="135971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notifyParticipant</a:t>
              </a:r>
              <a:endParaRPr lang="en-US" sz="900" dirty="0"/>
            </a:p>
          </p:txBody>
        </p:sp>
        <p:sp>
          <p:nvSpPr>
            <p:cNvPr id="156" name="Text 151"/>
            <p:cNvSpPr txBox="1"/>
            <p:nvPr/>
          </p:nvSpPr>
          <p:spPr>
            <a:xfrm>
              <a:off x="7677302" y="5469941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157" name="Text 152"/>
            <p:cNvSpPr txBox="1"/>
            <p:nvPr/>
          </p:nvSpPr>
          <p:spPr>
            <a:xfrm>
              <a:off x="7752283" y="5469941"/>
              <a:ext cx="98846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$participant</a:t>
              </a:r>
              <a:endParaRPr lang="en-US" sz="900" dirty="0"/>
            </a:p>
          </p:txBody>
        </p:sp>
        <p:sp>
          <p:nvSpPr>
            <p:cNvPr id="158" name="Text 153"/>
            <p:cNvSpPr txBox="1"/>
            <p:nvPr/>
          </p:nvSpPr>
          <p:spPr>
            <a:xfrm>
              <a:off x="8643823" y="5469941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);</a:t>
              </a:r>
              <a:endParaRPr lang="en-US" sz="900" dirty="0"/>
            </a:p>
          </p:txBody>
        </p:sp>
        <p:sp>
          <p:nvSpPr>
            <p:cNvPr id="159" name="Text 154"/>
            <p:cNvSpPr txBox="1"/>
            <p:nvPr/>
          </p:nvSpPr>
          <p:spPr>
            <a:xfrm>
              <a:off x="5894222" y="5667451"/>
              <a:ext cx="4745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cache</a:t>
              </a:r>
              <a:endParaRPr lang="en-US" sz="900" dirty="0"/>
            </a:p>
          </p:txBody>
        </p:sp>
        <p:sp>
          <p:nvSpPr>
            <p:cNvPr id="160" name="Text 155"/>
            <p:cNvSpPr txBox="1"/>
            <p:nvPr/>
          </p:nvSpPr>
          <p:spPr>
            <a:xfrm>
              <a:off x="6265469" y="5667451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</a:t>
              </a:r>
              <a:endParaRPr lang="en-US" sz="900" dirty="0"/>
            </a:p>
          </p:txBody>
        </p:sp>
        <p:sp>
          <p:nvSpPr>
            <p:cNvPr id="161" name="Text 156"/>
            <p:cNvSpPr txBox="1"/>
            <p:nvPr/>
          </p:nvSpPr>
          <p:spPr>
            <a:xfrm>
              <a:off x="6414516" y="5667451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162" name="Text 157"/>
            <p:cNvSpPr txBox="1"/>
            <p:nvPr/>
          </p:nvSpPr>
          <p:spPr>
            <a:xfrm>
              <a:off x="6563563" y="5667451"/>
              <a:ext cx="5413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forget</a:t>
              </a:r>
              <a:endParaRPr lang="en-US" sz="900" dirty="0"/>
            </a:p>
          </p:txBody>
        </p:sp>
        <p:sp>
          <p:nvSpPr>
            <p:cNvPr id="163" name="Text 158"/>
            <p:cNvSpPr txBox="1"/>
            <p:nvPr/>
          </p:nvSpPr>
          <p:spPr>
            <a:xfrm>
              <a:off x="7008876" y="5667451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164" name="Text 159"/>
            <p:cNvSpPr txBox="1"/>
            <p:nvPr/>
          </p:nvSpPr>
          <p:spPr>
            <a:xfrm>
              <a:off x="7083857" y="5667451"/>
              <a:ext cx="121706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A7F3D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'participants_'</a:t>
              </a:r>
              <a:endParaRPr lang="en-US" sz="900" dirty="0"/>
            </a:p>
          </p:txBody>
        </p:sp>
        <p:sp>
          <p:nvSpPr>
            <p:cNvPr id="165" name="Text 160"/>
            <p:cNvSpPr txBox="1"/>
            <p:nvPr/>
          </p:nvSpPr>
          <p:spPr>
            <a:xfrm>
              <a:off x="8197596" y="5667451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.</a:t>
              </a:r>
              <a:endParaRPr lang="en-US" sz="900" dirty="0"/>
            </a:p>
          </p:txBody>
        </p:sp>
        <p:sp>
          <p:nvSpPr>
            <p:cNvPr id="166" name="Text 161"/>
            <p:cNvSpPr txBox="1"/>
            <p:nvPr/>
          </p:nvSpPr>
          <p:spPr>
            <a:xfrm>
              <a:off x="8272577" y="5667451"/>
              <a:ext cx="5413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$calId</a:t>
              </a:r>
              <a:endParaRPr lang="en-US" sz="900" dirty="0"/>
            </a:p>
          </p:txBody>
        </p:sp>
        <p:sp>
          <p:nvSpPr>
            <p:cNvPr id="167" name="Text 162"/>
            <p:cNvSpPr txBox="1"/>
            <p:nvPr/>
          </p:nvSpPr>
          <p:spPr>
            <a:xfrm>
              <a:off x="8718804" y="5667451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);</a:t>
              </a:r>
              <a:endParaRPr lang="en-US" sz="900" dirty="0"/>
            </a:p>
          </p:txBody>
        </p:sp>
        <p:sp>
          <p:nvSpPr>
            <p:cNvPr id="168" name="Text 163"/>
            <p:cNvSpPr txBox="1"/>
            <p:nvPr/>
          </p:nvSpPr>
          <p:spPr>
            <a:xfrm>
              <a:off x="5894222" y="6064301"/>
              <a:ext cx="5413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return</a:t>
              </a:r>
              <a:endParaRPr lang="en-US" sz="900" dirty="0"/>
            </a:p>
          </p:txBody>
        </p:sp>
        <p:sp>
          <p:nvSpPr>
            <p:cNvPr id="169" name="Text 164"/>
            <p:cNvSpPr txBox="1"/>
            <p:nvPr/>
          </p:nvSpPr>
          <p:spPr>
            <a:xfrm>
              <a:off x="6340450" y="6064301"/>
              <a:ext cx="98846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$participant</a:t>
              </a:r>
              <a:endParaRPr lang="en-US" sz="900" dirty="0"/>
            </a:p>
          </p:txBody>
        </p:sp>
        <p:sp>
          <p:nvSpPr>
            <p:cNvPr id="170" name="Text 165"/>
            <p:cNvSpPr txBox="1"/>
            <p:nvPr/>
          </p:nvSpPr>
          <p:spPr>
            <a:xfrm>
              <a:off x="7231990" y="6064301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;</a:t>
              </a:r>
              <a:endParaRPr lang="en-US" sz="900" dirty="0"/>
            </a:p>
          </p:txBody>
        </p:sp>
        <p:sp>
          <p:nvSpPr>
            <p:cNvPr id="171" name="Text 166"/>
            <p:cNvSpPr txBox="1"/>
            <p:nvPr/>
          </p:nvSpPr>
          <p:spPr>
            <a:xfrm>
              <a:off x="5894222" y="6261811"/>
              <a:ext cx="321869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});</a:t>
              </a:r>
              <a:endParaRPr lang="en-US" sz="900" dirty="0"/>
            </a:p>
          </p:txBody>
        </p:sp>
        <p:sp>
          <p:nvSpPr>
            <p:cNvPr id="172" name="Text 167"/>
            <p:cNvSpPr txBox="1"/>
            <p:nvPr/>
          </p:nvSpPr>
          <p:spPr>
            <a:xfrm>
              <a:off x="5894222" y="646023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}</a:t>
              </a:r>
              <a:endParaRPr lang="en-US" sz="900" dirty="0"/>
            </a:p>
          </p:txBody>
        </p:sp>
        <p:sp>
          <p:nvSpPr>
            <p:cNvPr id="173" name="Text 168"/>
            <p:cNvSpPr txBox="1"/>
            <p:nvPr/>
          </p:nvSpPr>
          <p:spPr>
            <a:xfrm>
              <a:off x="6265469" y="6896405"/>
              <a:ext cx="4855464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Everything inside DB::transaction is atomic - all succeed or all fail</a:t>
              </a:r>
              <a:endParaRPr lang="en-US" sz="900" dirty="0"/>
            </a:p>
          </p:txBody>
        </p:sp>
        <p:sp>
          <p:nvSpPr>
            <p:cNvPr id="174" name="Text 169"/>
            <p:cNvSpPr txBox="1"/>
            <p:nvPr/>
          </p:nvSpPr>
          <p:spPr>
            <a:xfrm>
              <a:off x="10210191" y="7381095"/>
              <a:ext cx="1733702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FAFC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EPS Backend Web Training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953098" y="-952805"/>
            <a:ext cx="5715000" cy="5715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-476402" y="3047695"/>
            <a:ext cx="4762195" cy="4762195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10394899" y="866851"/>
            <a:ext cx="1133856" cy="333756"/>
          </a:xfrm>
          <a:prstGeom prst="roundRect">
            <a:avLst>
              <a:gd name="adj" fmla="val 62622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2838" r="-2838"/>
          <a:stretch/>
        </p:blipFill>
        <p:spPr>
          <a:xfrm>
            <a:off x="10556748" y="966521"/>
            <a:ext cx="123444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757002" y="933602"/>
            <a:ext cx="7104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2.2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666598" y="457200"/>
            <a:ext cx="59344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2.2: Complex Business Service</a:t>
            </a:r>
            <a:endParaRPr lang="en-US" sz="2700" dirty="0"/>
          </a:p>
        </p:txBody>
      </p:sp>
      <p:sp>
        <p:nvSpPr>
          <p:cNvPr id="38" name="Text 31"/>
          <p:cNvSpPr txBox="1"/>
          <p:nvPr/>
        </p:nvSpPr>
        <p:spPr>
          <a:xfrm>
            <a:off x="666598" y="961949"/>
            <a:ext cx="33576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Service Layer Implementation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6598" y="1781252"/>
            <a:ext cx="7181698" cy="4781398"/>
          </a:xfrm>
          <a:prstGeom prst="roundRect">
            <a:avLst>
              <a:gd name="adj" fmla="val 418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1949" y="2061486"/>
            <a:ext cx="171907" cy="14238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61949" y="2428063"/>
            <a:ext cx="6590995" cy="441558"/>
          </a:xfrm>
          <a:prstGeom prst="roundRect">
            <a:avLst>
              <a:gd name="adj" fmla="val 30630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9"/>
          <p:cNvSpPr/>
          <p:nvPr/>
        </p:nvSpPr>
        <p:spPr>
          <a:xfrm>
            <a:off x="1123798" y="2562121"/>
            <a:ext cx="228600" cy="189347"/>
          </a:xfrm>
          <a:prstGeom prst="roundRect">
            <a:avLst>
              <a:gd name="adj" fmla="val 100000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1171346" y="2593931"/>
            <a:ext cx="133502" cy="12648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61949" y="2980199"/>
            <a:ext cx="6590995" cy="426410"/>
          </a:xfrm>
          <a:prstGeom prst="roundRect">
            <a:avLst>
              <a:gd name="adj" fmla="val 32893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1"/>
          <p:cNvSpPr txBox="1"/>
          <p:nvPr/>
        </p:nvSpPr>
        <p:spPr>
          <a:xfrm>
            <a:off x="1123798" y="3099109"/>
            <a:ext cx="3572561" cy="189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 operations in DB::transaction for atomicity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961949" y="3517188"/>
            <a:ext cx="6590995" cy="441558"/>
          </a:xfrm>
          <a:prstGeom prst="roundRect">
            <a:avLst>
              <a:gd name="adj" fmla="val 30630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Shape 13"/>
          <p:cNvSpPr/>
          <p:nvPr/>
        </p:nvSpPr>
        <p:spPr>
          <a:xfrm>
            <a:off x="1123798" y="3651246"/>
            <a:ext cx="228600" cy="189347"/>
          </a:xfrm>
          <a:prstGeom prst="roundRect">
            <a:avLst>
              <a:gd name="adj" fmla="val 100000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4"/>
          <p:cNvSpPr/>
          <p:nvPr/>
        </p:nvSpPr>
        <p:spPr>
          <a:xfrm>
            <a:off x="961949" y="4069326"/>
            <a:ext cx="6590995" cy="441558"/>
          </a:xfrm>
          <a:prstGeom prst="roundRect">
            <a:avLst>
              <a:gd name="adj" fmla="val 30630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Shape 15"/>
          <p:cNvSpPr/>
          <p:nvPr/>
        </p:nvSpPr>
        <p:spPr>
          <a:xfrm>
            <a:off x="1123798" y="4203383"/>
            <a:ext cx="228600" cy="189347"/>
          </a:xfrm>
          <a:prstGeom prst="roundRect">
            <a:avLst>
              <a:gd name="adj" fmla="val 100000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6"/>
          <p:cNvSpPr/>
          <p:nvPr/>
        </p:nvSpPr>
        <p:spPr>
          <a:xfrm>
            <a:off x="961949" y="4621462"/>
            <a:ext cx="6590995" cy="441558"/>
          </a:xfrm>
          <a:prstGeom prst="roundRect">
            <a:avLst>
              <a:gd name="adj" fmla="val 30630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17"/>
          <p:cNvSpPr/>
          <p:nvPr/>
        </p:nvSpPr>
        <p:spPr>
          <a:xfrm>
            <a:off x="1123798" y="4755520"/>
            <a:ext cx="228600" cy="189347"/>
          </a:xfrm>
          <a:prstGeom prst="roundRect">
            <a:avLst>
              <a:gd name="adj" fmla="val 100000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18"/>
          <p:cNvSpPr/>
          <p:nvPr/>
        </p:nvSpPr>
        <p:spPr>
          <a:xfrm>
            <a:off x="961949" y="5173599"/>
            <a:ext cx="6590995" cy="441558"/>
          </a:xfrm>
          <a:prstGeom prst="roundRect">
            <a:avLst>
              <a:gd name="adj" fmla="val 30630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Shape 19"/>
          <p:cNvSpPr/>
          <p:nvPr/>
        </p:nvSpPr>
        <p:spPr>
          <a:xfrm>
            <a:off x="1123798" y="5307657"/>
            <a:ext cx="228600" cy="189347"/>
          </a:xfrm>
          <a:prstGeom prst="roundRect">
            <a:avLst>
              <a:gd name="adj" fmla="val 100000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0"/>
          <p:cNvSpPr/>
          <p:nvPr/>
        </p:nvSpPr>
        <p:spPr>
          <a:xfrm>
            <a:off x="961949" y="5741641"/>
            <a:ext cx="6590995" cy="575616"/>
          </a:xfrm>
          <a:prstGeom prst="roundRect">
            <a:avLst>
              <a:gd name="adj" fmla="val 14420"/>
            </a:avLst>
          </a:prstGeom>
          <a:solidFill>
            <a:srgbClr val="8B5CF6">
              <a:alpha val="5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1"/>
          <p:cNvSpPr txBox="1"/>
          <p:nvPr/>
        </p:nvSpPr>
        <p:spPr>
          <a:xfrm>
            <a:off x="1123798" y="5875699"/>
            <a:ext cx="6360566" cy="30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Tip: Encapsulate the entire process within a single Service method to keep your Controller clean and reusable.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8321484" y="1781631"/>
            <a:ext cx="3295498" cy="2295647"/>
          </a:xfrm>
          <a:prstGeom prst="roundRect">
            <a:avLst>
              <a:gd name="adj" fmla="val 1361"/>
            </a:avLst>
          </a:prstGeom>
          <a:solidFill>
            <a:srgbClr val="06B6D4">
              <a:alpha val="5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59228" y="2010362"/>
            <a:ext cx="152705" cy="12648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787828" y="1978552"/>
            <a:ext cx="1219810" cy="189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Objectives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321484" y="4262838"/>
            <a:ext cx="3295498" cy="1151989"/>
          </a:xfrm>
          <a:prstGeom prst="roundRect">
            <a:avLst>
              <a:gd name="adj" fmla="val 54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27"/>
          <p:cNvSpPr/>
          <p:nvPr/>
        </p:nvSpPr>
        <p:spPr>
          <a:xfrm>
            <a:off x="8559228" y="4743780"/>
            <a:ext cx="1285646" cy="20525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28"/>
          <p:cNvSpPr/>
          <p:nvPr/>
        </p:nvSpPr>
        <p:spPr>
          <a:xfrm>
            <a:off x="9912540" y="4743780"/>
            <a:ext cx="1285646" cy="20525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Shape 29"/>
          <p:cNvSpPr/>
          <p:nvPr/>
        </p:nvSpPr>
        <p:spPr>
          <a:xfrm>
            <a:off x="8559228" y="5011896"/>
            <a:ext cx="666598" cy="20525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Text 32"/>
          <p:cNvSpPr txBox="1"/>
          <p:nvPr/>
        </p:nvSpPr>
        <p:spPr>
          <a:xfrm>
            <a:off x="1228954" y="2049368"/>
            <a:ext cx="3805733" cy="1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Checklist: Course Completion Service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1505102" y="2562121"/>
            <a:ext cx="5162702" cy="158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multi-step process: Validation → Processing → Completion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505102" y="3651246"/>
            <a:ext cx="2543861" cy="158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grade calculation logic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505102" y="4203383"/>
            <a:ext cx="3581705" cy="158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certificate PDF and handle file storage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05102" y="4755520"/>
            <a:ext cx="3248863" cy="158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 notification events (Email/System)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1505102" y="5307657"/>
            <a:ext cx="2267712" cy="158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Invalidate relevant cache tags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8559228" y="4467333"/>
            <a:ext cx="1014984" cy="134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8683586" y="4791495"/>
            <a:ext cx="1124712" cy="11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Service Classes</a:t>
            </a:r>
            <a:endParaRPr lang="en-US" sz="900" dirty="0"/>
          </a:p>
        </p:txBody>
      </p:sp>
      <p:sp>
        <p:nvSpPr>
          <p:cNvPr id="49" name="Text 42"/>
          <p:cNvSpPr txBox="1"/>
          <p:nvPr/>
        </p:nvSpPr>
        <p:spPr>
          <a:xfrm>
            <a:off x="10035984" y="4791495"/>
            <a:ext cx="1124712" cy="11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DB Transactions</a:t>
            </a:r>
            <a:endParaRPr lang="en-US" sz="900" dirty="0"/>
          </a:p>
        </p:txBody>
      </p:sp>
      <p:sp>
        <p:nvSpPr>
          <p:cNvPr id="50" name="Text 43"/>
          <p:cNvSpPr txBox="1"/>
          <p:nvPr/>
        </p:nvSpPr>
        <p:spPr>
          <a:xfrm>
            <a:off x="8683586" y="5059611"/>
            <a:ext cx="505663" cy="11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Events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8750338" y="2278478"/>
            <a:ext cx="2015338" cy="134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Layer Pattern Mastery</a:t>
            </a:r>
            <a:endParaRPr lang="en-US" sz="1000" dirty="0"/>
          </a:p>
        </p:txBody>
      </p:sp>
      <p:sp>
        <p:nvSpPr>
          <p:cNvPr id="52" name="Text 45"/>
          <p:cNvSpPr txBox="1"/>
          <p:nvPr/>
        </p:nvSpPr>
        <p:spPr>
          <a:xfrm>
            <a:off x="8750338" y="2523114"/>
            <a:ext cx="1795882" cy="134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Data Consistency</a:t>
            </a:r>
            <a:endParaRPr lang="en-US" sz="1000" dirty="0"/>
          </a:p>
        </p:txBody>
      </p:sp>
      <p:sp>
        <p:nvSpPr>
          <p:cNvPr id="53" name="Text 46"/>
          <p:cNvSpPr txBox="1"/>
          <p:nvPr/>
        </p:nvSpPr>
        <p:spPr>
          <a:xfrm>
            <a:off x="8750338" y="2767751"/>
            <a:ext cx="1519733" cy="134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Managing Side Effects</a:t>
            </a:r>
            <a:endParaRPr lang="en-US" sz="1000" dirty="0"/>
          </a:p>
        </p:txBody>
      </p:sp>
      <p:sp>
        <p:nvSpPr>
          <p:cNvPr id="54" name="Text 47"/>
          <p:cNvSpPr txBox="1"/>
          <p:nvPr/>
        </p:nvSpPr>
        <p:spPr>
          <a:xfrm>
            <a:off x="8750338" y="3012388"/>
            <a:ext cx="1643177" cy="134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Business Logic</a:t>
            </a:r>
            <a:endParaRPr lang="en-US" sz="1000" dirty="0"/>
          </a:p>
        </p:txBody>
      </p:sp>
      <p:sp>
        <p:nvSpPr>
          <p:cNvPr id="55" name="Text 48"/>
          <p:cNvSpPr txBox="1"/>
          <p:nvPr/>
        </p:nvSpPr>
        <p:spPr>
          <a:xfrm>
            <a:off x="10301631" y="6655036"/>
            <a:ext cx="1733702" cy="11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210605" y="-952805"/>
            <a:ext cx="4762195" cy="4762195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09905" y="4000500"/>
            <a:ext cx="4286707" cy="4286707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61695" y="1390802"/>
            <a:ext cx="106683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761695" y="2257654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961949" y="242407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1677" y="2557577"/>
            <a:ext cx="237744" cy="1901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1695" y="3238805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8"/>
          <p:cNvSpPr/>
          <p:nvPr/>
        </p:nvSpPr>
        <p:spPr>
          <a:xfrm>
            <a:off x="961949" y="340522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1080821" y="3538728"/>
            <a:ext cx="219456" cy="19019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61695" y="4219956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0"/>
          <p:cNvSpPr/>
          <p:nvPr/>
        </p:nvSpPr>
        <p:spPr>
          <a:xfrm>
            <a:off x="961949" y="4386377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43F5E">
              <a:alpha val="15000"/>
            </a:srgbClr>
          </a:solidFill>
          <a:ln w="12700">
            <a:solidFill>
              <a:srgbClr val="F43F5E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5451" y="4519879"/>
            <a:ext cx="190195" cy="19019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61695" y="5201107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2"/>
          <p:cNvSpPr/>
          <p:nvPr/>
        </p:nvSpPr>
        <p:spPr>
          <a:xfrm>
            <a:off x="961949" y="5367528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1677" y="5501030"/>
            <a:ext cx="237744" cy="19019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86500" y="2257654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Shape 14"/>
          <p:cNvSpPr/>
          <p:nvPr/>
        </p:nvSpPr>
        <p:spPr>
          <a:xfrm>
            <a:off x="6486754" y="242407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20256" y="2557577"/>
            <a:ext cx="190195" cy="19019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286500" y="3238805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16"/>
          <p:cNvSpPr/>
          <p:nvPr/>
        </p:nvSpPr>
        <p:spPr>
          <a:xfrm>
            <a:off x="6486754" y="340522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20256" y="3538728"/>
            <a:ext cx="190195" cy="190195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286500" y="4219956"/>
            <a:ext cx="5143500" cy="790956"/>
          </a:xfrm>
          <a:prstGeom prst="roundRect">
            <a:avLst>
              <a:gd name="adj" fmla="val 167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Shape 18"/>
          <p:cNvSpPr/>
          <p:nvPr/>
        </p:nvSpPr>
        <p:spPr>
          <a:xfrm>
            <a:off x="6486754" y="4386377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644030" y="4519879"/>
            <a:ext cx="142646" cy="19019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61695" y="457200"/>
            <a:ext cx="47439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Management &amp; Uploads</a:t>
            </a:r>
            <a:endParaRPr lang="en-US" sz="2700" dirty="0"/>
          </a:p>
        </p:txBody>
      </p:sp>
      <p:sp>
        <p:nvSpPr>
          <p:cNvPr id="29" name="Text 20"/>
          <p:cNvSpPr txBox="1"/>
          <p:nvPr/>
        </p:nvSpPr>
        <p:spPr>
          <a:xfrm>
            <a:off x="761695" y="961949"/>
            <a:ext cx="35771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handling with Spatie Media Library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800100" y="1790395"/>
            <a:ext cx="13716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LIBRARY FEATURES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1609344" y="2428646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Upload Handling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1609344" y="2695651"/>
            <a:ext cx="38413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file uploads associated with Eloquent models</a:t>
            </a:r>
            <a:endParaRPr lang="en-US" sz="1100" dirty="0"/>
          </a:p>
        </p:txBody>
      </p:sp>
      <p:sp>
        <p:nvSpPr>
          <p:cNvPr id="33" name="Text 24"/>
          <p:cNvSpPr txBox="1"/>
          <p:nvPr/>
        </p:nvSpPr>
        <p:spPr>
          <a:xfrm>
            <a:off x="1609344" y="3409798"/>
            <a:ext cx="1677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Media Collections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1609344" y="3676802"/>
            <a:ext cx="381304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 files into named groups (e.g., 'avatar', 'docs')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1609344" y="4390949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 Validation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1609344" y="4657954"/>
            <a:ext cx="342259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validation of MIME types and file sizes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1609344" y="5372100"/>
            <a:ext cx="14008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URL Generation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1609344" y="5639105"/>
            <a:ext cx="36795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methods to retrieve public or temporary URLs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6324905" y="1790395"/>
            <a:ext cx="1334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USAGE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7134149" y="2428646"/>
            <a:ext cx="1677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 Thumbnails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7134149" y="2695651"/>
            <a:ext cx="36127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image storage and retrieval for UI display</a:t>
            </a:r>
            <a:endParaRPr lang="en-US" sz="1100" dirty="0"/>
          </a:p>
        </p:txBody>
      </p:sp>
      <p:sp>
        <p:nvSpPr>
          <p:cNvPr id="42" name="Text 33"/>
          <p:cNvSpPr txBox="1"/>
          <p:nvPr/>
        </p:nvSpPr>
        <p:spPr>
          <a:xfrm>
            <a:off x="7134149" y="3409798"/>
            <a:ext cx="15819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 Materials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7134149" y="3676802"/>
            <a:ext cx="336499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storage for PDFs, documents, and slides</a:t>
            </a:r>
            <a:endParaRPr lang="en-US" sz="1100" dirty="0"/>
          </a:p>
        </p:txBody>
      </p:sp>
      <p:sp>
        <p:nvSpPr>
          <p:cNvPr id="44" name="Text 35"/>
          <p:cNvSpPr txBox="1"/>
          <p:nvPr/>
        </p:nvSpPr>
        <p:spPr>
          <a:xfrm>
            <a:off x="7134149" y="4390949"/>
            <a:ext cx="2134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Certificates &amp; Reports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7134149" y="4657954"/>
            <a:ext cx="33933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documents stored and linked to users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6286500" y="5447995"/>
            <a:ext cx="5143500" cy="933602"/>
          </a:xfrm>
          <a:prstGeom prst="roundRect">
            <a:avLst>
              <a:gd name="adj" fmla="val 799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7" name="Text 38"/>
          <p:cNvSpPr txBox="1"/>
          <p:nvPr/>
        </p:nvSpPr>
        <p:spPr>
          <a:xfrm>
            <a:off x="6448349" y="5619902"/>
            <a:ext cx="18105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>
                    <a:alpha val="8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Example Implementation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6448349" y="5857646"/>
            <a:ext cx="34628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>
                    <a:alpha val="8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$course-&gt;addMedia($request-&gt;file('image'))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6448349" y="6048756"/>
            <a:ext cx="28245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>
                    <a:alpha val="8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-&gt;toMediaCollection('thumbnails');</a:t>
            </a:r>
            <a:endParaRPr lang="en-US" sz="1000" dirty="0"/>
          </a:p>
        </p:txBody>
      </p:sp>
      <p:sp>
        <p:nvSpPr>
          <p:cNvPr id="50" name="Text 41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-476402" y="-952805"/>
            <a:ext cx="5715000" cy="57150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7905902" y="3047695"/>
            <a:ext cx="4762195" cy="4762195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3" name="Text 25"/>
          <p:cNvSpPr txBox="1"/>
          <p:nvPr/>
        </p:nvSpPr>
        <p:spPr>
          <a:xfrm>
            <a:off x="666598" y="457200"/>
            <a:ext cx="32772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&amp; PDF Export</a:t>
            </a:r>
            <a:endParaRPr lang="en-US" sz="2700" dirty="0"/>
          </a:p>
        </p:txBody>
      </p:sp>
      <p:sp>
        <p:nvSpPr>
          <p:cNvPr id="34" name="Text 26"/>
          <p:cNvSpPr txBox="1"/>
          <p:nvPr/>
        </p:nvSpPr>
        <p:spPr>
          <a:xfrm>
            <a:off x="666598" y="961949"/>
            <a:ext cx="32625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Reporting &amp; Document Generation</a:t>
            </a:r>
            <a:endParaRPr lang="en-US" sz="1300" dirty="0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AEDD06F-90E0-2A76-A875-79E0DF86AA90}"/>
              </a:ext>
            </a:extLst>
          </p:cNvPr>
          <p:cNvGrpSpPr/>
          <p:nvPr/>
        </p:nvGrpSpPr>
        <p:grpSpPr>
          <a:xfrm>
            <a:off x="666598" y="1686154"/>
            <a:ext cx="11376050" cy="5171846"/>
            <a:chOff x="666598" y="1686154"/>
            <a:chExt cx="11376050" cy="5890690"/>
          </a:xfrm>
        </p:grpSpPr>
        <p:sp>
          <p:nvSpPr>
            <p:cNvPr id="7" name="Shape 5"/>
            <p:cNvSpPr/>
            <p:nvPr/>
          </p:nvSpPr>
          <p:spPr>
            <a:xfrm>
              <a:off x="666598" y="1686154"/>
              <a:ext cx="5238598" cy="5619902"/>
            </a:xfrm>
            <a:prstGeom prst="roundRect">
              <a:avLst>
                <a:gd name="adj" fmla="val 508"/>
              </a:avLst>
            </a:prstGeom>
            <a:solidFill>
              <a:srgbClr val="1E293B">
                <a:alpha val="40000"/>
              </a:srgbClr>
            </a:solidFill>
            <a:ln w="508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Shape 6"/>
            <p:cNvSpPr/>
            <p:nvPr/>
          </p:nvSpPr>
          <p:spPr>
            <a:xfrm>
              <a:off x="676656" y="2714854"/>
              <a:ext cx="5219395" cy="9144"/>
            </a:xfrm>
            <a:prstGeom prst="rect">
              <a:avLst/>
            </a:prstGeom>
            <a:solidFill>
              <a:srgbClr val="94A3B8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9" name="Shape 7"/>
            <p:cNvSpPr/>
            <p:nvPr/>
          </p:nvSpPr>
          <p:spPr>
            <a:xfrm>
              <a:off x="905256" y="1952244"/>
              <a:ext cx="533095" cy="533095"/>
            </a:xfrm>
            <a:prstGeom prst="roundRect">
              <a:avLst>
                <a:gd name="adj" fmla="val 36756"/>
              </a:avLst>
            </a:prstGeom>
            <a:solidFill>
              <a:srgbClr val="10B981">
                <a:alpha val="15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10" name="Image 0" descr="preencoded.png"/>
            <p:cNvPicPr>
              <a:picLocks noChangeAspect="1"/>
            </p:cNvPicPr>
            <p:nvPr/>
          </p:nvPicPr>
          <p:blipFill>
            <a:blip r:embed="rId3"/>
            <a:srcRect l="-133" r="-133"/>
            <a:stretch/>
          </p:blipFill>
          <p:spPr>
            <a:xfrm>
              <a:off x="1086307" y="2104949"/>
              <a:ext cx="171907" cy="228600"/>
            </a:xfrm>
            <a:prstGeom prst="rect">
              <a:avLst/>
            </a:prstGeom>
          </p:spPr>
        </p:pic>
        <p:sp>
          <p:nvSpPr>
            <p:cNvPr id="11" name="Text 8"/>
            <p:cNvSpPr txBox="1"/>
            <p:nvPr/>
          </p:nvSpPr>
          <p:spPr>
            <a:xfrm>
              <a:off x="905256" y="2952598"/>
              <a:ext cx="4870094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Implement FromQuery interface for memory-efficient handling of large datasets</a:t>
              </a:r>
              <a:endParaRPr lang="en-US" sz="1100" dirty="0"/>
            </a:p>
          </p:txBody>
        </p:sp>
        <p:sp>
          <p:nvSpPr>
            <p:cNvPr id="12" name="Text 9"/>
            <p:cNvSpPr txBox="1"/>
            <p:nvPr/>
          </p:nvSpPr>
          <p:spPr>
            <a:xfrm>
              <a:off x="905256" y="3467405"/>
              <a:ext cx="414589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Strict typing with WithMapping and WithHeadings concerns</a:t>
              </a:r>
              <a:endParaRPr lang="en-US" sz="1100" dirty="0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rcRect l="-2571" r="-2571"/>
            <a:stretch/>
          </p:blipFill>
          <p:spPr>
            <a:xfrm>
              <a:off x="905256" y="3819449"/>
              <a:ext cx="105156" cy="114300"/>
            </a:xfrm>
            <a:prstGeom prst="rect">
              <a:avLst/>
            </a:prstGeom>
          </p:spPr>
        </p:pic>
        <p:sp>
          <p:nvSpPr>
            <p:cNvPr id="14" name="Shape 10"/>
            <p:cNvSpPr/>
            <p:nvPr/>
          </p:nvSpPr>
          <p:spPr>
            <a:xfrm>
              <a:off x="905256" y="4410151"/>
              <a:ext cx="4762195" cy="2657246"/>
            </a:xfrm>
            <a:prstGeom prst="roundRect">
              <a:avLst>
                <a:gd name="adj" fmla="val 987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94A3B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Shape 11"/>
            <p:cNvSpPr/>
            <p:nvPr/>
          </p:nvSpPr>
          <p:spPr>
            <a:xfrm>
              <a:off x="914400" y="4419295"/>
              <a:ext cx="4743907" cy="314554"/>
            </a:xfrm>
            <a:prstGeom prst="rect">
              <a:avLst/>
            </a:prstGeom>
            <a:solidFill>
              <a:srgbClr val="1E293B">
                <a:alpha val="8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Shape 12"/>
            <p:cNvSpPr/>
            <p:nvPr/>
          </p:nvSpPr>
          <p:spPr>
            <a:xfrm>
              <a:off x="914400" y="4724705"/>
              <a:ext cx="4743907" cy="9144"/>
            </a:xfrm>
            <a:prstGeom prst="rect">
              <a:avLst/>
            </a:prstGeom>
            <a:solidFill>
              <a:srgbClr val="94A3B8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Shape 13"/>
            <p:cNvSpPr/>
            <p:nvPr/>
          </p:nvSpPr>
          <p:spPr>
            <a:xfrm>
              <a:off x="1028700" y="4533595"/>
              <a:ext cx="75895" cy="75895"/>
            </a:xfrm>
            <a:prstGeom prst="ellipse">
              <a:avLst/>
            </a:prstGeom>
            <a:solidFill>
              <a:srgbClr val="EF4444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Shape 14"/>
            <p:cNvSpPr/>
            <p:nvPr/>
          </p:nvSpPr>
          <p:spPr>
            <a:xfrm>
              <a:off x="1162202" y="4533595"/>
              <a:ext cx="75895" cy="75895"/>
            </a:xfrm>
            <a:prstGeom prst="ellipse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Shape 15"/>
            <p:cNvSpPr/>
            <p:nvPr/>
          </p:nvSpPr>
          <p:spPr>
            <a:xfrm>
              <a:off x="1295705" y="4533595"/>
              <a:ext cx="75895" cy="75895"/>
            </a:xfrm>
            <a:prstGeom prst="ellipse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Shape 16"/>
            <p:cNvSpPr/>
            <p:nvPr/>
          </p:nvSpPr>
          <p:spPr>
            <a:xfrm>
              <a:off x="6286500" y="1686154"/>
              <a:ext cx="5238598" cy="5619902"/>
            </a:xfrm>
            <a:prstGeom prst="roundRect">
              <a:avLst>
                <a:gd name="adj" fmla="val 508"/>
              </a:avLst>
            </a:prstGeom>
            <a:solidFill>
              <a:srgbClr val="1E293B">
                <a:alpha val="40000"/>
              </a:srgbClr>
            </a:solidFill>
            <a:ln w="508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Shape 17"/>
            <p:cNvSpPr/>
            <p:nvPr/>
          </p:nvSpPr>
          <p:spPr>
            <a:xfrm>
              <a:off x="6295644" y="2714854"/>
              <a:ext cx="5219395" cy="9144"/>
            </a:xfrm>
            <a:prstGeom prst="rect">
              <a:avLst/>
            </a:prstGeom>
            <a:solidFill>
              <a:srgbClr val="94A3B8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Shape 18"/>
            <p:cNvSpPr/>
            <p:nvPr/>
          </p:nvSpPr>
          <p:spPr>
            <a:xfrm>
              <a:off x="6524244" y="1952244"/>
              <a:ext cx="533095" cy="533095"/>
            </a:xfrm>
            <a:prstGeom prst="roundRect">
              <a:avLst>
                <a:gd name="adj" fmla="val 36756"/>
              </a:avLst>
            </a:prstGeom>
            <a:solidFill>
              <a:srgbClr val="EF4444">
                <a:alpha val="15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23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676949" y="2104949"/>
              <a:ext cx="228600" cy="228600"/>
            </a:xfrm>
            <a:prstGeom prst="rect">
              <a:avLst/>
            </a:prstGeom>
          </p:spPr>
        </p:pic>
        <p:pic>
          <p:nvPicPr>
            <p:cNvPr id="24" name="Image 3" descr="preencoded.png"/>
            <p:cNvPicPr>
              <a:picLocks noChangeAspect="1"/>
            </p:cNvPicPr>
            <p:nvPr/>
          </p:nvPicPr>
          <p:blipFill>
            <a:blip r:embed="rId6"/>
            <a:srcRect l="-2571" r="-2571"/>
            <a:stretch/>
          </p:blipFill>
          <p:spPr>
            <a:xfrm>
              <a:off x="6524244" y="2991002"/>
              <a:ext cx="105156" cy="114300"/>
            </a:xfrm>
            <a:prstGeom prst="rect">
              <a:avLst/>
            </a:prstGeom>
          </p:spPr>
        </p:pic>
        <p:pic>
          <p:nvPicPr>
            <p:cNvPr id="25" name="Image 4" descr="preencoded.png"/>
            <p:cNvPicPr>
              <a:picLocks noChangeAspect="1"/>
            </p:cNvPicPr>
            <p:nvPr/>
          </p:nvPicPr>
          <p:blipFill>
            <a:blip r:embed="rId6"/>
            <a:srcRect l="-2571" r="-2571"/>
            <a:stretch/>
          </p:blipFill>
          <p:spPr>
            <a:xfrm>
              <a:off x="6524244" y="3305556"/>
              <a:ext cx="105156" cy="114300"/>
            </a:xfrm>
            <a:prstGeom prst="rect">
              <a:avLst/>
            </a:prstGeom>
          </p:spPr>
        </p:pic>
        <p:pic>
          <p:nvPicPr>
            <p:cNvPr id="26" name="Image 5" descr="preencoded.png"/>
            <p:cNvPicPr>
              <a:picLocks noChangeAspect="1"/>
            </p:cNvPicPr>
            <p:nvPr/>
          </p:nvPicPr>
          <p:blipFill>
            <a:blip r:embed="rId6"/>
            <a:srcRect l="-2571" r="-2571"/>
            <a:stretch/>
          </p:blipFill>
          <p:spPr>
            <a:xfrm>
              <a:off x="6524244" y="3819449"/>
              <a:ext cx="105156" cy="114300"/>
            </a:xfrm>
            <a:prstGeom prst="rect">
              <a:avLst/>
            </a:prstGeom>
          </p:spPr>
        </p:pic>
        <p:sp>
          <p:nvSpPr>
            <p:cNvPr id="27" name="Shape 19"/>
            <p:cNvSpPr/>
            <p:nvPr/>
          </p:nvSpPr>
          <p:spPr>
            <a:xfrm>
              <a:off x="6524244" y="4775911"/>
              <a:ext cx="4762195" cy="2286000"/>
            </a:xfrm>
            <a:prstGeom prst="roundRect">
              <a:avLst>
                <a:gd name="adj" fmla="val 1333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94A3B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Shape 20"/>
            <p:cNvSpPr/>
            <p:nvPr/>
          </p:nvSpPr>
          <p:spPr>
            <a:xfrm>
              <a:off x="6534302" y="4785970"/>
              <a:ext cx="4743907" cy="314554"/>
            </a:xfrm>
            <a:prstGeom prst="rect">
              <a:avLst/>
            </a:prstGeom>
            <a:solidFill>
              <a:srgbClr val="1E293B">
                <a:alpha val="8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29" name="Shape 21"/>
            <p:cNvSpPr/>
            <p:nvPr/>
          </p:nvSpPr>
          <p:spPr>
            <a:xfrm>
              <a:off x="6534302" y="5091379"/>
              <a:ext cx="4743907" cy="9144"/>
            </a:xfrm>
            <a:prstGeom prst="rect">
              <a:avLst/>
            </a:prstGeom>
            <a:solidFill>
              <a:srgbClr val="94A3B8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Shape 22"/>
            <p:cNvSpPr/>
            <p:nvPr/>
          </p:nvSpPr>
          <p:spPr>
            <a:xfrm>
              <a:off x="6648602" y="4900270"/>
              <a:ext cx="75895" cy="75895"/>
            </a:xfrm>
            <a:prstGeom prst="ellipse">
              <a:avLst/>
            </a:prstGeom>
            <a:solidFill>
              <a:srgbClr val="EF4444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31" name="Shape 23"/>
            <p:cNvSpPr/>
            <p:nvPr/>
          </p:nvSpPr>
          <p:spPr>
            <a:xfrm>
              <a:off x="6782105" y="4900270"/>
              <a:ext cx="75895" cy="75895"/>
            </a:xfrm>
            <a:prstGeom prst="ellipse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32" name="Shape 24"/>
            <p:cNvSpPr/>
            <p:nvPr/>
          </p:nvSpPr>
          <p:spPr>
            <a:xfrm>
              <a:off x="6915607" y="4900270"/>
              <a:ext cx="75895" cy="75895"/>
            </a:xfrm>
            <a:prstGeom prst="ellipse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35" name="Text 27"/>
            <p:cNvSpPr txBox="1"/>
            <p:nvPr/>
          </p:nvSpPr>
          <p:spPr>
            <a:xfrm>
              <a:off x="1591056" y="1993392"/>
              <a:ext cx="13057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1F5F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Excel Export</a:t>
              </a:r>
              <a:endParaRPr lang="en-US" sz="1500" dirty="0"/>
            </a:p>
          </p:txBody>
        </p:sp>
        <p:sp>
          <p:nvSpPr>
            <p:cNvPr id="36" name="Text 28"/>
            <p:cNvSpPr txBox="1"/>
            <p:nvPr/>
          </p:nvSpPr>
          <p:spPr>
            <a:xfrm>
              <a:off x="1591056" y="2297887"/>
              <a:ext cx="19604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Maatwebsite/Laravel-Excel</a:t>
              </a:r>
              <a:endParaRPr lang="en-US" sz="900" dirty="0"/>
            </a:p>
          </p:txBody>
        </p:sp>
        <p:sp>
          <p:nvSpPr>
            <p:cNvPr id="37" name="Text 29"/>
            <p:cNvSpPr txBox="1"/>
            <p:nvPr/>
          </p:nvSpPr>
          <p:spPr>
            <a:xfrm>
              <a:off x="1123798" y="3791102"/>
              <a:ext cx="4184294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Auto-sizing columns and custom cell styling for professional reports</a:t>
              </a:r>
              <a:endParaRPr lang="en-US" sz="1100" dirty="0"/>
            </a:p>
          </p:txBody>
        </p:sp>
        <p:sp>
          <p:nvSpPr>
            <p:cNvPr id="38" name="Text 30"/>
            <p:cNvSpPr txBox="1"/>
            <p:nvPr/>
          </p:nvSpPr>
          <p:spPr>
            <a:xfrm>
              <a:off x="1505102" y="4505249"/>
              <a:ext cx="1257300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FAFC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CoursesExport.php</a:t>
              </a:r>
              <a:endParaRPr lang="en-US" sz="900" dirty="0"/>
            </a:p>
          </p:txBody>
        </p:sp>
        <p:sp>
          <p:nvSpPr>
            <p:cNvPr id="39" name="Text 31"/>
            <p:cNvSpPr txBox="1"/>
            <p:nvPr/>
          </p:nvSpPr>
          <p:spPr>
            <a:xfrm>
              <a:off x="1067105" y="4895698"/>
              <a:ext cx="43891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class</a:t>
              </a:r>
              <a:endParaRPr lang="en-US" sz="900" dirty="0"/>
            </a:p>
          </p:txBody>
        </p:sp>
        <p:sp>
          <p:nvSpPr>
            <p:cNvPr id="40" name="Text 32"/>
            <p:cNvSpPr txBox="1"/>
            <p:nvPr/>
          </p:nvSpPr>
          <p:spPr>
            <a:xfrm>
              <a:off x="1410005" y="4895698"/>
              <a:ext cx="9811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CoursesExport</a:t>
              </a:r>
              <a:endParaRPr lang="en-US" sz="900" dirty="0"/>
            </a:p>
          </p:txBody>
        </p:sp>
        <p:sp>
          <p:nvSpPr>
            <p:cNvPr id="41" name="Text 33"/>
            <p:cNvSpPr txBox="1"/>
            <p:nvPr/>
          </p:nvSpPr>
          <p:spPr>
            <a:xfrm>
              <a:off x="2301545" y="4895698"/>
              <a:ext cx="78181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implements</a:t>
              </a:r>
              <a:endParaRPr lang="en-US" sz="900" dirty="0"/>
            </a:p>
          </p:txBody>
        </p:sp>
        <p:sp>
          <p:nvSpPr>
            <p:cNvPr id="42" name="Text 34"/>
            <p:cNvSpPr txBox="1"/>
            <p:nvPr/>
          </p:nvSpPr>
          <p:spPr>
            <a:xfrm>
              <a:off x="2987345" y="4895698"/>
              <a:ext cx="7050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FromQuery</a:t>
              </a:r>
              <a:endParaRPr lang="en-US" sz="900" dirty="0"/>
            </a:p>
          </p:txBody>
        </p:sp>
        <p:sp>
          <p:nvSpPr>
            <p:cNvPr id="43" name="Text 35"/>
            <p:cNvSpPr txBox="1"/>
            <p:nvPr/>
          </p:nvSpPr>
          <p:spPr>
            <a:xfrm>
              <a:off x="3604565" y="489569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{</a:t>
              </a:r>
              <a:endParaRPr lang="en-US" sz="900" dirty="0"/>
            </a:p>
          </p:txBody>
        </p:sp>
        <p:sp>
          <p:nvSpPr>
            <p:cNvPr id="44" name="Text 36"/>
            <p:cNvSpPr txBox="1"/>
            <p:nvPr/>
          </p:nvSpPr>
          <p:spPr>
            <a:xfrm>
              <a:off x="1067105" y="5078578"/>
              <a:ext cx="112471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public function</a:t>
              </a:r>
              <a:endParaRPr lang="en-US" sz="900" dirty="0"/>
            </a:p>
          </p:txBody>
        </p:sp>
        <p:sp>
          <p:nvSpPr>
            <p:cNvPr id="45" name="Text 37"/>
            <p:cNvSpPr txBox="1"/>
            <p:nvPr/>
          </p:nvSpPr>
          <p:spPr>
            <a:xfrm>
              <a:off x="2095805" y="5078578"/>
              <a:ext cx="43891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query</a:t>
              </a:r>
              <a:endParaRPr lang="en-US" sz="900" dirty="0"/>
            </a:p>
          </p:txBody>
        </p:sp>
        <p:sp>
          <p:nvSpPr>
            <p:cNvPr id="46" name="Text 38"/>
            <p:cNvSpPr txBox="1"/>
            <p:nvPr/>
          </p:nvSpPr>
          <p:spPr>
            <a:xfrm>
              <a:off x="2438705" y="5078578"/>
              <a:ext cx="3621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 {</a:t>
              </a:r>
              <a:endParaRPr lang="en-US" sz="900" dirty="0"/>
            </a:p>
          </p:txBody>
        </p:sp>
        <p:sp>
          <p:nvSpPr>
            <p:cNvPr id="47" name="Text 39"/>
            <p:cNvSpPr txBox="1"/>
            <p:nvPr/>
          </p:nvSpPr>
          <p:spPr>
            <a:xfrm>
              <a:off x="1067105" y="5261458"/>
              <a:ext cx="5056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return</a:t>
              </a:r>
              <a:endParaRPr lang="en-US" sz="900" dirty="0"/>
            </a:p>
          </p:txBody>
        </p:sp>
        <p:sp>
          <p:nvSpPr>
            <p:cNvPr id="48" name="Text 40"/>
            <p:cNvSpPr txBox="1"/>
            <p:nvPr/>
          </p:nvSpPr>
          <p:spPr>
            <a:xfrm>
              <a:off x="1478585" y="5261458"/>
              <a:ext cx="5056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Course</a:t>
              </a:r>
              <a:endParaRPr lang="en-US" sz="900" dirty="0"/>
            </a:p>
          </p:txBody>
        </p:sp>
        <p:sp>
          <p:nvSpPr>
            <p:cNvPr id="49" name="Text 41"/>
            <p:cNvSpPr txBox="1"/>
            <p:nvPr/>
          </p:nvSpPr>
          <p:spPr>
            <a:xfrm>
              <a:off x="1890065" y="526145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::</a:t>
              </a:r>
              <a:endParaRPr lang="en-US" sz="900" dirty="0"/>
            </a:p>
          </p:txBody>
        </p:sp>
        <p:sp>
          <p:nvSpPr>
            <p:cNvPr id="50" name="Text 42"/>
            <p:cNvSpPr txBox="1"/>
            <p:nvPr/>
          </p:nvSpPr>
          <p:spPr>
            <a:xfrm>
              <a:off x="2027225" y="5261458"/>
              <a:ext cx="43891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query</a:t>
              </a:r>
              <a:endParaRPr lang="en-US" sz="900" dirty="0"/>
            </a:p>
          </p:txBody>
        </p:sp>
        <p:sp>
          <p:nvSpPr>
            <p:cNvPr id="51" name="Text 43"/>
            <p:cNvSpPr txBox="1"/>
            <p:nvPr/>
          </p:nvSpPr>
          <p:spPr>
            <a:xfrm>
              <a:off x="2370125" y="526145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</a:t>
              </a:r>
              <a:endParaRPr lang="en-US" sz="900" dirty="0"/>
            </a:p>
          </p:txBody>
        </p:sp>
        <p:sp>
          <p:nvSpPr>
            <p:cNvPr id="52" name="Text 44"/>
            <p:cNvSpPr txBox="1"/>
            <p:nvPr/>
          </p:nvSpPr>
          <p:spPr>
            <a:xfrm>
              <a:off x="2507285" y="526145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53" name="Text 45"/>
            <p:cNvSpPr txBox="1"/>
            <p:nvPr/>
          </p:nvSpPr>
          <p:spPr>
            <a:xfrm>
              <a:off x="2644445" y="5261458"/>
              <a:ext cx="3621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with</a:t>
              </a:r>
              <a:endParaRPr lang="en-US" sz="900" dirty="0"/>
            </a:p>
          </p:txBody>
        </p:sp>
        <p:sp>
          <p:nvSpPr>
            <p:cNvPr id="54" name="Text 46"/>
            <p:cNvSpPr txBox="1"/>
            <p:nvPr/>
          </p:nvSpPr>
          <p:spPr>
            <a:xfrm>
              <a:off x="2918765" y="526145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55" name="Text 47"/>
            <p:cNvSpPr txBox="1"/>
            <p:nvPr/>
          </p:nvSpPr>
          <p:spPr>
            <a:xfrm>
              <a:off x="2987345" y="5261458"/>
              <a:ext cx="78181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A7F3D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'sessions'</a:t>
              </a:r>
              <a:endParaRPr lang="en-US" sz="900" dirty="0"/>
            </a:p>
          </p:txBody>
        </p:sp>
        <p:sp>
          <p:nvSpPr>
            <p:cNvPr id="56" name="Text 48"/>
            <p:cNvSpPr txBox="1"/>
            <p:nvPr/>
          </p:nvSpPr>
          <p:spPr>
            <a:xfrm>
              <a:off x="3673145" y="526145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);</a:t>
              </a:r>
              <a:endParaRPr lang="en-US" sz="900" dirty="0"/>
            </a:p>
          </p:txBody>
        </p:sp>
        <p:sp>
          <p:nvSpPr>
            <p:cNvPr id="57" name="Text 49"/>
            <p:cNvSpPr txBox="1"/>
            <p:nvPr/>
          </p:nvSpPr>
          <p:spPr>
            <a:xfrm>
              <a:off x="1067105" y="544433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}</a:t>
              </a:r>
              <a:endParaRPr lang="en-US" sz="900" dirty="0"/>
            </a:p>
          </p:txBody>
        </p:sp>
        <p:sp>
          <p:nvSpPr>
            <p:cNvPr id="58" name="Text 50"/>
            <p:cNvSpPr txBox="1"/>
            <p:nvPr/>
          </p:nvSpPr>
          <p:spPr>
            <a:xfrm>
              <a:off x="1067105" y="5627218"/>
              <a:ext cx="112471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public function</a:t>
              </a:r>
              <a:endParaRPr lang="en-US" sz="900" dirty="0"/>
            </a:p>
          </p:txBody>
        </p:sp>
        <p:sp>
          <p:nvSpPr>
            <p:cNvPr id="59" name="Text 51"/>
            <p:cNvSpPr txBox="1"/>
            <p:nvPr/>
          </p:nvSpPr>
          <p:spPr>
            <a:xfrm>
              <a:off x="2095805" y="5627218"/>
              <a:ext cx="2953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map</a:t>
              </a:r>
              <a:endParaRPr lang="en-US" sz="900" dirty="0"/>
            </a:p>
          </p:txBody>
        </p:sp>
        <p:sp>
          <p:nvSpPr>
            <p:cNvPr id="60" name="Text 52"/>
            <p:cNvSpPr txBox="1"/>
            <p:nvPr/>
          </p:nvSpPr>
          <p:spPr>
            <a:xfrm>
              <a:off x="2301545" y="5627218"/>
              <a:ext cx="5056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($row)</a:t>
              </a:r>
              <a:endParaRPr lang="en-US" sz="900" dirty="0"/>
            </a:p>
          </p:txBody>
        </p:sp>
        <p:sp>
          <p:nvSpPr>
            <p:cNvPr id="61" name="Text 53"/>
            <p:cNvSpPr txBox="1"/>
            <p:nvPr/>
          </p:nvSpPr>
          <p:spPr>
            <a:xfrm>
              <a:off x="2713025" y="562721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:</a:t>
              </a:r>
              <a:endParaRPr lang="en-US" sz="900" dirty="0"/>
            </a:p>
          </p:txBody>
        </p:sp>
        <p:sp>
          <p:nvSpPr>
            <p:cNvPr id="62" name="Text 54"/>
            <p:cNvSpPr txBox="1"/>
            <p:nvPr/>
          </p:nvSpPr>
          <p:spPr>
            <a:xfrm>
              <a:off x="2781605" y="5627218"/>
              <a:ext cx="43891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array</a:t>
              </a:r>
              <a:endParaRPr lang="en-US" sz="900" dirty="0"/>
            </a:p>
          </p:txBody>
        </p:sp>
        <p:sp>
          <p:nvSpPr>
            <p:cNvPr id="63" name="Text 55"/>
            <p:cNvSpPr txBox="1"/>
            <p:nvPr/>
          </p:nvSpPr>
          <p:spPr>
            <a:xfrm>
              <a:off x="3124505" y="562721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{</a:t>
              </a:r>
              <a:endParaRPr lang="en-US" sz="900" dirty="0"/>
            </a:p>
          </p:txBody>
        </p:sp>
        <p:sp>
          <p:nvSpPr>
            <p:cNvPr id="64" name="Text 56"/>
            <p:cNvSpPr txBox="1"/>
            <p:nvPr/>
          </p:nvSpPr>
          <p:spPr>
            <a:xfrm>
              <a:off x="1067105" y="5810098"/>
              <a:ext cx="5056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return</a:t>
              </a:r>
              <a:endParaRPr lang="en-US" sz="900" dirty="0"/>
            </a:p>
          </p:txBody>
        </p:sp>
        <p:sp>
          <p:nvSpPr>
            <p:cNvPr id="65" name="Text 57"/>
            <p:cNvSpPr txBox="1"/>
            <p:nvPr/>
          </p:nvSpPr>
          <p:spPr>
            <a:xfrm>
              <a:off x="1478585" y="581009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[</a:t>
              </a:r>
              <a:endParaRPr lang="en-US" sz="900" dirty="0"/>
            </a:p>
          </p:txBody>
        </p:sp>
        <p:sp>
          <p:nvSpPr>
            <p:cNvPr id="66" name="Text 58"/>
            <p:cNvSpPr txBox="1"/>
            <p:nvPr/>
          </p:nvSpPr>
          <p:spPr>
            <a:xfrm>
              <a:off x="1067105" y="5992978"/>
              <a:ext cx="3621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$row</a:t>
              </a:r>
              <a:endParaRPr lang="en-US" sz="900" dirty="0"/>
            </a:p>
          </p:txBody>
        </p:sp>
        <p:sp>
          <p:nvSpPr>
            <p:cNvPr id="67" name="Text 59"/>
            <p:cNvSpPr txBox="1"/>
            <p:nvPr/>
          </p:nvSpPr>
          <p:spPr>
            <a:xfrm>
              <a:off x="1341425" y="599297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68" name="Text 60"/>
            <p:cNvSpPr txBox="1"/>
            <p:nvPr/>
          </p:nvSpPr>
          <p:spPr>
            <a:xfrm>
              <a:off x="1478585" y="5992978"/>
              <a:ext cx="43891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name,</a:t>
              </a:r>
              <a:endParaRPr lang="en-US" sz="900" dirty="0"/>
            </a:p>
          </p:txBody>
        </p:sp>
        <p:sp>
          <p:nvSpPr>
            <p:cNvPr id="69" name="Text 61"/>
            <p:cNvSpPr txBox="1"/>
            <p:nvPr/>
          </p:nvSpPr>
          <p:spPr>
            <a:xfrm>
              <a:off x="1067105" y="6175858"/>
              <a:ext cx="3621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$row</a:t>
              </a:r>
              <a:endParaRPr lang="en-US" sz="900" dirty="0"/>
            </a:p>
          </p:txBody>
        </p:sp>
        <p:sp>
          <p:nvSpPr>
            <p:cNvPr id="70" name="Text 62"/>
            <p:cNvSpPr txBox="1"/>
            <p:nvPr/>
          </p:nvSpPr>
          <p:spPr>
            <a:xfrm>
              <a:off x="1341425" y="617585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71" name="Text 63"/>
            <p:cNvSpPr txBox="1"/>
            <p:nvPr/>
          </p:nvSpPr>
          <p:spPr>
            <a:xfrm>
              <a:off x="1478585" y="6175858"/>
              <a:ext cx="78181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created_at</a:t>
              </a:r>
              <a:endParaRPr lang="en-US" sz="900" dirty="0"/>
            </a:p>
          </p:txBody>
        </p:sp>
        <p:sp>
          <p:nvSpPr>
            <p:cNvPr id="72" name="Text 64"/>
            <p:cNvSpPr txBox="1"/>
            <p:nvPr/>
          </p:nvSpPr>
          <p:spPr>
            <a:xfrm>
              <a:off x="2164385" y="617585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73" name="Text 65"/>
            <p:cNvSpPr txBox="1"/>
            <p:nvPr/>
          </p:nvSpPr>
          <p:spPr>
            <a:xfrm>
              <a:off x="2301545" y="6175858"/>
              <a:ext cx="5056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format</a:t>
              </a:r>
              <a:endParaRPr lang="en-US" sz="900" dirty="0"/>
            </a:p>
          </p:txBody>
        </p:sp>
        <p:sp>
          <p:nvSpPr>
            <p:cNvPr id="74" name="Text 66"/>
            <p:cNvSpPr txBox="1"/>
            <p:nvPr/>
          </p:nvSpPr>
          <p:spPr>
            <a:xfrm>
              <a:off x="2713025" y="617585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75" name="Text 67"/>
            <p:cNvSpPr txBox="1"/>
            <p:nvPr/>
          </p:nvSpPr>
          <p:spPr>
            <a:xfrm>
              <a:off x="2781605" y="6175858"/>
              <a:ext cx="5715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A7F3D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'Y-m-d'</a:t>
              </a:r>
              <a:endParaRPr lang="en-US" sz="900" dirty="0"/>
            </a:p>
          </p:txBody>
        </p:sp>
        <p:sp>
          <p:nvSpPr>
            <p:cNvPr id="76" name="Text 68"/>
            <p:cNvSpPr txBox="1"/>
            <p:nvPr/>
          </p:nvSpPr>
          <p:spPr>
            <a:xfrm>
              <a:off x="3261665" y="617585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</a:t>
              </a:r>
              <a:endParaRPr lang="en-US" sz="900" dirty="0"/>
            </a:p>
          </p:txBody>
        </p:sp>
        <p:sp>
          <p:nvSpPr>
            <p:cNvPr id="77" name="Text 69"/>
            <p:cNvSpPr txBox="1"/>
            <p:nvPr/>
          </p:nvSpPr>
          <p:spPr>
            <a:xfrm>
              <a:off x="1067105" y="635873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];</a:t>
              </a:r>
              <a:endParaRPr lang="en-US" sz="900" dirty="0"/>
            </a:p>
          </p:txBody>
        </p:sp>
        <p:sp>
          <p:nvSpPr>
            <p:cNvPr id="78" name="Text 70"/>
            <p:cNvSpPr txBox="1"/>
            <p:nvPr/>
          </p:nvSpPr>
          <p:spPr>
            <a:xfrm>
              <a:off x="1067105" y="654161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}</a:t>
              </a:r>
              <a:endParaRPr lang="en-US" sz="900" dirty="0"/>
            </a:p>
          </p:txBody>
        </p:sp>
        <p:sp>
          <p:nvSpPr>
            <p:cNvPr id="79" name="Text 71"/>
            <p:cNvSpPr txBox="1"/>
            <p:nvPr/>
          </p:nvSpPr>
          <p:spPr>
            <a:xfrm>
              <a:off x="1067105" y="672449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}</a:t>
              </a:r>
              <a:endParaRPr lang="en-US" sz="900" dirty="0"/>
            </a:p>
          </p:txBody>
        </p:sp>
        <p:sp>
          <p:nvSpPr>
            <p:cNvPr id="80" name="Text 72"/>
            <p:cNvSpPr txBox="1"/>
            <p:nvPr/>
          </p:nvSpPr>
          <p:spPr>
            <a:xfrm>
              <a:off x="7210044" y="1993392"/>
              <a:ext cx="1600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1F5F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PDF Generation</a:t>
              </a:r>
              <a:endParaRPr lang="en-US" sz="1500" dirty="0"/>
            </a:p>
          </p:txBody>
        </p:sp>
        <p:sp>
          <p:nvSpPr>
            <p:cNvPr id="81" name="Text 73"/>
            <p:cNvSpPr txBox="1"/>
            <p:nvPr/>
          </p:nvSpPr>
          <p:spPr>
            <a:xfrm>
              <a:off x="7210044" y="2297887"/>
              <a:ext cx="121706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DomPDF / Snappy</a:t>
              </a:r>
              <a:endParaRPr lang="en-US" sz="900" dirty="0"/>
            </a:p>
          </p:txBody>
        </p:sp>
        <p:sp>
          <p:nvSpPr>
            <p:cNvPr id="82" name="Text 74"/>
            <p:cNvSpPr txBox="1"/>
            <p:nvPr/>
          </p:nvSpPr>
          <p:spPr>
            <a:xfrm>
              <a:off x="6743700" y="2962656"/>
              <a:ext cx="3860597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Render standard Blade templates directly to PDF format</a:t>
              </a:r>
              <a:endParaRPr lang="en-US" sz="1100" dirty="0"/>
            </a:p>
          </p:txBody>
        </p:sp>
        <p:sp>
          <p:nvSpPr>
            <p:cNvPr id="83" name="Text 75"/>
            <p:cNvSpPr txBox="1"/>
            <p:nvPr/>
          </p:nvSpPr>
          <p:spPr>
            <a:xfrm>
              <a:off x="6743700" y="3276295"/>
              <a:ext cx="4212641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Full support for CSS styling, page breaks, watermarking, and digital signatures</a:t>
              </a:r>
              <a:endParaRPr lang="en-US" sz="1100" dirty="0"/>
            </a:p>
          </p:txBody>
        </p:sp>
        <p:sp>
          <p:nvSpPr>
            <p:cNvPr id="84" name="Text 76"/>
            <p:cNvSpPr txBox="1"/>
            <p:nvPr/>
          </p:nvSpPr>
          <p:spPr>
            <a:xfrm>
              <a:off x="6743700" y="3791102"/>
              <a:ext cx="4432097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Stream directly to browser response without creating temporary files</a:t>
              </a:r>
              <a:endParaRPr lang="en-US" sz="1100" dirty="0"/>
            </a:p>
          </p:txBody>
        </p:sp>
        <p:sp>
          <p:nvSpPr>
            <p:cNvPr id="85" name="Text 77"/>
            <p:cNvSpPr txBox="1"/>
            <p:nvPr/>
          </p:nvSpPr>
          <p:spPr>
            <a:xfrm>
              <a:off x="7125005" y="4871009"/>
              <a:ext cx="1810512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FAFC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CertificateController.php</a:t>
              </a:r>
              <a:endParaRPr lang="en-US" sz="900" dirty="0"/>
            </a:p>
          </p:txBody>
        </p:sp>
        <p:sp>
          <p:nvSpPr>
            <p:cNvPr id="86" name="Text 78"/>
            <p:cNvSpPr txBox="1"/>
            <p:nvPr/>
          </p:nvSpPr>
          <p:spPr>
            <a:xfrm>
              <a:off x="6687007" y="5261458"/>
              <a:ext cx="112471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public function</a:t>
              </a:r>
              <a:endParaRPr lang="en-US" sz="900" dirty="0"/>
            </a:p>
          </p:txBody>
        </p:sp>
        <p:sp>
          <p:nvSpPr>
            <p:cNvPr id="87" name="Text 79"/>
            <p:cNvSpPr txBox="1"/>
            <p:nvPr/>
          </p:nvSpPr>
          <p:spPr>
            <a:xfrm>
              <a:off x="7715707" y="5261458"/>
              <a:ext cx="6382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download</a:t>
              </a:r>
              <a:endParaRPr lang="en-US" sz="900" dirty="0"/>
            </a:p>
          </p:txBody>
        </p:sp>
        <p:sp>
          <p:nvSpPr>
            <p:cNvPr id="88" name="Text 80"/>
            <p:cNvSpPr txBox="1"/>
            <p:nvPr/>
          </p:nvSpPr>
          <p:spPr>
            <a:xfrm>
              <a:off x="8264347" y="526145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89" name="Text 81"/>
            <p:cNvSpPr txBox="1"/>
            <p:nvPr/>
          </p:nvSpPr>
          <p:spPr>
            <a:xfrm>
              <a:off x="8332927" y="5261458"/>
              <a:ext cx="5056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Course</a:t>
              </a:r>
              <a:endParaRPr lang="en-US" sz="900" dirty="0"/>
            </a:p>
          </p:txBody>
        </p:sp>
        <p:sp>
          <p:nvSpPr>
            <p:cNvPr id="90" name="Text 82"/>
            <p:cNvSpPr txBox="1"/>
            <p:nvPr/>
          </p:nvSpPr>
          <p:spPr>
            <a:xfrm>
              <a:off x="8744407" y="5261458"/>
              <a:ext cx="78181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$course) {</a:t>
              </a:r>
              <a:endParaRPr lang="en-US" sz="900" dirty="0"/>
            </a:p>
          </p:txBody>
        </p:sp>
        <p:sp>
          <p:nvSpPr>
            <p:cNvPr id="91" name="Text 83"/>
            <p:cNvSpPr txBox="1"/>
            <p:nvPr/>
          </p:nvSpPr>
          <p:spPr>
            <a:xfrm>
              <a:off x="6687007" y="5444338"/>
              <a:ext cx="3621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$pdf</a:t>
              </a:r>
              <a:endParaRPr lang="en-US" sz="900" dirty="0"/>
            </a:p>
          </p:txBody>
        </p:sp>
        <p:sp>
          <p:nvSpPr>
            <p:cNvPr id="92" name="Text 84"/>
            <p:cNvSpPr txBox="1"/>
            <p:nvPr/>
          </p:nvSpPr>
          <p:spPr>
            <a:xfrm>
              <a:off x="6961327" y="544433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=</a:t>
              </a:r>
              <a:endParaRPr lang="en-US" sz="900" dirty="0"/>
            </a:p>
          </p:txBody>
        </p:sp>
        <p:sp>
          <p:nvSpPr>
            <p:cNvPr id="93" name="Text 85"/>
            <p:cNvSpPr txBox="1"/>
            <p:nvPr/>
          </p:nvSpPr>
          <p:spPr>
            <a:xfrm>
              <a:off x="7029907" y="5444338"/>
              <a:ext cx="2953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Pdf</a:t>
              </a:r>
              <a:endParaRPr lang="en-US" sz="900" dirty="0"/>
            </a:p>
          </p:txBody>
        </p:sp>
        <p:sp>
          <p:nvSpPr>
            <p:cNvPr id="94" name="Text 86"/>
            <p:cNvSpPr txBox="1"/>
            <p:nvPr/>
          </p:nvSpPr>
          <p:spPr>
            <a:xfrm>
              <a:off x="7235647" y="544433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::</a:t>
              </a:r>
              <a:endParaRPr lang="en-US" sz="900" dirty="0"/>
            </a:p>
          </p:txBody>
        </p:sp>
        <p:sp>
          <p:nvSpPr>
            <p:cNvPr id="95" name="Text 87"/>
            <p:cNvSpPr txBox="1"/>
            <p:nvPr/>
          </p:nvSpPr>
          <p:spPr>
            <a:xfrm>
              <a:off x="7372807" y="5444338"/>
              <a:ext cx="6382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loadView</a:t>
              </a:r>
              <a:endParaRPr lang="en-US" sz="900" dirty="0"/>
            </a:p>
          </p:txBody>
        </p:sp>
        <p:sp>
          <p:nvSpPr>
            <p:cNvPr id="96" name="Text 88"/>
            <p:cNvSpPr txBox="1"/>
            <p:nvPr/>
          </p:nvSpPr>
          <p:spPr>
            <a:xfrm>
              <a:off x="7921447" y="544433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97" name="Text 89"/>
            <p:cNvSpPr txBox="1"/>
            <p:nvPr/>
          </p:nvSpPr>
          <p:spPr>
            <a:xfrm>
              <a:off x="7990027" y="5444338"/>
              <a:ext cx="15343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A7F3D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'reports.certificate'</a:t>
              </a:r>
              <a:endParaRPr lang="en-US" sz="900" dirty="0"/>
            </a:p>
          </p:txBody>
        </p:sp>
        <p:sp>
          <p:nvSpPr>
            <p:cNvPr id="98" name="Text 90"/>
            <p:cNvSpPr txBox="1"/>
            <p:nvPr/>
          </p:nvSpPr>
          <p:spPr>
            <a:xfrm>
              <a:off x="9430207" y="5444338"/>
              <a:ext cx="2953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, [</a:t>
              </a:r>
              <a:endParaRPr lang="en-US" sz="900" dirty="0"/>
            </a:p>
          </p:txBody>
        </p:sp>
        <p:sp>
          <p:nvSpPr>
            <p:cNvPr id="99" name="Text 91"/>
            <p:cNvSpPr txBox="1"/>
            <p:nvPr/>
          </p:nvSpPr>
          <p:spPr>
            <a:xfrm>
              <a:off x="6687007" y="5627218"/>
              <a:ext cx="6382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A7F3D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'course'</a:t>
              </a:r>
              <a:endParaRPr lang="en-US" sz="900" dirty="0"/>
            </a:p>
          </p:txBody>
        </p:sp>
        <p:sp>
          <p:nvSpPr>
            <p:cNvPr id="100" name="Text 92"/>
            <p:cNvSpPr txBox="1"/>
            <p:nvPr/>
          </p:nvSpPr>
          <p:spPr>
            <a:xfrm>
              <a:off x="7235647" y="562721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=&gt;</a:t>
              </a:r>
              <a:endParaRPr lang="en-US" sz="900" dirty="0"/>
            </a:p>
          </p:txBody>
        </p:sp>
        <p:sp>
          <p:nvSpPr>
            <p:cNvPr id="101" name="Text 93"/>
            <p:cNvSpPr txBox="1"/>
            <p:nvPr/>
          </p:nvSpPr>
          <p:spPr>
            <a:xfrm>
              <a:off x="7372807" y="5627218"/>
              <a:ext cx="6382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$course,</a:t>
              </a:r>
              <a:endParaRPr lang="en-US" sz="900" dirty="0"/>
            </a:p>
          </p:txBody>
        </p:sp>
        <p:sp>
          <p:nvSpPr>
            <p:cNvPr id="102" name="Text 94"/>
            <p:cNvSpPr txBox="1"/>
            <p:nvPr/>
          </p:nvSpPr>
          <p:spPr>
            <a:xfrm>
              <a:off x="6687007" y="5810098"/>
              <a:ext cx="5056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A7F3D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'user'</a:t>
              </a:r>
              <a:endParaRPr lang="en-US" sz="900" dirty="0"/>
            </a:p>
          </p:txBody>
        </p:sp>
        <p:sp>
          <p:nvSpPr>
            <p:cNvPr id="103" name="Text 95"/>
            <p:cNvSpPr txBox="1"/>
            <p:nvPr/>
          </p:nvSpPr>
          <p:spPr>
            <a:xfrm>
              <a:off x="7098487" y="581009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=&gt;</a:t>
              </a:r>
              <a:endParaRPr lang="en-US" sz="900" dirty="0"/>
            </a:p>
          </p:txBody>
        </p:sp>
        <p:sp>
          <p:nvSpPr>
            <p:cNvPr id="104" name="Text 96"/>
            <p:cNvSpPr txBox="1"/>
            <p:nvPr/>
          </p:nvSpPr>
          <p:spPr>
            <a:xfrm>
              <a:off x="7235647" y="5810098"/>
              <a:ext cx="5056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auth()</a:t>
              </a:r>
              <a:endParaRPr lang="en-US" sz="900" dirty="0"/>
            </a:p>
          </p:txBody>
        </p:sp>
        <p:sp>
          <p:nvSpPr>
            <p:cNvPr id="105" name="Text 97"/>
            <p:cNvSpPr txBox="1"/>
            <p:nvPr/>
          </p:nvSpPr>
          <p:spPr>
            <a:xfrm>
              <a:off x="7647127" y="581009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106" name="Text 98"/>
            <p:cNvSpPr txBox="1"/>
            <p:nvPr/>
          </p:nvSpPr>
          <p:spPr>
            <a:xfrm>
              <a:off x="7784287" y="5810098"/>
              <a:ext cx="3621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user</a:t>
              </a:r>
              <a:endParaRPr lang="en-US" sz="900" dirty="0"/>
            </a:p>
          </p:txBody>
        </p:sp>
        <p:sp>
          <p:nvSpPr>
            <p:cNvPr id="107" name="Text 99"/>
            <p:cNvSpPr txBox="1"/>
            <p:nvPr/>
          </p:nvSpPr>
          <p:spPr>
            <a:xfrm>
              <a:off x="8058607" y="581009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</a:t>
              </a:r>
              <a:endParaRPr lang="en-US" sz="900" dirty="0"/>
            </a:p>
          </p:txBody>
        </p:sp>
        <p:sp>
          <p:nvSpPr>
            <p:cNvPr id="108" name="Text 100"/>
            <p:cNvSpPr txBox="1"/>
            <p:nvPr/>
          </p:nvSpPr>
          <p:spPr>
            <a:xfrm>
              <a:off x="6687007" y="5993892"/>
              <a:ext cx="2953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]);</a:t>
              </a:r>
              <a:endParaRPr lang="en-US" sz="900" dirty="0"/>
            </a:p>
          </p:txBody>
        </p:sp>
        <p:sp>
          <p:nvSpPr>
            <p:cNvPr id="109" name="Text 101"/>
            <p:cNvSpPr txBox="1"/>
            <p:nvPr/>
          </p:nvSpPr>
          <p:spPr>
            <a:xfrm>
              <a:off x="6687007" y="6358738"/>
              <a:ext cx="3621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$pdf</a:t>
              </a:r>
              <a:endParaRPr lang="en-US" sz="900" dirty="0"/>
            </a:p>
          </p:txBody>
        </p:sp>
        <p:sp>
          <p:nvSpPr>
            <p:cNvPr id="110" name="Text 102"/>
            <p:cNvSpPr txBox="1"/>
            <p:nvPr/>
          </p:nvSpPr>
          <p:spPr>
            <a:xfrm>
              <a:off x="6961327" y="635873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111" name="Text 103"/>
            <p:cNvSpPr txBox="1"/>
            <p:nvPr/>
          </p:nvSpPr>
          <p:spPr>
            <a:xfrm>
              <a:off x="7098487" y="6358738"/>
              <a:ext cx="6382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setPaper</a:t>
              </a:r>
              <a:endParaRPr lang="en-US" sz="900" dirty="0"/>
            </a:p>
          </p:txBody>
        </p:sp>
        <p:sp>
          <p:nvSpPr>
            <p:cNvPr id="112" name="Text 104"/>
            <p:cNvSpPr txBox="1"/>
            <p:nvPr/>
          </p:nvSpPr>
          <p:spPr>
            <a:xfrm>
              <a:off x="7647127" y="635873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113" name="Text 105"/>
            <p:cNvSpPr txBox="1"/>
            <p:nvPr/>
          </p:nvSpPr>
          <p:spPr>
            <a:xfrm>
              <a:off x="7715707" y="6358738"/>
              <a:ext cx="3621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A7F3D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'a4'</a:t>
              </a:r>
              <a:endParaRPr lang="en-US" sz="900" dirty="0"/>
            </a:p>
          </p:txBody>
        </p:sp>
        <p:sp>
          <p:nvSpPr>
            <p:cNvPr id="114" name="Text 106"/>
            <p:cNvSpPr txBox="1"/>
            <p:nvPr/>
          </p:nvSpPr>
          <p:spPr>
            <a:xfrm>
              <a:off x="7990027" y="635873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,</a:t>
              </a:r>
              <a:endParaRPr lang="en-US" sz="900" dirty="0"/>
            </a:p>
          </p:txBody>
        </p:sp>
        <p:sp>
          <p:nvSpPr>
            <p:cNvPr id="115" name="Text 107"/>
            <p:cNvSpPr txBox="1"/>
            <p:nvPr/>
          </p:nvSpPr>
          <p:spPr>
            <a:xfrm>
              <a:off x="8058607" y="6358738"/>
              <a:ext cx="8485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A7F3D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'landscape'</a:t>
              </a:r>
              <a:endParaRPr lang="en-US" sz="900" dirty="0"/>
            </a:p>
          </p:txBody>
        </p:sp>
        <p:sp>
          <p:nvSpPr>
            <p:cNvPr id="116" name="Text 108"/>
            <p:cNvSpPr txBox="1"/>
            <p:nvPr/>
          </p:nvSpPr>
          <p:spPr>
            <a:xfrm>
              <a:off x="8812987" y="635873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);</a:t>
              </a:r>
              <a:endParaRPr lang="en-US" sz="900" dirty="0"/>
            </a:p>
          </p:txBody>
        </p:sp>
        <p:sp>
          <p:nvSpPr>
            <p:cNvPr id="117" name="Text 109"/>
            <p:cNvSpPr txBox="1"/>
            <p:nvPr/>
          </p:nvSpPr>
          <p:spPr>
            <a:xfrm>
              <a:off x="6687007" y="6541618"/>
              <a:ext cx="5056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return</a:t>
              </a:r>
              <a:endParaRPr lang="en-US" sz="900" dirty="0"/>
            </a:p>
          </p:txBody>
        </p:sp>
        <p:sp>
          <p:nvSpPr>
            <p:cNvPr id="118" name="Text 110"/>
            <p:cNvSpPr txBox="1"/>
            <p:nvPr/>
          </p:nvSpPr>
          <p:spPr>
            <a:xfrm>
              <a:off x="7098487" y="6541618"/>
              <a:ext cx="3621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$pdf</a:t>
              </a:r>
              <a:endParaRPr lang="en-US" sz="900" dirty="0"/>
            </a:p>
          </p:txBody>
        </p:sp>
        <p:sp>
          <p:nvSpPr>
            <p:cNvPr id="119" name="Text 111"/>
            <p:cNvSpPr txBox="1"/>
            <p:nvPr/>
          </p:nvSpPr>
          <p:spPr>
            <a:xfrm>
              <a:off x="7372807" y="654161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120" name="Text 112"/>
            <p:cNvSpPr txBox="1"/>
            <p:nvPr/>
          </p:nvSpPr>
          <p:spPr>
            <a:xfrm>
              <a:off x="7509967" y="6541618"/>
              <a:ext cx="5056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stream</a:t>
              </a:r>
              <a:endParaRPr lang="en-US" sz="900" dirty="0"/>
            </a:p>
          </p:txBody>
        </p:sp>
        <p:sp>
          <p:nvSpPr>
            <p:cNvPr id="121" name="Text 113"/>
            <p:cNvSpPr txBox="1"/>
            <p:nvPr/>
          </p:nvSpPr>
          <p:spPr>
            <a:xfrm>
              <a:off x="7921447" y="654161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122" name="Text 114"/>
            <p:cNvSpPr txBox="1"/>
            <p:nvPr/>
          </p:nvSpPr>
          <p:spPr>
            <a:xfrm>
              <a:off x="7990027" y="6541618"/>
              <a:ext cx="12573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A7F3D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'certificate.pdf'</a:t>
              </a:r>
              <a:endParaRPr lang="en-US" sz="900" dirty="0"/>
            </a:p>
          </p:txBody>
        </p:sp>
        <p:sp>
          <p:nvSpPr>
            <p:cNvPr id="123" name="Text 115"/>
            <p:cNvSpPr txBox="1"/>
            <p:nvPr/>
          </p:nvSpPr>
          <p:spPr>
            <a:xfrm>
              <a:off x="9155887" y="6541618"/>
              <a:ext cx="2286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);</a:t>
              </a:r>
              <a:endParaRPr lang="en-US" sz="900" dirty="0"/>
            </a:p>
          </p:txBody>
        </p:sp>
        <p:sp>
          <p:nvSpPr>
            <p:cNvPr id="124" name="Text 116"/>
            <p:cNvSpPr txBox="1"/>
            <p:nvPr/>
          </p:nvSpPr>
          <p:spPr>
            <a:xfrm>
              <a:off x="6687007" y="6724498"/>
              <a:ext cx="162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}</a:t>
              </a:r>
              <a:endParaRPr lang="en-US" sz="900" dirty="0"/>
            </a:p>
          </p:txBody>
        </p:sp>
        <p:sp>
          <p:nvSpPr>
            <p:cNvPr id="125" name="Text 117"/>
            <p:cNvSpPr txBox="1"/>
            <p:nvPr/>
          </p:nvSpPr>
          <p:spPr>
            <a:xfrm>
              <a:off x="10308946" y="7443342"/>
              <a:ext cx="1733702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FAFC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EPS Backend Web Training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953098" y="-952805"/>
            <a:ext cx="5715000" cy="57150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-476402" y="3047695"/>
            <a:ext cx="4762195" cy="4762195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10414102" y="866851"/>
            <a:ext cx="1114654" cy="333756"/>
          </a:xfrm>
          <a:prstGeom prst="roundRect">
            <a:avLst>
              <a:gd name="adj" fmla="val 62622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2512" r="-2512"/>
          <a:stretch/>
        </p:blipFill>
        <p:spPr>
          <a:xfrm>
            <a:off x="10575950" y="966521"/>
            <a:ext cx="105156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757002" y="933602"/>
            <a:ext cx="7104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2.3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8295437" y="1781251"/>
            <a:ext cx="3295498" cy="2905049"/>
          </a:xfrm>
          <a:prstGeom prst="roundRect">
            <a:avLst>
              <a:gd name="adj" fmla="val 1238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33181" y="2057399"/>
            <a:ext cx="152705" cy="15270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761781" y="2018995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Objectives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295437" y="4909413"/>
            <a:ext cx="3295498" cy="1390802"/>
          </a:xfrm>
          <a:prstGeom prst="roundRect">
            <a:avLst>
              <a:gd name="adj" fmla="val 54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27"/>
          <p:cNvSpPr/>
          <p:nvPr/>
        </p:nvSpPr>
        <p:spPr>
          <a:xfrm>
            <a:off x="8533181" y="5490971"/>
            <a:ext cx="1143000" cy="247802"/>
          </a:xfrm>
          <a:prstGeom prst="roundRect">
            <a:avLst>
              <a:gd name="adj" fmla="val 56770"/>
            </a:avLst>
          </a:prstGeom>
          <a:solidFill>
            <a:srgbClr val="064E3B">
              <a:alpha val="5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28"/>
          <p:cNvSpPr/>
          <p:nvPr/>
        </p:nvSpPr>
        <p:spPr>
          <a:xfrm>
            <a:off x="9749333" y="5490971"/>
            <a:ext cx="1009498" cy="247802"/>
          </a:xfrm>
          <a:prstGeom prst="roundRect">
            <a:avLst>
              <a:gd name="adj" fmla="val 56770"/>
            </a:avLst>
          </a:prstGeom>
          <a:solidFill>
            <a:srgbClr val="1E3A8A">
              <a:alpha val="5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29"/>
          <p:cNvSpPr/>
          <p:nvPr/>
        </p:nvSpPr>
        <p:spPr>
          <a:xfrm>
            <a:off x="8533181" y="5814669"/>
            <a:ext cx="1209751" cy="247802"/>
          </a:xfrm>
          <a:prstGeom prst="roundRect">
            <a:avLst>
              <a:gd name="adj" fmla="val 56770"/>
            </a:avLst>
          </a:prstGeom>
          <a:solidFill>
            <a:srgbClr val="4C1D95">
              <a:alpha val="5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0"/>
          <p:cNvSpPr txBox="1"/>
          <p:nvPr/>
        </p:nvSpPr>
        <p:spPr>
          <a:xfrm>
            <a:off x="666598" y="457200"/>
            <a:ext cx="36393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2.3: Excel Export</a:t>
            </a:r>
            <a:endParaRPr lang="en-US" sz="2700" dirty="0"/>
          </a:p>
        </p:txBody>
      </p:sp>
      <p:sp>
        <p:nvSpPr>
          <p:cNvPr id="37" name="Text 31"/>
          <p:cNvSpPr txBox="1"/>
          <p:nvPr/>
        </p:nvSpPr>
        <p:spPr>
          <a:xfrm>
            <a:off x="666598" y="961949"/>
            <a:ext cx="29772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Data Reporting &amp; Exports</a:t>
            </a:r>
            <a:endParaRPr lang="en-US" sz="13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35FCFE0-4D68-A0B1-2752-5ABEE47E518E}"/>
              </a:ext>
            </a:extLst>
          </p:cNvPr>
          <p:cNvGrpSpPr/>
          <p:nvPr/>
        </p:nvGrpSpPr>
        <p:grpSpPr>
          <a:xfrm>
            <a:off x="666598" y="1781252"/>
            <a:ext cx="7181698" cy="4895698"/>
            <a:chOff x="666598" y="1781251"/>
            <a:chExt cx="7181698" cy="5905195"/>
          </a:xfrm>
        </p:grpSpPr>
        <p:sp>
          <p:nvSpPr>
            <p:cNvPr id="10" name="Shape 7"/>
            <p:cNvSpPr/>
            <p:nvPr/>
          </p:nvSpPr>
          <p:spPr>
            <a:xfrm>
              <a:off x="666598" y="1781251"/>
              <a:ext cx="7181698" cy="5905195"/>
            </a:xfrm>
            <a:prstGeom prst="roundRect">
              <a:avLst>
                <a:gd name="adj" fmla="val 400"/>
              </a:avLst>
            </a:prstGeom>
            <a:solidFill>
              <a:srgbClr val="1E293B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961949" y="2119579"/>
              <a:ext cx="171907" cy="171907"/>
            </a:xfrm>
            <a:prstGeom prst="rect">
              <a:avLst/>
            </a:prstGeom>
          </p:spPr>
        </p:pic>
        <p:sp>
          <p:nvSpPr>
            <p:cNvPr id="12" name="Shape 8"/>
            <p:cNvSpPr/>
            <p:nvPr/>
          </p:nvSpPr>
          <p:spPr>
            <a:xfrm>
              <a:off x="961949" y="2562149"/>
              <a:ext cx="6590995" cy="552298"/>
            </a:xfrm>
            <a:prstGeom prst="roundRect">
              <a:avLst>
                <a:gd name="adj" fmla="val 28545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Text 9"/>
            <p:cNvSpPr txBox="1"/>
            <p:nvPr/>
          </p:nvSpPr>
          <p:spPr>
            <a:xfrm>
              <a:off x="1123798" y="2723998"/>
              <a:ext cx="43150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Implement FromQuery for memory-efficient large datasets</a:t>
              </a:r>
              <a:endParaRPr lang="en-US" sz="120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961949" y="3267151"/>
              <a:ext cx="6590995" cy="552298"/>
            </a:xfrm>
            <a:prstGeom prst="roundRect">
              <a:avLst>
                <a:gd name="adj" fmla="val 28545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Text 11"/>
            <p:cNvSpPr txBox="1"/>
            <p:nvPr/>
          </p:nvSpPr>
          <p:spPr>
            <a:xfrm>
              <a:off x="1123798" y="3429000"/>
              <a:ext cx="37344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Define data mapping using WithMapping interface</a:t>
              </a:r>
              <a:endParaRPr lang="en-US" sz="1200" dirty="0"/>
            </a:p>
          </p:txBody>
        </p:sp>
        <p:sp>
          <p:nvSpPr>
            <p:cNvPr id="16" name="Shape 12"/>
            <p:cNvSpPr/>
            <p:nvPr/>
          </p:nvSpPr>
          <p:spPr>
            <a:xfrm>
              <a:off x="961949" y="3972154"/>
              <a:ext cx="6590995" cy="552298"/>
            </a:xfrm>
            <a:prstGeom prst="roundRect">
              <a:avLst>
                <a:gd name="adj" fmla="val 28545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Text 13"/>
            <p:cNvSpPr txBox="1"/>
            <p:nvPr/>
          </p:nvSpPr>
          <p:spPr>
            <a:xfrm>
              <a:off x="1123798" y="4134002"/>
              <a:ext cx="45061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Apply custom column formatting with WithColumnFormatting</a:t>
              </a:r>
              <a:endParaRPr lang="en-US" sz="1200" dirty="0"/>
            </a:p>
          </p:txBody>
        </p:sp>
        <p:sp>
          <p:nvSpPr>
            <p:cNvPr id="18" name="Shape 14"/>
            <p:cNvSpPr/>
            <p:nvPr/>
          </p:nvSpPr>
          <p:spPr>
            <a:xfrm>
              <a:off x="961949" y="4677156"/>
              <a:ext cx="6590995" cy="552298"/>
            </a:xfrm>
            <a:prstGeom prst="roundRect">
              <a:avLst>
                <a:gd name="adj" fmla="val 28545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Text 15"/>
            <p:cNvSpPr txBox="1"/>
            <p:nvPr/>
          </p:nvSpPr>
          <p:spPr>
            <a:xfrm>
              <a:off x="1123798" y="4839005"/>
              <a:ext cx="50868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Configure headings and auto-sizing (WithHeadings, ShouldAutoSize)</a:t>
              </a:r>
              <a:endParaRPr lang="en-US" sz="120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961949" y="5381244"/>
              <a:ext cx="6590995" cy="571500"/>
            </a:xfrm>
            <a:prstGeom prst="roundRect">
              <a:avLst>
                <a:gd name="adj" fmla="val 26667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Shape 17"/>
            <p:cNvSpPr/>
            <p:nvPr/>
          </p:nvSpPr>
          <p:spPr>
            <a:xfrm>
              <a:off x="1123798" y="5562295"/>
              <a:ext cx="228600" cy="228600"/>
            </a:xfrm>
            <a:prstGeom prst="roundRect">
              <a:avLst>
                <a:gd name="adj" fmla="val 100000"/>
              </a:avLst>
            </a:prstGeom>
            <a:noFill/>
            <a:ln w="254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Shape 18"/>
            <p:cNvSpPr/>
            <p:nvPr/>
          </p:nvSpPr>
          <p:spPr>
            <a:xfrm>
              <a:off x="961949" y="6105449"/>
              <a:ext cx="6590995" cy="571500"/>
            </a:xfrm>
            <a:prstGeom prst="roundRect">
              <a:avLst>
                <a:gd name="adj" fmla="val 26667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Shape 19"/>
            <p:cNvSpPr/>
            <p:nvPr/>
          </p:nvSpPr>
          <p:spPr>
            <a:xfrm>
              <a:off x="1123798" y="6286500"/>
              <a:ext cx="228600" cy="228600"/>
            </a:xfrm>
            <a:prstGeom prst="roundRect">
              <a:avLst>
                <a:gd name="adj" fmla="val 100000"/>
              </a:avLst>
            </a:prstGeom>
            <a:noFill/>
            <a:ln w="254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Shape 20"/>
            <p:cNvSpPr/>
            <p:nvPr/>
          </p:nvSpPr>
          <p:spPr>
            <a:xfrm>
              <a:off x="961949" y="6829654"/>
              <a:ext cx="6590995" cy="694944"/>
            </a:xfrm>
            <a:prstGeom prst="roundRect">
              <a:avLst>
                <a:gd name="adj" fmla="val 14420"/>
              </a:avLst>
            </a:prstGeom>
            <a:solidFill>
              <a:srgbClr val="F59E0B">
                <a:alpha val="5000"/>
              </a:srgbClr>
            </a:solidFill>
            <a:ln w="12700">
              <a:solidFill>
                <a:srgbClr val="F59E0B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Text 21"/>
            <p:cNvSpPr txBox="1"/>
            <p:nvPr/>
          </p:nvSpPr>
          <p:spPr>
            <a:xfrm>
              <a:off x="1123798" y="6991502"/>
              <a:ext cx="6360566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CD34D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Tip: Use the FromQuery concern instead of FromCollection to stream data from the database, preventing memory exhaustion with large datasets.</a:t>
              </a:r>
              <a:endParaRPr lang="en-US" sz="900" dirty="0"/>
            </a:p>
          </p:txBody>
        </p:sp>
        <p:sp>
          <p:nvSpPr>
            <p:cNvPr id="38" name="Text 32"/>
            <p:cNvSpPr txBox="1"/>
            <p:nvPr/>
          </p:nvSpPr>
          <p:spPr>
            <a:xfrm>
              <a:off x="1228954" y="2104949"/>
              <a:ext cx="1433779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Tasks Checklist</a:t>
              </a:r>
              <a:endParaRPr lang="en-US" sz="1300" dirty="0"/>
            </a:p>
          </p:txBody>
        </p:sp>
        <p:sp>
          <p:nvSpPr>
            <p:cNvPr id="39" name="Text 33"/>
            <p:cNvSpPr txBox="1"/>
            <p:nvPr/>
          </p:nvSpPr>
          <p:spPr>
            <a:xfrm>
              <a:off x="1505102" y="5562295"/>
              <a:ext cx="397215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Implement real-time metric calculations during export</a:t>
              </a:r>
              <a:endParaRPr lang="en-US" sz="1200" dirty="0"/>
            </a:p>
          </p:txBody>
        </p:sp>
        <p:sp>
          <p:nvSpPr>
            <p:cNvPr id="40" name="Text 34"/>
            <p:cNvSpPr txBox="1"/>
            <p:nvPr/>
          </p:nvSpPr>
          <p:spPr>
            <a:xfrm>
              <a:off x="1505102" y="6286500"/>
              <a:ext cx="374355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Register route and controller method for download</a:t>
              </a:r>
              <a:endParaRPr lang="en-US" sz="1200" dirty="0"/>
            </a:p>
          </p:txBody>
        </p:sp>
      </p:grpSp>
      <p:sp>
        <p:nvSpPr>
          <p:cNvPr id="43" name="Text 37"/>
          <p:cNvSpPr txBox="1"/>
          <p:nvPr/>
        </p:nvSpPr>
        <p:spPr>
          <a:xfrm>
            <a:off x="8533181" y="5157215"/>
            <a:ext cx="1014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8657539" y="5547664"/>
            <a:ext cx="9811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Laravel Excel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9872777" y="5547664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Maatwebsite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8657539" y="5872276"/>
            <a:ext cx="10479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4B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PHP Generators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8724291" y="2381097"/>
            <a:ext cx="22530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large datasets efficiently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8724291" y="2676448"/>
            <a:ext cx="20628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transformation &amp; mapping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8724291" y="2971799"/>
            <a:ext cx="19860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report formatting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10307117" y="5100523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1218895" y="-952805"/>
            <a:ext cx="4762195" cy="4762195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210605" y="3047695"/>
            <a:ext cx="4762195" cy="4762195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 txBox="1"/>
          <p:nvPr/>
        </p:nvSpPr>
        <p:spPr>
          <a:xfrm>
            <a:off x="666598" y="457200"/>
            <a:ext cx="45345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Optimization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66598" y="961949"/>
            <a:ext cx="36438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Strategies for Speed, Scalability &amp; Efficiency</a:t>
            </a:r>
            <a:endParaRPr lang="en-US" sz="13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54A35A3-E3F0-E7DF-BD3E-3FF64A16CDA9}"/>
              </a:ext>
            </a:extLst>
          </p:cNvPr>
          <p:cNvGrpSpPr/>
          <p:nvPr/>
        </p:nvGrpSpPr>
        <p:grpSpPr>
          <a:xfrm>
            <a:off x="666598" y="1686155"/>
            <a:ext cx="11394338" cy="5117120"/>
            <a:chOff x="666598" y="1686154"/>
            <a:chExt cx="11394338" cy="5996210"/>
          </a:xfrm>
        </p:grpSpPr>
        <p:sp>
          <p:nvSpPr>
            <p:cNvPr id="9" name="Shape 7"/>
            <p:cNvSpPr/>
            <p:nvPr/>
          </p:nvSpPr>
          <p:spPr>
            <a:xfrm>
              <a:off x="666598" y="1686154"/>
              <a:ext cx="5238598" cy="5781751"/>
            </a:xfrm>
            <a:prstGeom prst="roundRect">
              <a:avLst>
                <a:gd name="adj" fmla="val 508"/>
              </a:avLst>
            </a:prstGeom>
            <a:solidFill>
              <a:srgbClr val="1E293B">
                <a:alpha val="40000"/>
              </a:srgbClr>
            </a:solidFill>
            <a:ln w="508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Shape 8"/>
            <p:cNvSpPr/>
            <p:nvPr/>
          </p:nvSpPr>
          <p:spPr>
            <a:xfrm>
              <a:off x="905256" y="2600554"/>
              <a:ext cx="4762195" cy="9144"/>
            </a:xfrm>
            <a:prstGeom prst="rect">
              <a:avLst/>
            </a:prstGeom>
            <a:solidFill>
              <a:srgbClr val="94A3B8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Shape 9"/>
            <p:cNvSpPr/>
            <p:nvPr/>
          </p:nvSpPr>
          <p:spPr>
            <a:xfrm>
              <a:off x="905256" y="1969618"/>
              <a:ext cx="457200" cy="457200"/>
            </a:xfrm>
            <a:prstGeom prst="roundRect">
              <a:avLst>
                <a:gd name="adj" fmla="val 41667"/>
              </a:avLst>
            </a:prstGeom>
            <a:solidFill>
              <a:srgbClr val="F59E0B">
                <a:alpha val="15000"/>
              </a:srgbClr>
            </a:solidFill>
            <a:ln/>
            <a:effectLst>
              <a:outerShdw blurRad="635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MY"/>
            </a:p>
          </p:txBody>
        </p:sp>
        <p:pic>
          <p:nvPicPr>
            <p:cNvPr id="12" name="Image 0" descr="preencoded.png"/>
            <p:cNvPicPr>
              <a:picLocks noChangeAspect="1"/>
            </p:cNvPicPr>
            <p:nvPr/>
          </p:nvPicPr>
          <p:blipFill>
            <a:blip r:embed="rId3"/>
            <a:srcRect l="-1648" r="-1648"/>
            <a:stretch/>
          </p:blipFill>
          <p:spPr>
            <a:xfrm>
              <a:off x="1047902" y="2102206"/>
              <a:ext cx="171907" cy="190195"/>
            </a:xfrm>
            <a:prstGeom prst="rect">
              <a:avLst/>
            </a:prstGeom>
          </p:spPr>
        </p:pic>
        <p:sp>
          <p:nvSpPr>
            <p:cNvPr id="13" name="Text 10"/>
            <p:cNvSpPr txBox="1"/>
            <p:nvPr/>
          </p:nvSpPr>
          <p:spPr>
            <a:xfrm>
              <a:off x="1514246" y="1981505"/>
              <a:ext cx="19623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1F5F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Query Optimization</a:t>
              </a:r>
              <a:endParaRPr lang="en-US" sz="1500" dirty="0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1514246" y="2266798"/>
              <a:ext cx="155996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Reducing Database Load</a:t>
              </a:r>
              <a:endParaRPr lang="en-US" sz="9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905256" y="2833726"/>
              <a:ext cx="4762195" cy="1009498"/>
            </a:xfrm>
            <a:prstGeom prst="roundRect">
              <a:avLst>
                <a:gd name="adj" fmla="val 10254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Shape 13"/>
            <p:cNvSpPr/>
            <p:nvPr/>
          </p:nvSpPr>
          <p:spPr>
            <a:xfrm>
              <a:off x="1067105" y="2995574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F59E0B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17" name="Image 1" descr="preencoded.png"/>
            <p:cNvPicPr>
              <a:picLocks noChangeAspect="1"/>
            </p:cNvPicPr>
            <p:nvPr/>
          </p:nvPicPr>
          <p:blipFill>
            <a:blip r:embed="rId4"/>
            <a:srcRect l="-1507" r="-1507"/>
            <a:stretch/>
          </p:blipFill>
          <p:spPr>
            <a:xfrm>
              <a:off x="1133856" y="3081528"/>
              <a:ext cx="171907" cy="133502"/>
            </a:xfrm>
            <a:prstGeom prst="rect">
              <a:avLst/>
            </a:prstGeom>
          </p:spPr>
        </p:pic>
        <p:sp>
          <p:nvSpPr>
            <p:cNvPr id="18" name="Text 14"/>
            <p:cNvSpPr txBox="1"/>
            <p:nvPr/>
          </p:nvSpPr>
          <p:spPr>
            <a:xfrm>
              <a:off x="1524305" y="3004718"/>
              <a:ext cx="1098194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Eager Loading</a:t>
              </a:r>
              <a:endParaRPr lang="en-US" sz="1100" dirty="0"/>
            </a:p>
          </p:txBody>
        </p:sp>
        <p:sp>
          <p:nvSpPr>
            <p:cNvPr id="19" name="Text 15"/>
            <p:cNvSpPr txBox="1"/>
            <p:nvPr/>
          </p:nvSpPr>
          <p:spPr>
            <a:xfrm>
              <a:off x="1524305" y="3258007"/>
              <a:ext cx="368411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Prevent N+1 query problems by loading relationships upfront.</a:t>
              </a:r>
              <a:endParaRPr lang="en-US" sz="90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1524305" y="3478378"/>
              <a:ext cx="2066544" cy="200254"/>
            </a:xfrm>
            <a:prstGeom prst="roundRect">
              <a:avLst>
                <a:gd name="adj" fmla="val 86975"/>
              </a:avLst>
            </a:prstGeom>
            <a:solidFill>
              <a:srgbClr val="000000">
                <a:alpha val="3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1580998" y="3506724"/>
              <a:ext cx="2031797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CBD5E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Course::with('sessions')-&gt;get()</a:t>
              </a:r>
              <a:endParaRPr lang="en-US" sz="800" dirty="0"/>
            </a:p>
          </p:txBody>
        </p:sp>
        <p:sp>
          <p:nvSpPr>
            <p:cNvPr id="22" name="Shape 18"/>
            <p:cNvSpPr/>
            <p:nvPr/>
          </p:nvSpPr>
          <p:spPr>
            <a:xfrm>
              <a:off x="905256" y="3987698"/>
              <a:ext cx="4762195" cy="1009498"/>
            </a:xfrm>
            <a:prstGeom prst="roundRect">
              <a:avLst>
                <a:gd name="adj" fmla="val 10254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Shape 19"/>
            <p:cNvSpPr/>
            <p:nvPr/>
          </p:nvSpPr>
          <p:spPr>
            <a:xfrm>
              <a:off x="1067105" y="4150462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F59E0B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24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152144" y="4235501"/>
              <a:ext cx="133502" cy="133502"/>
            </a:xfrm>
            <a:prstGeom prst="rect">
              <a:avLst/>
            </a:prstGeom>
          </p:spPr>
        </p:pic>
        <p:sp>
          <p:nvSpPr>
            <p:cNvPr id="25" name="Text 20"/>
            <p:cNvSpPr txBox="1"/>
            <p:nvPr/>
          </p:nvSpPr>
          <p:spPr>
            <a:xfrm>
              <a:off x="1524305" y="4159606"/>
              <a:ext cx="1164946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Query Analysis</a:t>
              </a:r>
              <a:endParaRPr lang="en-US" sz="1100" dirty="0"/>
            </a:p>
          </p:txBody>
        </p:sp>
        <p:sp>
          <p:nvSpPr>
            <p:cNvPr id="26" name="Text 21"/>
            <p:cNvSpPr txBox="1"/>
            <p:nvPr/>
          </p:nvSpPr>
          <p:spPr>
            <a:xfrm>
              <a:off x="1524305" y="4411980"/>
              <a:ext cx="392277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Identify slow queries and hydration issues using debugging tools.</a:t>
              </a:r>
              <a:endParaRPr lang="en-US" sz="900" dirty="0"/>
            </a:p>
          </p:txBody>
        </p:sp>
        <p:sp>
          <p:nvSpPr>
            <p:cNvPr id="27" name="Shape 22"/>
            <p:cNvSpPr/>
            <p:nvPr/>
          </p:nvSpPr>
          <p:spPr>
            <a:xfrm>
              <a:off x="1524305" y="4633265"/>
              <a:ext cx="1876349" cy="200254"/>
            </a:xfrm>
            <a:prstGeom prst="roundRect">
              <a:avLst>
                <a:gd name="adj" fmla="val 86975"/>
              </a:avLst>
            </a:prstGeom>
            <a:solidFill>
              <a:srgbClr val="000000">
                <a:alpha val="3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Text 23"/>
            <p:cNvSpPr txBox="1"/>
            <p:nvPr/>
          </p:nvSpPr>
          <p:spPr>
            <a:xfrm>
              <a:off x="1580998" y="4661611"/>
              <a:ext cx="1841602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CBD5E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Laravel Debugbar / Telescope</a:t>
              </a:r>
              <a:endParaRPr lang="en-US" sz="800" dirty="0"/>
            </a:p>
          </p:txBody>
        </p:sp>
        <p:sp>
          <p:nvSpPr>
            <p:cNvPr id="29" name="Shape 24"/>
            <p:cNvSpPr/>
            <p:nvPr/>
          </p:nvSpPr>
          <p:spPr>
            <a:xfrm>
              <a:off x="905256" y="5142586"/>
              <a:ext cx="4762195" cy="1181405"/>
            </a:xfrm>
            <a:prstGeom prst="roundRect">
              <a:avLst>
                <a:gd name="adj" fmla="val 7490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Shape 25"/>
            <p:cNvSpPr/>
            <p:nvPr/>
          </p:nvSpPr>
          <p:spPr>
            <a:xfrm>
              <a:off x="1067105" y="5304434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F59E0B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31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152144" y="5390388"/>
              <a:ext cx="133502" cy="133502"/>
            </a:xfrm>
            <a:prstGeom prst="rect">
              <a:avLst/>
            </a:prstGeom>
          </p:spPr>
        </p:pic>
        <p:sp>
          <p:nvSpPr>
            <p:cNvPr id="32" name="Text 26"/>
            <p:cNvSpPr txBox="1"/>
            <p:nvPr/>
          </p:nvSpPr>
          <p:spPr>
            <a:xfrm>
              <a:off x="1524305" y="5314493"/>
              <a:ext cx="1393546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Database Indexing</a:t>
              </a:r>
              <a:endParaRPr lang="en-US" sz="1100" dirty="0"/>
            </a:p>
          </p:txBody>
        </p:sp>
        <p:sp>
          <p:nvSpPr>
            <p:cNvPr id="33" name="Text 27"/>
            <p:cNvSpPr txBox="1"/>
            <p:nvPr/>
          </p:nvSpPr>
          <p:spPr>
            <a:xfrm>
              <a:off x="1524305" y="5566867"/>
              <a:ext cx="3845966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Strategically index foreign keys and search columns for O(log n) lookup.</a:t>
              </a:r>
              <a:endParaRPr lang="en-US" sz="900" dirty="0"/>
            </a:p>
          </p:txBody>
        </p:sp>
        <p:sp>
          <p:nvSpPr>
            <p:cNvPr id="34" name="Shape 28"/>
            <p:cNvSpPr/>
            <p:nvPr/>
          </p:nvSpPr>
          <p:spPr>
            <a:xfrm>
              <a:off x="1524305" y="5960974"/>
              <a:ext cx="2190902" cy="200254"/>
            </a:xfrm>
            <a:prstGeom prst="roundRect">
              <a:avLst>
                <a:gd name="adj" fmla="val 86975"/>
              </a:avLst>
            </a:prstGeom>
            <a:solidFill>
              <a:srgbClr val="000000">
                <a:alpha val="3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35" name="Text 29"/>
            <p:cNvSpPr txBox="1"/>
            <p:nvPr/>
          </p:nvSpPr>
          <p:spPr>
            <a:xfrm>
              <a:off x="1580998" y="5989320"/>
              <a:ext cx="2155241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CBD5E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$table-&gt;index(['status', 'type'])</a:t>
              </a:r>
              <a:endParaRPr lang="en-US" sz="800" dirty="0"/>
            </a:p>
          </p:txBody>
        </p:sp>
        <p:sp>
          <p:nvSpPr>
            <p:cNvPr id="36" name="Shape 30"/>
            <p:cNvSpPr/>
            <p:nvPr/>
          </p:nvSpPr>
          <p:spPr>
            <a:xfrm>
              <a:off x="905256" y="6893662"/>
              <a:ext cx="4762195" cy="9144"/>
            </a:xfrm>
            <a:prstGeom prst="rect">
              <a:avLst/>
            </a:prstGeom>
            <a:solidFill>
              <a:srgbClr val="94A3B8">
                <a:alpha val="2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37" name="Text 31"/>
            <p:cNvSpPr txBox="1"/>
            <p:nvPr/>
          </p:nvSpPr>
          <p:spPr>
            <a:xfrm>
              <a:off x="905256" y="7071970"/>
              <a:ext cx="1164946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64748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QUERY REDUCTION</a:t>
              </a:r>
              <a:endParaRPr lang="en-US" sz="800" dirty="0"/>
            </a:p>
          </p:txBody>
        </p:sp>
        <p:sp>
          <p:nvSpPr>
            <p:cNvPr id="38" name="Shape 32"/>
            <p:cNvSpPr/>
            <p:nvPr/>
          </p:nvSpPr>
          <p:spPr>
            <a:xfrm>
              <a:off x="2137867" y="7112203"/>
              <a:ext cx="3105302" cy="57607"/>
            </a:xfrm>
            <a:prstGeom prst="roundRect">
              <a:avLst>
                <a:gd name="adj" fmla="val 793654"/>
              </a:avLst>
            </a:prstGeom>
            <a:solidFill>
              <a:srgbClr val="0F172A">
                <a:alpha val="5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39" name="Shape 33"/>
            <p:cNvSpPr/>
            <p:nvPr/>
          </p:nvSpPr>
          <p:spPr>
            <a:xfrm>
              <a:off x="2137867" y="7112203"/>
              <a:ext cx="2638044" cy="57607"/>
            </a:xfrm>
            <a:prstGeom prst="roundRect">
              <a:avLst>
                <a:gd name="adj" fmla="val 793654"/>
              </a:avLst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40" name="Text 34"/>
            <p:cNvSpPr txBox="1"/>
            <p:nvPr/>
          </p:nvSpPr>
          <p:spPr>
            <a:xfrm>
              <a:off x="5393131" y="7064654"/>
              <a:ext cx="3621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59E0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-90%</a:t>
              </a:r>
              <a:endParaRPr lang="en-US" sz="900" dirty="0"/>
            </a:p>
          </p:txBody>
        </p:sp>
        <p:sp>
          <p:nvSpPr>
            <p:cNvPr id="41" name="Shape 35"/>
            <p:cNvSpPr/>
            <p:nvPr/>
          </p:nvSpPr>
          <p:spPr>
            <a:xfrm>
              <a:off x="6286500" y="1686154"/>
              <a:ext cx="5238598" cy="5781751"/>
            </a:xfrm>
            <a:prstGeom prst="roundRect">
              <a:avLst>
                <a:gd name="adj" fmla="val 508"/>
              </a:avLst>
            </a:prstGeom>
            <a:solidFill>
              <a:srgbClr val="1E293B">
                <a:alpha val="40000"/>
              </a:srgbClr>
            </a:solidFill>
            <a:ln w="508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42" name="Shape 36"/>
            <p:cNvSpPr/>
            <p:nvPr/>
          </p:nvSpPr>
          <p:spPr>
            <a:xfrm>
              <a:off x="6524244" y="2600554"/>
              <a:ext cx="4762195" cy="9144"/>
            </a:xfrm>
            <a:prstGeom prst="rect">
              <a:avLst/>
            </a:prstGeom>
            <a:solidFill>
              <a:srgbClr val="94A3B8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43" name="Shape 37"/>
            <p:cNvSpPr/>
            <p:nvPr/>
          </p:nvSpPr>
          <p:spPr>
            <a:xfrm>
              <a:off x="6524244" y="1969618"/>
              <a:ext cx="457200" cy="457200"/>
            </a:xfrm>
            <a:prstGeom prst="roundRect">
              <a:avLst>
                <a:gd name="adj" fmla="val 41667"/>
              </a:avLst>
            </a:prstGeom>
            <a:solidFill>
              <a:srgbClr val="10B981">
                <a:alpha val="15000"/>
              </a:srgbClr>
            </a:solidFill>
            <a:ln/>
            <a:effectLst>
              <a:outerShdw blurRad="635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MY"/>
            </a:p>
          </p:txBody>
        </p:sp>
        <p:pic>
          <p:nvPicPr>
            <p:cNvPr id="44" name="Image 4" descr="preencoded.png"/>
            <p:cNvPicPr>
              <a:picLocks noChangeAspect="1"/>
            </p:cNvPicPr>
            <p:nvPr/>
          </p:nvPicPr>
          <p:blipFill>
            <a:blip r:embed="rId7"/>
            <a:srcRect l="-1648" r="-1648"/>
            <a:stretch/>
          </p:blipFill>
          <p:spPr>
            <a:xfrm>
              <a:off x="6667805" y="2102206"/>
              <a:ext cx="171907" cy="190195"/>
            </a:xfrm>
            <a:prstGeom prst="rect">
              <a:avLst/>
            </a:prstGeom>
          </p:spPr>
        </p:pic>
        <p:sp>
          <p:nvSpPr>
            <p:cNvPr id="45" name="Text 38"/>
            <p:cNvSpPr txBox="1"/>
            <p:nvPr/>
          </p:nvSpPr>
          <p:spPr>
            <a:xfrm>
              <a:off x="7134149" y="1981505"/>
              <a:ext cx="19147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1F5F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Caching Strategies</a:t>
              </a:r>
              <a:endParaRPr lang="en-US" sz="1500" dirty="0"/>
            </a:p>
          </p:txBody>
        </p:sp>
        <p:sp>
          <p:nvSpPr>
            <p:cNvPr id="46" name="Text 39"/>
            <p:cNvSpPr txBox="1"/>
            <p:nvPr/>
          </p:nvSpPr>
          <p:spPr>
            <a:xfrm>
              <a:off x="7134149" y="2266798"/>
              <a:ext cx="1617574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Improving Response Time</a:t>
              </a:r>
              <a:endParaRPr lang="en-US" sz="900" dirty="0"/>
            </a:p>
          </p:txBody>
        </p:sp>
        <p:sp>
          <p:nvSpPr>
            <p:cNvPr id="47" name="Shape 40"/>
            <p:cNvSpPr/>
            <p:nvPr/>
          </p:nvSpPr>
          <p:spPr>
            <a:xfrm>
              <a:off x="6524244" y="2833726"/>
              <a:ext cx="4762195" cy="1181405"/>
            </a:xfrm>
            <a:prstGeom prst="roundRect">
              <a:avLst>
                <a:gd name="adj" fmla="val 7490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48" name="Shape 41"/>
            <p:cNvSpPr/>
            <p:nvPr/>
          </p:nvSpPr>
          <p:spPr>
            <a:xfrm>
              <a:off x="6687007" y="2995574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10B981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49" name="Image 5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6772046" y="3081528"/>
              <a:ext cx="133502" cy="133502"/>
            </a:xfrm>
            <a:prstGeom prst="rect">
              <a:avLst/>
            </a:prstGeom>
          </p:spPr>
        </p:pic>
        <p:sp>
          <p:nvSpPr>
            <p:cNvPr id="50" name="Text 42"/>
            <p:cNvSpPr txBox="1"/>
            <p:nvPr/>
          </p:nvSpPr>
          <p:spPr>
            <a:xfrm>
              <a:off x="7144207" y="3004718"/>
              <a:ext cx="92720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Cache Tags</a:t>
              </a:r>
              <a:endParaRPr lang="en-US" sz="1100" dirty="0"/>
            </a:p>
          </p:txBody>
        </p:sp>
        <p:sp>
          <p:nvSpPr>
            <p:cNvPr id="51" name="Text 43"/>
            <p:cNvSpPr txBox="1"/>
            <p:nvPr/>
          </p:nvSpPr>
          <p:spPr>
            <a:xfrm>
              <a:off x="7144207" y="3258007"/>
              <a:ext cx="394106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Group related cache entries to flush specific sets without clearing everything.</a:t>
              </a:r>
              <a:endParaRPr lang="en-US" sz="900" dirty="0"/>
            </a:p>
          </p:txBody>
        </p:sp>
        <p:sp>
          <p:nvSpPr>
            <p:cNvPr id="52" name="Shape 44"/>
            <p:cNvSpPr/>
            <p:nvPr/>
          </p:nvSpPr>
          <p:spPr>
            <a:xfrm>
              <a:off x="7144207" y="3652114"/>
              <a:ext cx="2190902" cy="200254"/>
            </a:xfrm>
            <a:prstGeom prst="roundRect">
              <a:avLst>
                <a:gd name="adj" fmla="val 86975"/>
              </a:avLst>
            </a:prstGeom>
            <a:solidFill>
              <a:srgbClr val="000000">
                <a:alpha val="3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53" name="Text 45"/>
            <p:cNvSpPr txBox="1"/>
            <p:nvPr/>
          </p:nvSpPr>
          <p:spPr>
            <a:xfrm>
              <a:off x="7200900" y="3680460"/>
              <a:ext cx="2155241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CBD5E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Cache::tags(['courses'])-&gt;flush()</a:t>
              </a:r>
              <a:endParaRPr lang="en-US" sz="800" dirty="0"/>
            </a:p>
          </p:txBody>
        </p:sp>
        <p:sp>
          <p:nvSpPr>
            <p:cNvPr id="54" name="Shape 46"/>
            <p:cNvSpPr/>
            <p:nvPr/>
          </p:nvSpPr>
          <p:spPr>
            <a:xfrm>
              <a:off x="6524244" y="4161434"/>
              <a:ext cx="4762195" cy="1181405"/>
            </a:xfrm>
            <a:prstGeom prst="roundRect">
              <a:avLst>
                <a:gd name="adj" fmla="val 7490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55" name="Shape 47"/>
            <p:cNvSpPr/>
            <p:nvPr/>
          </p:nvSpPr>
          <p:spPr>
            <a:xfrm>
              <a:off x="6687007" y="4323283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10B981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56" name="Image 6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6772046" y="4409237"/>
              <a:ext cx="133502" cy="133502"/>
            </a:xfrm>
            <a:prstGeom prst="rect">
              <a:avLst/>
            </a:prstGeom>
          </p:spPr>
        </p:pic>
        <p:sp>
          <p:nvSpPr>
            <p:cNvPr id="57" name="Text 48"/>
            <p:cNvSpPr txBox="1"/>
            <p:nvPr/>
          </p:nvSpPr>
          <p:spPr>
            <a:xfrm>
              <a:off x="7144207" y="4333342"/>
              <a:ext cx="1355141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Smart Invalidation</a:t>
              </a:r>
              <a:endParaRPr lang="en-US" sz="1100" dirty="0"/>
            </a:p>
          </p:txBody>
        </p:sp>
        <p:sp>
          <p:nvSpPr>
            <p:cNvPr id="58" name="Text 49"/>
            <p:cNvSpPr txBox="1"/>
            <p:nvPr/>
          </p:nvSpPr>
          <p:spPr>
            <a:xfrm>
              <a:off x="7144207" y="4585716"/>
              <a:ext cx="3770071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Use model observers to automatically clear relevant caches on updates.</a:t>
              </a:r>
              <a:endParaRPr lang="en-US" sz="900" dirty="0"/>
            </a:p>
          </p:txBody>
        </p:sp>
        <p:sp>
          <p:nvSpPr>
            <p:cNvPr id="59" name="Shape 50"/>
            <p:cNvSpPr/>
            <p:nvPr/>
          </p:nvSpPr>
          <p:spPr>
            <a:xfrm>
              <a:off x="7144207" y="4979822"/>
              <a:ext cx="1686154" cy="200254"/>
            </a:xfrm>
            <a:prstGeom prst="roundRect">
              <a:avLst>
                <a:gd name="adj" fmla="val 86975"/>
              </a:avLst>
            </a:prstGeom>
            <a:solidFill>
              <a:srgbClr val="000000">
                <a:alpha val="3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60" name="Text 51"/>
            <p:cNvSpPr txBox="1"/>
            <p:nvPr/>
          </p:nvSpPr>
          <p:spPr>
            <a:xfrm>
              <a:off x="7200900" y="5008169"/>
              <a:ext cx="1650492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CBD5E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CourseObserver::updated()</a:t>
              </a:r>
              <a:endParaRPr lang="en-US" sz="800" dirty="0"/>
            </a:p>
          </p:txBody>
        </p:sp>
        <p:sp>
          <p:nvSpPr>
            <p:cNvPr id="61" name="Shape 52"/>
            <p:cNvSpPr/>
            <p:nvPr/>
          </p:nvSpPr>
          <p:spPr>
            <a:xfrm>
              <a:off x="6524244" y="5489143"/>
              <a:ext cx="4762195" cy="1181405"/>
            </a:xfrm>
            <a:prstGeom prst="roundRect">
              <a:avLst>
                <a:gd name="adj" fmla="val 7490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62" name="Shape 53"/>
            <p:cNvSpPr/>
            <p:nvPr/>
          </p:nvSpPr>
          <p:spPr>
            <a:xfrm>
              <a:off x="6687007" y="5650992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10B981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pic>
          <p:nvPicPr>
            <p:cNvPr id="63" name="Image 7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6772046" y="5736946"/>
              <a:ext cx="133502" cy="133502"/>
            </a:xfrm>
            <a:prstGeom prst="rect">
              <a:avLst/>
            </a:prstGeom>
          </p:spPr>
        </p:pic>
        <p:sp>
          <p:nvSpPr>
            <p:cNvPr id="64" name="Text 54"/>
            <p:cNvSpPr txBox="1"/>
            <p:nvPr/>
          </p:nvSpPr>
          <p:spPr>
            <a:xfrm>
              <a:off x="7144207" y="5661050"/>
              <a:ext cx="1279246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Redis Integration</a:t>
              </a:r>
              <a:endParaRPr lang="en-US" sz="1100" dirty="0"/>
            </a:p>
          </p:txBody>
        </p:sp>
        <p:sp>
          <p:nvSpPr>
            <p:cNvPr id="65" name="Text 55"/>
            <p:cNvSpPr txBox="1"/>
            <p:nvPr/>
          </p:nvSpPr>
          <p:spPr>
            <a:xfrm>
              <a:off x="7144207" y="5913425"/>
              <a:ext cx="401787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High-performance in-memory data store for sessions, queues, and cache.</a:t>
              </a:r>
              <a:endParaRPr lang="en-US" sz="900" dirty="0"/>
            </a:p>
          </p:txBody>
        </p:sp>
        <p:sp>
          <p:nvSpPr>
            <p:cNvPr id="66" name="Shape 56"/>
            <p:cNvSpPr/>
            <p:nvPr/>
          </p:nvSpPr>
          <p:spPr>
            <a:xfrm>
              <a:off x="7144207" y="6307531"/>
              <a:ext cx="1190549" cy="200254"/>
            </a:xfrm>
            <a:prstGeom prst="roundRect">
              <a:avLst>
                <a:gd name="adj" fmla="val 86975"/>
              </a:avLst>
            </a:prstGeom>
            <a:solidFill>
              <a:srgbClr val="000000">
                <a:alpha val="3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67" name="Text 57"/>
            <p:cNvSpPr txBox="1"/>
            <p:nvPr/>
          </p:nvSpPr>
          <p:spPr>
            <a:xfrm>
              <a:off x="7200900" y="6335878"/>
              <a:ext cx="1155802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CBD5E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predis / phpredis</a:t>
              </a:r>
              <a:endParaRPr lang="en-US" sz="800" dirty="0"/>
            </a:p>
          </p:txBody>
        </p:sp>
        <p:sp>
          <p:nvSpPr>
            <p:cNvPr id="68" name="Shape 58"/>
            <p:cNvSpPr/>
            <p:nvPr/>
          </p:nvSpPr>
          <p:spPr>
            <a:xfrm>
              <a:off x="6524244" y="6893662"/>
              <a:ext cx="4762195" cy="9144"/>
            </a:xfrm>
            <a:prstGeom prst="rect">
              <a:avLst/>
            </a:prstGeom>
            <a:solidFill>
              <a:srgbClr val="94A3B8">
                <a:alpha val="2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69" name="Text 59"/>
            <p:cNvSpPr txBox="1"/>
            <p:nvPr/>
          </p:nvSpPr>
          <p:spPr>
            <a:xfrm>
              <a:off x="6524244" y="7071970"/>
              <a:ext cx="1078992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64748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RESPONSE SPEED</a:t>
              </a:r>
              <a:endParaRPr lang="en-US" sz="800" dirty="0"/>
            </a:p>
          </p:txBody>
        </p:sp>
        <p:sp>
          <p:nvSpPr>
            <p:cNvPr id="70" name="Shape 60"/>
            <p:cNvSpPr/>
            <p:nvPr/>
          </p:nvSpPr>
          <p:spPr>
            <a:xfrm>
              <a:off x="7669073" y="7112203"/>
              <a:ext cx="3191256" cy="57607"/>
            </a:xfrm>
            <a:prstGeom prst="roundRect">
              <a:avLst>
                <a:gd name="adj" fmla="val 793654"/>
              </a:avLst>
            </a:prstGeom>
            <a:solidFill>
              <a:srgbClr val="0F172A">
                <a:alpha val="5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71" name="Text 61"/>
            <p:cNvSpPr txBox="1"/>
            <p:nvPr/>
          </p:nvSpPr>
          <p:spPr>
            <a:xfrm>
              <a:off x="11013034" y="7064654"/>
              <a:ext cx="3621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8FA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20ms</a:t>
              </a:r>
              <a:endParaRPr lang="en-US" sz="900" dirty="0"/>
            </a:p>
          </p:txBody>
        </p:sp>
        <p:sp>
          <p:nvSpPr>
            <p:cNvPr id="72" name="Text 62"/>
            <p:cNvSpPr txBox="1"/>
            <p:nvPr/>
          </p:nvSpPr>
          <p:spPr>
            <a:xfrm>
              <a:off x="10327234" y="7548862"/>
              <a:ext cx="1733702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FAFC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EPS Backend Web Training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210605" y="-952805"/>
            <a:ext cx="4762195" cy="4762195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09905" y="4000500"/>
            <a:ext cx="4286707" cy="4286707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61695" y="1390802"/>
            <a:ext cx="106683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761695" y="1686154"/>
            <a:ext cx="5191049" cy="4695444"/>
          </a:xfrm>
          <a:prstGeom prst="roundRect">
            <a:avLst>
              <a:gd name="adj" fmla="val 63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771754" y="1695298"/>
            <a:ext cx="5171846" cy="4288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771754" y="2115007"/>
            <a:ext cx="51718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961949" y="1836115"/>
            <a:ext cx="171907" cy="1335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52898" y="18553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Shape 9"/>
          <p:cNvSpPr/>
          <p:nvPr/>
        </p:nvSpPr>
        <p:spPr>
          <a:xfrm>
            <a:off x="5505602" y="18553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5658307" y="18553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Shape 12"/>
          <p:cNvSpPr/>
          <p:nvPr/>
        </p:nvSpPr>
        <p:spPr>
          <a:xfrm>
            <a:off x="6238951" y="1686154"/>
            <a:ext cx="5191049" cy="4695444"/>
          </a:xfrm>
          <a:prstGeom prst="roundRect">
            <a:avLst>
              <a:gd name="adj" fmla="val 63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Shape 13"/>
          <p:cNvSpPr/>
          <p:nvPr/>
        </p:nvSpPr>
        <p:spPr>
          <a:xfrm>
            <a:off x="6248095" y="1695298"/>
            <a:ext cx="5171846" cy="4288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Shape 14"/>
          <p:cNvSpPr/>
          <p:nvPr/>
        </p:nvSpPr>
        <p:spPr>
          <a:xfrm>
            <a:off x="6248095" y="2115007"/>
            <a:ext cx="51718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6439205" y="1836115"/>
            <a:ext cx="171907" cy="13350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830154" y="18553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6"/>
          <p:cNvSpPr/>
          <p:nvPr/>
        </p:nvSpPr>
        <p:spPr>
          <a:xfrm>
            <a:off x="10981944" y="18553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Shape 17"/>
          <p:cNvSpPr/>
          <p:nvPr/>
        </p:nvSpPr>
        <p:spPr>
          <a:xfrm>
            <a:off x="11134649" y="18553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Shape 18"/>
          <p:cNvSpPr/>
          <p:nvPr/>
        </p:nvSpPr>
        <p:spPr>
          <a:xfrm>
            <a:off x="6782105" y="2348179"/>
            <a:ext cx="9144" cy="3847795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Shape 19"/>
          <p:cNvSpPr/>
          <p:nvPr/>
        </p:nvSpPr>
        <p:spPr>
          <a:xfrm>
            <a:off x="6940296" y="5414162"/>
            <a:ext cx="4257446" cy="590702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Shape 20"/>
          <p:cNvSpPr/>
          <p:nvPr/>
        </p:nvSpPr>
        <p:spPr>
          <a:xfrm>
            <a:off x="6940296" y="5414162"/>
            <a:ext cx="28346" cy="59070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rcRect l="-1358" r="-1358"/>
          <a:stretch/>
        </p:blipFill>
        <p:spPr>
          <a:xfrm>
            <a:off x="7111289" y="5645506"/>
            <a:ext cx="142646" cy="1234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61695" y="457200"/>
            <a:ext cx="45345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Caching Strategy Example</a:t>
            </a:r>
            <a:endParaRPr lang="en-US" sz="2700" dirty="0"/>
          </a:p>
        </p:txBody>
      </p:sp>
      <p:sp>
        <p:nvSpPr>
          <p:cNvPr id="27" name="Text 22"/>
          <p:cNvSpPr txBox="1"/>
          <p:nvPr/>
        </p:nvSpPr>
        <p:spPr>
          <a:xfrm>
            <a:off x="761695" y="961949"/>
            <a:ext cx="40727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data retrieval with Redis &amp; Cache Tags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1228954" y="1819656"/>
            <a:ext cx="32936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app/Http/Controllers/CategoryController.php</a:t>
            </a:r>
            <a:endParaRPr lang="en-US" sz="900" dirty="0"/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49C38389-7C40-EA65-FA1B-F0AE33E79BD6}"/>
              </a:ext>
            </a:extLst>
          </p:cNvPr>
          <p:cNvGrpSpPr/>
          <p:nvPr/>
        </p:nvGrpSpPr>
        <p:grpSpPr>
          <a:xfrm>
            <a:off x="1000354" y="2348179"/>
            <a:ext cx="4496104" cy="3847795"/>
            <a:chOff x="1000354" y="2348179"/>
            <a:chExt cx="4496104" cy="4600346"/>
          </a:xfrm>
        </p:grpSpPr>
        <p:sp>
          <p:nvSpPr>
            <p:cNvPr id="14" name="Shape 11"/>
            <p:cNvSpPr/>
            <p:nvPr/>
          </p:nvSpPr>
          <p:spPr>
            <a:xfrm>
              <a:off x="1305763" y="2348179"/>
              <a:ext cx="9144" cy="4600346"/>
            </a:xfrm>
            <a:prstGeom prst="rect">
              <a:avLst/>
            </a:prstGeom>
            <a:solidFill>
              <a:srgbClr val="94A3B8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29" name="Text 24"/>
            <p:cNvSpPr txBox="1"/>
            <p:nvPr/>
          </p:nvSpPr>
          <p:spPr>
            <a:xfrm>
              <a:off x="1000354" y="2357323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24</a:t>
              </a:r>
              <a:endParaRPr lang="en-US" sz="900" dirty="0"/>
            </a:p>
          </p:txBody>
        </p:sp>
        <p:sp>
          <p:nvSpPr>
            <p:cNvPr id="30" name="Text 25"/>
            <p:cNvSpPr txBox="1"/>
            <p:nvPr/>
          </p:nvSpPr>
          <p:spPr>
            <a:xfrm>
              <a:off x="1000354" y="255574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25</a:t>
              </a:r>
              <a:endParaRPr lang="en-US" sz="900" dirty="0"/>
            </a:p>
          </p:txBody>
        </p:sp>
        <p:sp>
          <p:nvSpPr>
            <p:cNvPr id="31" name="Text 26"/>
            <p:cNvSpPr txBox="1"/>
            <p:nvPr/>
          </p:nvSpPr>
          <p:spPr>
            <a:xfrm>
              <a:off x="1000354" y="275325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26</a:t>
              </a:r>
              <a:endParaRPr lang="en-US" sz="900" dirty="0"/>
            </a:p>
          </p:txBody>
        </p:sp>
        <p:sp>
          <p:nvSpPr>
            <p:cNvPr id="32" name="Text 27"/>
            <p:cNvSpPr txBox="1"/>
            <p:nvPr/>
          </p:nvSpPr>
          <p:spPr>
            <a:xfrm>
              <a:off x="1000354" y="2951683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27</a:t>
              </a:r>
              <a:endParaRPr lang="en-US" sz="900" dirty="0"/>
            </a:p>
          </p:txBody>
        </p:sp>
        <p:sp>
          <p:nvSpPr>
            <p:cNvPr id="33" name="Text 28"/>
            <p:cNvSpPr txBox="1"/>
            <p:nvPr/>
          </p:nvSpPr>
          <p:spPr>
            <a:xfrm>
              <a:off x="1000354" y="315010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28</a:t>
              </a:r>
              <a:endParaRPr lang="en-US" sz="900" dirty="0"/>
            </a:p>
          </p:txBody>
        </p:sp>
        <p:sp>
          <p:nvSpPr>
            <p:cNvPr id="34" name="Text 29"/>
            <p:cNvSpPr txBox="1"/>
            <p:nvPr/>
          </p:nvSpPr>
          <p:spPr>
            <a:xfrm>
              <a:off x="1000354" y="334761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29</a:t>
              </a:r>
              <a:endParaRPr lang="en-US" sz="900" dirty="0"/>
            </a:p>
          </p:txBody>
        </p:sp>
        <p:sp>
          <p:nvSpPr>
            <p:cNvPr id="35" name="Text 30"/>
            <p:cNvSpPr txBox="1"/>
            <p:nvPr/>
          </p:nvSpPr>
          <p:spPr>
            <a:xfrm>
              <a:off x="1000354" y="3546043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36" name="Text 31"/>
            <p:cNvSpPr txBox="1"/>
            <p:nvPr/>
          </p:nvSpPr>
          <p:spPr>
            <a:xfrm>
              <a:off x="1000354" y="374446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31</a:t>
              </a:r>
              <a:endParaRPr lang="en-US" sz="900" dirty="0"/>
            </a:p>
          </p:txBody>
        </p:sp>
        <p:sp>
          <p:nvSpPr>
            <p:cNvPr id="37" name="Text 32"/>
            <p:cNvSpPr txBox="1"/>
            <p:nvPr/>
          </p:nvSpPr>
          <p:spPr>
            <a:xfrm>
              <a:off x="1000354" y="394197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32</a:t>
              </a:r>
              <a:endParaRPr lang="en-US" sz="900" dirty="0"/>
            </a:p>
          </p:txBody>
        </p:sp>
        <p:sp>
          <p:nvSpPr>
            <p:cNvPr id="38" name="Text 33"/>
            <p:cNvSpPr txBox="1"/>
            <p:nvPr/>
          </p:nvSpPr>
          <p:spPr>
            <a:xfrm>
              <a:off x="1000354" y="4140403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33</a:t>
              </a:r>
              <a:endParaRPr lang="en-US" sz="900" dirty="0"/>
            </a:p>
          </p:txBody>
        </p:sp>
        <p:sp>
          <p:nvSpPr>
            <p:cNvPr id="39" name="Text 34"/>
            <p:cNvSpPr txBox="1"/>
            <p:nvPr/>
          </p:nvSpPr>
          <p:spPr>
            <a:xfrm>
              <a:off x="1000354" y="4337914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34</a:t>
              </a:r>
              <a:endParaRPr lang="en-US" sz="900" dirty="0"/>
            </a:p>
          </p:txBody>
        </p:sp>
        <p:sp>
          <p:nvSpPr>
            <p:cNvPr id="40" name="Text 35"/>
            <p:cNvSpPr txBox="1"/>
            <p:nvPr/>
          </p:nvSpPr>
          <p:spPr>
            <a:xfrm>
              <a:off x="1000354" y="453633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41" name="Text 36"/>
            <p:cNvSpPr txBox="1"/>
            <p:nvPr/>
          </p:nvSpPr>
          <p:spPr>
            <a:xfrm>
              <a:off x="1000354" y="4734763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36</a:t>
              </a:r>
              <a:endParaRPr lang="en-US" sz="900" dirty="0"/>
            </a:p>
          </p:txBody>
        </p:sp>
        <p:sp>
          <p:nvSpPr>
            <p:cNvPr id="42" name="Text 37"/>
            <p:cNvSpPr txBox="1"/>
            <p:nvPr/>
          </p:nvSpPr>
          <p:spPr>
            <a:xfrm>
              <a:off x="1000354" y="4932274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37</a:t>
              </a:r>
              <a:endParaRPr lang="en-US" sz="900" dirty="0"/>
            </a:p>
          </p:txBody>
        </p:sp>
        <p:sp>
          <p:nvSpPr>
            <p:cNvPr id="43" name="Text 38"/>
            <p:cNvSpPr txBox="1"/>
            <p:nvPr/>
          </p:nvSpPr>
          <p:spPr>
            <a:xfrm>
              <a:off x="1000354" y="513069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38</a:t>
              </a:r>
              <a:endParaRPr lang="en-US" sz="900" dirty="0"/>
            </a:p>
          </p:txBody>
        </p:sp>
        <p:sp>
          <p:nvSpPr>
            <p:cNvPr id="44" name="Text 39"/>
            <p:cNvSpPr txBox="1"/>
            <p:nvPr/>
          </p:nvSpPr>
          <p:spPr>
            <a:xfrm>
              <a:off x="1000354" y="5329123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39</a:t>
              </a:r>
              <a:endParaRPr lang="en-US" sz="900" dirty="0"/>
            </a:p>
          </p:txBody>
        </p:sp>
        <p:sp>
          <p:nvSpPr>
            <p:cNvPr id="45" name="Text 40"/>
            <p:cNvSpPr txBox="1"/>
            <p:nvPr/>
          </p:nvSpPr>
          <p:spPr>
            <a:xfrm>
              <a:off x="1000354" y="5526634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46" name="Text 41"/>
            <p:cNvSpPr txBox="1"/>
            <p:nvPr/>
          </p:nvSpPr>
          <p:spPr>
            <a:xfrm>
              <a:off x="1000354" y="572505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41</a:t>
              </a:r>
              <a:endParaRPr lang="en-US" sz="900" dirty="0"/>
            </a:p>
          </p:txBody>
        </p:sp>
        <p:sp>
          <p:nvSpPr>
            <p:cNvPr id="47" name="Text 42"/>
            <p:cNvSpPr txBox="1"/>
            <p:nvPr/>
          </p:nvSpPr>
          <p:spPr>
            <a:xfrm>
              <a:off x="1000354" y="5923483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42</a:t>
              </a:r>
              <a:endParaRPr lang="en-US" sz="900" dirty="0"/>
            </a:p>
          </p:txBody>
        </p:sp>
        <p:sp>
          <p:nvSpPr>
            <p:cNvPr id="48" name="Text 43"/>
            <p:cNvSpPr txBox="1"/>
            <p:nvPr/>
          </p:nvSpPr>
          <p:spPr>
            <a:xfrm>
              <a:off x="1000354" y="6120994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43</a:t>
              </a:r>
              <a:endParaRPr lang="en-US" sz="900" dirty="0"/>
            </a:p>
          </p:txBody>
        </p:sp>
        <p:sp>
          <p:nvSpPr>
            <p:cNvPr id="49" name="Text 44"/>
            <p:cNvSpPr txBox="1"/>
            <p:nvPr/>
          </p:nvSpPr>
          <p:spPr>
            <a:xfrm>
              <a:off x="1000354" y="631941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44</a:t>
              </a:r>
              <a:endParaRPr lang="en-US" sz="900" dirty="0"/>
            </a:p>
          </p:txBody>
        </p:sp>
        <p:sp>
          <p:nvSpPr>
            <p:cNvPr id="50" name="Text 45"/>
            <p:cNvSpPr txBox="1"/>
            <p:nvPr/>
          </p:nvSpPr>
          <p:spPr>
            <a:xfrm>
              <a:off x="1000354" y="6516929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47556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45</a:t>
              </a:r>
              <a:endParaRPr lang="en-US" sz="900" dirty="0"/>
            </a:p>
          </p:txBody>
        </p:sp>
        <p:sp>
          <p:nvSpPr>
            <p:cNvPr id="51" name="Shape 46"/>
            <p:cNvSpPr/>
            <p:nvPr/>
          </p:nvSpPr>
          <p:spPr>
            <a:xfrm>
              <a:off x="1463040" y="2348179"/>
              <a:ext cx="1714500" cy="267005"/>
            </a:xfrm>
            <a:prstGeom prst="roundRect">
              <a:avLst>
                <a:gd name="adj" fmla="val 48924"/>
              </a:avLst>
            </a:prstGeom>
            <a:solidFill>
              <a:srgbClr val="3B82F6">
                <a:alpha val="15000"/>
              </a:srgbClr>
            </a:solidFill>
            <a:ln w="12700">
              <a:solidFill>
                <a:srgbClr val="3B82F6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52" name="Text 47"/>
            <p:cNvSpPr txBox="1"/>
            <p:nvPr/>
          </p:nvSpPr>
          <p:spPr>
            <a:xfrm>
              <a:off x="1568196" y="2404872"/>
              <a:ext cx="1583741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CACHE REMEMBER PATTERN</a:t>
              </a:r>
              <a:endParaRPr lang="en-US" sz="800" dirty="0"/>
            </a:p>
          </p:txBody>
        </p:sp>
        <p:sp>
          <p:nvSpPr>
            <p:cNvPr id="53" name="Text 48"/>
            <p:cNvSpPr txBox="1"/>
            <p:nvPr/>
          </p:nvSpPr>
          <p:spPr>
            <a:xfrm>
              <a:off x="1463040" y="2696566"/>
              <a:ext cx="121706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public function</a:t>
              </a:r>
              <a:endParaRPr lang="en-US" sz="900" dirty="0"/>
            </a:p>
          </p:txBody>
        </p:sp>
        <p:sp>
          <p:nvSpPr>
            <p:cNvPr id="54" name="Text 49"/>
            <p:cNvSpPr txBox="1"/>
            <p:nvPr/>
          </p:nvSpPr>
          <p:spPr>
            <a:xfrm>
              <a:off x="2577694" y="2696566"/>
              <a:ext cx="106527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getCategories</a:t>
              </a:r>
              <a:endParaRPr lang="en-US" sz="900" dirty="0"/>
            </a:p>
          </p:txBody>
        </p:sp>
        <p:sp>
          <p:nvSpPr>
            <p:cNvPr id="55" name="Text 50"/>
            <p:cNvSpPr txBox="1"/>
            <p:nvPr/>
          </p:nvSpPr>
          <p:spPr>
            <a:xfrm>
              <a:off x="3543300" y="269656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</a:t>
              </a:r>
              <a:endParaRPr lang="en-US" sz="900" dirty="0"/>
            </a:p>
          </p:txBody>
        </p:sp>
        <p:sp>
          <p:nvSpPr>
            <p:cNvPr id="56" name="Text 51"/>
            <p:cNvSpPr txBox="1"/>
            <p:nvPr/>
          </p:nvSpPr>
          <p:spPr>
            <a:xfrm>
              <a:off x="3692347" y="269656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{</a:t>
              </a:r>
              <a:endParaRPr lang="en-US" sz="900" dirty="0"/>
            </a:p>
          </p:txBody>
        </p:sp>
        <p:sp>
          <p:nvSpPr>
            <p:cNvPr id="57" name="Text 52"/>
            <p:cNvSpPr txBox="1"/>
            <p:nvPr/>
          </p:nvSpPr>
          <p:spPr>
            <a:xfrm>
              <a:off x="1463040" y="2894990"/>
              <a:ext cx="32177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// Retrieve from cache or execute callback</a:t>
              </a:r>
              <a:endParaRPr lang="en-US" sz="900" dirty="0"/>
            </a:p>
          </p:txBody>
        </p:sp>
        <p:sp>
          <p:nvSpPr>
            <p:cNvPr id="58" name="Text 53"/>
            <p:cNvSpPr txBox="1"/>
            <p:nvPr/>
          </p:nvSpPr>
          <p:spPr>
            <a:xfrm>
              <a:off x="1463040" y="3092501"/>
              <a:ext cx="5413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return</a:t>
              </a:r>
              <a:endParaRPr lang="en-US" sz="900" dirty="0"/>
            </a:p>
          </p:txBody>
        </p:sp>
        <p:sp>
          <p:nvSpPr>
            <p:cNvPr id="59" name="Text 54"/>
            <p:cNvSpPr txBox="1"/>
            <p:nvPr/>
          </p:nvSpPr>
          <p:spPr>
            <a:xfrm>
              <a:off x="1909267" y="3092501"/>
              <a:ext cx="4745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22D3E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cache</a:t>
              </a:r>
              <a:endParaRPr lang="en-US" sz="900" dirty="0"/>
            </a:p>
          </p:txBody>
        </p:sp>
        <p:sp>
          <p:nvSpPr>
            <p:cNvPr id="60" name="Text 55"/>
            <p:cNvSpPr txBox="1"/>
            <p:nvPr/>
          </p:nvSpPr>
          <p:spPr>
            <a:xfrm>
              <a:off x="2280514" y="3092501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</a:t>
              </a:r>
              <a:endParaRPr lang="en-US" sz="900" dirty="0"/>
            </a:p>
          </p:txBody>
        </p:sp>
        <p:sp>
          <p:nvSpPr>
            <p:cNvPr id="61" name="Text 56"/>
            <p:cNvSpPr txBox="1"/>
            <p:nvPr/>
          </p:nvSpPr>
          <p:spPr>
            <a:xfrm>
              <a:off x="2429561" y="3092501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62" name="Text 57"/>
            <p:cNvSpPr txBox="1"/>
            <p:nvPr/>
          </p:nvSpPr>
          <p:spPr>
            <a:xfrm>
              <a:off x="2577694" y="3092501"/>
              <a:ext cx="69311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remember</a:t>
              </a:r>
              <a:endParaRPr lang="en-US" sz="900" dirty="0"/>
            </a:p>
          </p:txBody>
        </p:sp>
        <p:sp>
          <p:nvSpPr>
            <p:cNvPr id="63" name="Text 58"/>
            <p:cNvSpPr txBox="1"/>
            <p:nvPr/>
          </p:nvSpPr>
          <p:spPr>
            <a:xfrm>
              <a:off x="3172054" y="3092501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64" name="Text 59"/>
            <p:cNvSpPr txBox="1"/>
            <p:nvPr/>
          </p:nvSpPr>
          <p:spPr>
            <a:xfrm>
              <a:off x="1463040" y="3290926"/>
              <a:ext cx="1807769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A7F3D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'course_categories_all'</a:t>
              </a:r>
              <a:endParaRPr lang="en-US" sz="900" dirty="0"/>
            </a:p>
          </p:txBody>
        </p:sp>
        <p:sp>
          <p:nvSpPr>
            <p:cNvPr id="65" name="Text 60"/>
            <p:cNvSpPr txBox="1"/>
            <p:nvPr/>
          </p:nvSpPr>
          <p:spPr>
            <a:xfrm>
              <a:off x="3172054" y="329092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,</a:t>
              </a:r>
              <a:endParaRPr lang="en-US" sz="900" dirty="0"/>
            </a:p>
          </p:txBody>
        </p:sp>
        <p:sp>
          <p:nvSpPr>
            <p:cNvPr id="66" name="Text 61"/>
            <p:cNvSpPr txBox="1"/>
            <p:nvPr/>
          </p:nvSpPr>
          <p:spPr>
            <a:xfrm>
              <a:off x="1463040" y="3488436"/>
              <a:ext cx="321869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22D3E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now</a:t>
              </a:r>
              <a:endParaRPr lang="en-US" sz="900" dirty="0"/>
            </a:p>
          </p:txBody>
        </p:sp>
        <p:sp>
          <p:nvSpPr>
            <p:cNvPr id="67" name="Text 62"/>
            <p:cNvSpPr txBox="1"/>
            <p:nvPr/>
          </p:nvSpPr>
          <p:spPr>
            <a:xfrm>
              <a:off x="1686154" y="348843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</a:t>
              </a:r>
              <a:endParaRPr lang="en-US" sz="900" dirty="0"/>
            </a:p>
          </p:txBody>
        </p:sp>
        <p:sp>
          <p:nvSpPr>
            <p:cNvPr id="68" name="Text 63"/>
            <p:cNvSpPr txBox="1"/>
            <p:nvPr/>
          </p:nvSpPr>
          <p:spPr>
            <a:xfrm>
              <a:off x="1835201" y="348843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69" name="Text 64"/>
            <p:cNvSpPr txBox="1"/>
            <p:nvPr/>
          </p:nvSpPr>
          <p:spPr>
            <a:xfrm>
              <a:off x="1983334" y="3488436"/>
              <a:ext cx="69311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addHours</a:t>
              </a:r>
              <a:endParaRPr lang="en-US" sz="900" dirty="0"/>
            </a:p>
          </p:txBody>
        </p:sp>
        <p:sp>
          <p:nvSpPr>
            <p:cNvPr id="70" name="Text 65"/>
            <p:cNvSpPr txBox="1"/>
            <p:nvPr/>
          </p:nvSpPr>
          <p:spPr>
            <a:xfrm>
              <a:off x="2577694" y="348843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71" name="Text 66"/>
            <p:cNvSpPr txBox="1"/>
            <p:nvPr/>
          </p:nvSpPr>
          <p:spPr>
            <a:xfrm>
              <a:off x="2652674" y="348843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472B6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24</a:t>
              </a:r>
              <a:endParaRPr lang="en-US" sz="900" dirty="0"/>
            </a:p>
          </p:txBody>
        </p:sp>
        <p:sp>
          <p:nvSpPr>
            <p:cNvPr id="72" name="Text 67"/>
            <p:cNvSpPr txBox="1"/>
            <p:nvPr/>
          </p:nvSpPr>
          <p:spPr>
            <a:xfrm>
              <a:off x="2800807" y="348843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),</a:t>
              </a:r>
              <a:endParaRPr lang="en-US" sz="900" dirty="0"/>
            </a:p>
          </p:txBody>
        </p:sp>
        <p:sp>
          <p:nvSpPr>
            <p:cNvPr id="73" name="Text 68"/>
            <p:cNvSpPr txBox="1"/>
            <p:nvPr/>
          </p:nvSpPr>
          <p:spPr>
            <a:xfrm>
              <a:off x="1463040" y="3686861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fn</a:t>
              </a:r>
              <a:endParaRPr lang="en-US" sz="900" dirty="0"/>
            </a:p>
          </p:txBody>
        </p:sp>
        <p:sp>
          <p:nvSpPr>
            <p:cNvPr id="74" name="Text 69"/>
            <p:cNvSpPr txBox="1"/>
            <p:nvPr/>
          </p:nvSpPr>
          <p:spPr>
            <a:xfrm>
              <a:off x="1612087" y="3686861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</a:t>
              </a:r>
              <a:endParaRPr lang="en-US" sz="900" dirty="0"/>
            </a:p>
          </p:txBody>
        </p:sp>
        <p:sp>
          <p:nvSpPr>
            <p:cNvPr id="75" name="Text 70"/>
            <p:cNvSpPr txBox="1"/>
            <p:nvPr/>
          </p:nvSpPr>
          <p:spPr>
            <a:xfrm>
              <a:off x="1760220" y="3686861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=&gt;</a:t>
              </a:r>
              <a:endParaRPr lang="en-US" sz="900" dirty="0"/>
            </a:p>
          </p:txBody>
        </p:sp>
        <p:sp>
          <p:nvSpPr>
            <p:cNvPr id="76" name="Text 71"/>
            <p:cNvSpPr txBox="1"/>
            <p:nvPr/>
          </p:nvSpPr>
          <p:spPr>
            <a:xfrm>
              <a:off x="1909267" y="3686861"/>
              <a:ext cx="114117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CourseCategory</a:t>
              </a:r>
              <a:endParaRPr lang="en-US" sz="900" dirty="0"/>
            </a:p>
          </p:txBody>
        </p:sp>
        <p:sp>
          <p:nvSpPr>
            <p:cNvPr id="77" name="Text 72"/>
            <p:cNvSpPr txBox="1"/>
            <p:nvPr/>
          </p:nvSpPr>
          <p:spPr>
            <a:xfrm>
              <a:off x="2948940" y="3686861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::</a:t>
              </a:r>
              <a:endParaRPr lang="en-US" sz="900" dirty="0"/>
            </a:p>
          </p:txBody>
        </p:sp>
        <p:sp>
          <p:nvSpPr>
            <p:cNvPr id="78" name="Text 73"/>
            <p:cNvSpPr txBox="1"/>
            <p:nvPr/>
          </p:nvSpPr>
          <p:spPr>
            <a:xfrm>
              <a:off x="3097987" y="3686861"/>
              <a:ext cx="3977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with</a:t>
              </a:r>
              <a:endParaRPr lang="en-US" sz="900" dirty="0"/>
            </a:p>
          </p:txBody>
        </p:sp>
        <p:sp>
          <p:nvSpPr>
            <p:cNvPr id="79" name="Text 74"/>
            <p:cNvSpPr txBox="1"/>
            <p:nvPr/>
          </p:nvSpPr>
          <p:spPr>
            <a:xfrm>
              <a:off x="3395167" y="3686861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80" name="Text 75"/>
            <p:cNvSpPr txBox="1"/>
            <p:nvPr/>
          </p:nvSpPr>
          <p:spPr>
            <a:xfrm>
              <a:off x="3469234" y="3686861"/>
              <a:ext cx="91257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A7F3D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'createdBy'</a:t>
              </a:r>
              <a:endParaRPr lang="en-US" sz="900" dirty="0"/>
            </a:p>
          </p:txBody>
        </p:sp>
        <p:sp>
          <p:nvSpPr>
            <p:cNvPr id="81" name="Text 76"/>
            <p:cNvSpPr txBox="1"/>
            <p:nvPr/>
          </p:nvSpPr>
          <p:spPr>
            <a:xfrm>
              <a:off x="4286707" y="3686861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</a:t>
              </a:r>
              <a:endParaRPr lang="en-US" sz="900" dirty="0"/>
            </a:p>
          </p:txBody>
        </p:sp>
        <p:sp>
          <p:nvSpPr>
            <p:cNvPr id="82" name="Text 77"/>
            <p:cNvSpPr txBox="1"/>
            <p:nvPr/>
          </p:nvSpPr>
          <p:spPr>
            <a:xfrm>
              <a:off x="4361688" y="3686861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83" name="Text 78"/>
            <p:cNvSpPr txBox="1"/>
            <p:nvPr/>
          </p:nvSpPr>
          <p:spPr>
            <a:xfrm>
              <a:off x="4509821" y="3686861"/>
              <a:ext cx="321869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get</a:t>
              </a:r>
              <a:endParaRPr lang="en-US" sz="900" dirty="0"/>
            </a:p>
          </p:txBody>
        </p:sp>
        <p:sp>
          <p:nvSpPr>
            <p:cNvPr id="84" name="Text 79"/>
            <p:cNvSpPr txBox="1"/>
            <p:nvPr/>
          </p:nvSpPr>
          <p:spPr>
            <a:xfrm>
              <a:off x="4732934" y="3686861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</a:t>
              </a:r>
              <a:endParaRPr lang="en-US" sz="900" dirty="0"/>
            </a:p>
          </p:txBody>
        </p:sp>
        <p:sp>
          <p:nvSpPr>
            <p:cNvPr id="85" name="Text 80"/>
            <p:cNvSpPr txBox="1"/>
            <p:nvPr/>
          </p:nvSpPr>
          <p:spPr>
            <a:xfrm>
              <a:off x="1463040" y="3885286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);</a:t>
              </a:r>
              <a:endParaRPr lang="en-US" sz="900" dirty="0"/>
            </a:p>
          </p:txBody>
        </p:sp>
        <p:sp>
          <p:nvSpPr>
            <p:cNvPr id="86" name="Text 81"/>
            <p:cNvSpPr txBox="1"/>
            <p:nvPr/>
          </p:nvSpPr>
          <p:spPr>
            <a:xfrm>
              <a:off x="1463040" y="4082796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}</a:t>
              </a:r>
              <a:endParaRPr lang="en-US" sz="900" dirty="0"/>
            </a:p>
          </p:txBody>
        </p:sp>
        <p:sp>
          <p:nvSpPr>
            <p:cNvPr id="87" name="Shape 82"/>
            <p:cNvSpPr/>
            <p:nvPr/>
          </p:nvSpPr>
          <p:spPr>
            <a:xfrm>
              <a:off x="1463040" y="4423867"/>
              <a:ext cx="1571854" cy="267005"/>
            </a:xfrm>
            <a:prstGeom prst="roundRect">
              <a:avLst>
                <a:gd name="adj" fmla="val 48924"/>
              </a:avLst>
            </a:prstGeom>
            <a:solidFill>
              <a:srgbClr val="EF4444">
                <a:alpha val="15000"/>
              </a:srgbClr>
            </a:solidFill>
            <a:ln w="12700">
              <a:solidFill>
                <a:srgbClr val="EF4444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88" name="Text 83"/>
            <p:cNvSpPr txBox="1"/>
            <p:nvPr/>
          </p:nvSpPr>
          <p:spPr>
            <a:xfrm>
              <a:off x="1568196" y="4481474"/>
              <a:ext cx="1441094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INVALIDATE ON UPDATE</a:t>
              </a:r>
              <a:endParaRPr lang="en-US" sz="800" dirty="0"/>
            </a:p>
          </p:txBody>
        </p:sp>
        <p:sp>
          <p:nvSpPr>
            <p:cNvPr id="89" name="Text 84"/>
            <p:cNvSpPr txBox="1"/>
            <p:nvPr/>
          </p:nvSpPr>
          <p:spPr>
            <a:xfrm>
              <a:off x="1463040" y="4772254"/>
              <a:ext cx="121706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public function</a:t>
              </a:r>
              <a:endParaRPr lang="en-US" sz="900" dirty="0"/>
            </a:p>
          </p:txBody>
        </p:sp>
        <p:sp>
          <p:nvSpPr>
            <p:cNvPr id="90" name="Text 85"/>
            <p:cNvSpPr txBox="1"/>
            <p:nvPr/>
          </p:nvSpPr>
          <p:spPr>
            <a:xfrm>
              <a:off x="2577694" y="4772254"/>
              <a:ext cx="114117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updateCategory</a:t>
              </a:r>
              <a:endParaRPr lang="en-US" sz="900" dirty="0"/>
            </a:p>
          </p:txBody>
        </p:sp>
        <p:sp>
          <p:nvSpPr>
            <p:cNvPr id="91" name="Text 86"/>
            <p:cNvSpPr txBox="1"/>
            <p:nvPr/>
          </p:nvSpPr>
          <p:spPr>
            <a:xfrm>
              <a:off x="3618281" y="4772254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92" name="Text 87"/>
            <p:cNvSpPr txBox="1"/>
            <p:nvPr/>
          </p:nvSpPr>
          <p:spPr>
            <a:xfrm>
              <a:off x="3692347" y="4772254"/>
              <a:ext cx="7699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$category</a:t>
              </a:r>
              <a:endParaRPr lang="en-US" sz="900" dirty="0"/>
            </a:p>
          </p:txBody>
        </p:sp>
        <p:sp>
          <p:nvSpPr>
            <p:cNvPr id="93" name="Text 88"/>
            <p:cNvSpPr txBox="1"/>
            <p:nvPr/>
          </p:nvSpPr>
          <p:spPr>
            <a:xfrm>
              <a:off x="4360774" y="4772254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,</a:t>
              </a:r>
              <a:endParaRPr lang="en-US" sz="900" dirty="0"/>
            </a:p>
          </p:txBody>
        </p:sp>
        <p:sp>
          <p:nvSpPr>
            <p:cNvPr id="94" name="Text 89"/>
            <p:cNvSpPr txBox="1"/>
            <p:nvPr/>
          </p:nvSpPr>
          <p:spPr>
            <a:xfrm>
              <a:off x="4435754" y="4772254"/>
              <a:ext cx="61722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Request</a:t>
              </a:r>
              <a:endParaRPr lang="en-US" sz="900" dirty="0"/>
            </a:p>
          </p:txBody>
        </p:sp>
        <p:sp>
          <p:nvSpPr>
            <p:cNvPr id="95" name="Text 90"/>
            <p:cNvSpPr txBox="1"/>
            <p:nvPr/>
          </p:nvSpPr>
          <p:spPr>
            <a:xfrm>
              <a:off x="4955134" y="4772254"/>
              <a:ext cx="3977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$req</a:t>
              </a:r>
              <a:endParaRPr lang="en-US" sz="900" dirty="0"/>
            </a:p>
          </p:txBody>
        </p:sp>
        <p:sp>
          <p:nvSpPr>
            <p:cNvPr id="96" name="Text 91"/>
            <p:cNvSpPr txBox="1"/>
            <p:nvPr/>
          </p:nvSpPr>
          <p:spPr>
            <a:xfrm>
              <a:off x="5252314" y="4772254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</a:t>
              </a:r>
              <a:endParaRPr lang="en-US" sz="900" dirty="0"/>
            </a:p>
          </p:txBody>
        </p:sp>
        <p:sp>
          <p:nvSpPr>
            <p:cNvPr id="97" name="Text 92"/>
            <p:cNvSpPr txBox="1"/>
            <p:nvPr/>
          </p:nvSpPr>
          <p:spPr>
            <a:xfrm>
              <a:off x="5327294" y="4772254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{</a:t>
              </a:r>
              <a:endParaRPr lang="en-US" sz="900" dirty="0"/>
            </a:p>
          </p:txBody>
        </p:sp>
        <p:sp>
          <p:nvSpPr>
            <p:cNvPr id="98" name="Text 93"/>
            <p:cNvSpPr txBox="1"/>
            <p:nvPr/>
          </p:nvSpPr>
          <p:spPr>
            <a:xfrm>
              <a:off x="1463040" y="4970678"/>
              <a:ext cx="7699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$category</a:t>
              </a:r>
              <a:endParaRPr lang="en-US" sz="900" dirty="0"/>
            </a:p>
          </p:txBody>
        </p:sp>
        <p:sp>
          <p:nvSpPr>
            <p:cNvPr id="99" name="Text 94"/>
            <p:cNvSpPr txBox="1"/>
            <p:nvPr/>
          </p:nvSpPr>
          <p:spPr>
            <a:xfrm>
              <a:off x="2131466" y="497067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100" name="Text 95"/>
            <p:cNvSpPr txBox="1"/>
            <p:nvPr/>
          </p:nvSpPr>
          <p:spPr>
            <a:xfrm>
              <a:off x="2280514" y="4970678"/>
              <a:ext cx="5413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update</a:t>
              </a:r>
              <a:endParaRPr lang="en-US" sz="900" dirty="0"/>
            </a:p>
          </p:txBody>
        </p:sp>
        <p:sp>
          <p:nvSpPr>
            <p:cNvPr id="101" name="Text 96"/>
            <p:cNvSpPr txBox="1"/>
            <p:nvPr/>
          </p:nvSpPr>
          <p:spPr>
            <a:xfrm>
              <a:off x="2726741" y="4970678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102" name="Text 97"/>
            <p:cNvSpPr txBox="1"/>
            <p:nvPr/>
          </p:nvSpPr>
          <p:spPr>
            <a:xfrm>
              <a:off x="2800807" y="4970678"/>
              <a:ext cx="3977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$req</a:t>
              </a:r>
              <a:endParaRPr lang="en-US" sz="900" dirty="0"/>
            </a:p>
          </p:txBody>
        </p:sp>
        <p:sp>
          <p:nvSpPr>
            <p:cNvPr id="103" name="Text 98"/>
            <p:cNvSpPr txBox="1"/>
            <p:nvPr/>
          </p:nvSpPr>
          <p:spPr>
            <a:xfrm>
              <a:off x="3097987" y="497067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104" name="Text 99"/>
            <p:cNvSpPr txBox="1"/>
            <p:nvPr/>
          </p:nvSpPr>
          <p:spPr>
            <a:xfrm>
              <a:off x="3247034" y="4970678"/>
              <a:ext cx="7699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validated</a:t>
              </a:r>
              <a:endParaRPr lang="en-US" sz="900" dirty="0"/>
            </a:p>
          </p:txBody>
        </p:sp>
        <p:sp>
          <p:nvSpPr>
            <p:cNvPr id="105" name="Text 100"/>
            <p:cNvSpPr txBox="1"/>
            <p:nvPr/>
          </p:nvSpPr>
          <p:spPr>
            <a:xfrm>
              <a:off x="3915461" y="4970678"/>
              <a:ext cx="3977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());</a:t>
              </a:r>
              <a:endParaRPr lang="en-US" sz="900" dirty="0"/>
            </a:p>
          </p:txBody>
        </p:sp>
        <p:sp>
          <p:nvSpPr>
            <p:cNvPr id="106" name="Text 101"/>
            <p:cNvSpPr txBox="1"/>
            <p:nvPr/>
          </p:nvSpPr>
          <p:spPr>
            <a:xfrm>
              <a:off x="1463040" y="5366614"/>
              <a:ext cx="210312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// Clear specific cache key</a:t>
              </a:r>
              <a:endParaRPr lang="en-US" sz="900" dirty="0"/>
            </a:p>
          </p:txBody>
        </p:sp>
        <p:sp>
          <p:nvSpPr>
            <p:cNvPr id="107" name="Text 102"/>
            <p:cNvSpPr txBox="1"/>
            <p:nvPr/>
          </p:nvSpPr>
          <p:spPr>
            <a:xfrm>
              <a:off x="1463040" y="5565038"/>
              <a:ext cx="4745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22D3E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cache</a:t>
              </a:r>
              <a:endParaRPr lang="en-US" sz="900" dirty="0"/>
            </a:p>
          </p:txBody>
        </p:sp>
        <p:sp>
          <p:nvSpPr>
            <p:cNvPr id="108" name="Text 103"/>
            <p:cNvSpPr txBox="1"/>
            <p:nvPr/>
          </p:nvSpPr>
          <p:spPr>
            <a:xfrm>
              <a:off x="1835201" y="556503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</a:t>
              </a:r>
              <a:endParaRPr lang="en-US" sz="900" dirty="0"/>
            </a:p>
          </p:txBody>
        </p:sp>
        <p:sp>
          <p:nvSpPr>
            <p:cNvPr id="109" name="Text 104"/>
            <p:cNvSpPr txBox="1"/>
            <p:nvPr/>
          </p:nvSpPr>
          <p:spPr>
            <a:xfrm>
              <a:off x="1983334" y="556503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110" name="Text 105"/>
            <p:cNvSpPr txBox="1"/>
            <p:nvPr/>
          </p:nvSpPr>
          <p:spPr>
            <a:xfrm>
              <a:off x="2132381" y="5565038"/>
              <a:ext cx="5413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forget</a:t>
              </a:r>
              <a:endParaRPr lang="en-US" sz="900" dirty="0"/>
            </a:p>
          </p:txBody>
        </p:sp>
        <p:sp>
          <p:nvSpPr>
            <p:cNvPr id="111" name="Text 106"/>
            <p:cNvSpPr txBox="1"/>
            <p:nvPr/>
          </p:nvSpPr>
          <p:spPr>
            <a:xfrm>
              <a:off x="2577694" y="5565038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112" name="Text 107"/>
            <p:cNvSpPr txBox="1"/>
            <p:nvPr/>
          </p:nvSpPr>
          <p:spPr>
            <a:xfrm>
              <a:off x="2652674" y="5565038"/>
              <a:ext cx="1807769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A7F3D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'course_categories_all'</a:t>
              </a:r>
              <a:endParaRPr lang="en-US" sz="900" dirty="0"/>
            </a:p>
          </p:txBody>
        </p:sp>
        <p:sp>
          <p:nvSpPr>
            <p:cNvPr id="113" name="Text 108"/>
            <p:cNvSpPr txBox="1"/>
            <p:nvPr/>
          </p:nvSpPr>
          <p:spPr>
            <a:xfrm>
              <a:off x="4361688" y="556503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);</a:t>
              </a:r>
              <a:endParaRPr lang="en-US" sz="900" dirty="0"/>
            </a:p>
          </p:txBody>
        </p:sp>
        <p:sp>
          <p:nvSpPr>
            <p:cNvPr id="114" name="Text 109"/>
            <p:cNvSpPr txBox="1"/>
            <p:nvPr/>
          </p:nvSpPr>
          <p:spPr>
            <a:xfrm>
              <a:off x="1463040" y="5960974"/>
              <a:ext cx="19604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// Clear entire tag group</a:t>
              </a:r>
              <a:endParaRPr lang="en-US" sz="900" dirty="0"/>
            </a:p>
          </p:txBody>
        </p:sp>
        <p:sp>
          <p:nvSpPr>
            <p:cNvPr id="115" name="Text 110"/>
            <p:cNvSpPr txBox="1"/>
            <p:nvPr/>
          </p:nvSpPr>
          <p:spPr>
            <a:xfrm>
              <a:off x="1463040" y="6159398"/>
              <a:ext cx="4745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22D3E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cache</a:t>
              </a:r>
              <a:endParaRPr lang="en-US" sz="900" dirty="0"/>
            </a:p>
          </p:txBody>
        </p:sp>
        <p:sp>
          <p:nvSpPr>
            <p:cNvPr id="116" name="Text 111"/>
            <p:cNvSpPr txBox="1"/>
            <p:nvPr/>
          </p:nvSpPr>
          <p:spPr>
            <a:xfrm>
              <a:off x="1835201" y="615939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</a:t>
              </a:r>
              <a:endParaRPr lang="en-US" sz="900" dirty="0"/>
            </a:p>
          </p:txBody>
        </p:sp>
        <p:sp>
          <p:nvSpPr>
            <p:cNvPr id="117" name="Text 112"/>
            <p:cNvSpPr txBox="1"/>
            <p:nvPr/>
          </p:nvSpPr>
          <p:spPr>
            <a:xfrm>
              <a:off x="1983334" y="615939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118" name="Text 113"/>
            <p:cNvSpPr txBox="1"/>
            <p:nvPr/>
          </p:nvSpPr>
          <p:spPr>
            <a:xfrm>
              <a:off x="2132381" y="6159398"/>
              <a:ext cx="3977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tags</a:t>
              </a:r>
              <a:endParaRPr lang="en-US" sz="900" dirty="0"/>
            </a:p>
          </p:txBody>
        </p:sp>
        <p:sp>
          <p:nvSpPr>
            <p:cNvPr id="119" name="Text 114"/>
            <p:cNvSpPr txBox="1"/>
            <p:nvPr/>
          </p:nvSpPr>
          <p:spPr>
            <a:xfrm>
              <a:off x="2429561" y="615939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([</a:t>
              </a:r>
              <a:endParaRPr lang="en-US" sz="900" dirty="0"/>
            </a:p>
          </p:txBody>
        </p:sp>
        <p:sp>
          <p:nvSpPr>
            <p:cNvPr id="120" name="Text 115"/>
            <p:cNvSpPr txBox="1"/>
            <p:nvPr/>
          </p:nvSpPr>
          <p:spPr>
            <a:xfrm>
              <a:off x="2577694" y="6159398"/>
              <a:ext cx="98846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A7F3D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'categories'</a:t>
              </a:r>
              <a:endParaRPr lang="en-US" sz="900" dirty="0"/>
            </a:p>
          </p:txBody>
        </p:sp>
        <p:sp>
          <p:nvSpPr>
            <p:cNvPr id="121" name="Text 116"/>
            <p:cNvSpPr txBox="1"/>
            <p:nvPr/>
          </p:nvSpPr>
          <p:spPr>
            <a:xfrm>
              <a:off x="3469234" y="615939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])</a:t>
              </a:r>
              <a:endParaRPr lang="en-US" sz="900" dirty="0"/>
            </a:p>
          </p:txBody>
        </p:sp>
        <p:sp>
          <p:nvSpPr>
            <p:cNvPr id="122" name="Text 117"/>
            <p:cNvSpPr txBox="1"/>
            <p:nvPr/>
          </p:nvSpPr>
          <p:spPr>
            <a:xfrm>
              <a:off x="3618281" y="6159398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-&gt;</a:t>
              </a:r>
              <a:endParaRPr lang="en-US" sz="900" dirty="0"/>
            </a:p>
          </p:txBody>
        </p:sp>
        <p:sp>
          <p:nvSpPr>
            <p:cNvPr id="123" name="Text 118"/>
            <p:cNvSpPr txBox="1"/>
            <p:nvPr/>
          </p:nvSpPr>
          <p:spPr>
            <a:xfrm>
              <a:off x="3767328" y="6159398"/>
              <a:ext cx="4745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0A5F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flush</a:t>
              </a:r>
              <a:endParaRPr lang="en-US" sz="900" dirty="0"/>
            </a:p>
          </p:txBody>
        </p:sp>
        <p:sp>
          <p:nvSpPr>
            <p:cNvPr id="124" name="Text 119"/>
            <p:cNvSpPr txBox="1"/>
            <p:nvPr/>
          </p:nvSpPr>
          <p:spPr>
            <a:xfrm>
              <a:off x="4138574" y="6159398"/>
              <a:ext cx="321869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();</a:t>
              </a:r>
              <a:endParaRPr lang="en-US" sz="900" dirty="0"/>
            </a:p>
          </p:txBody>
        </p:sp>
        <p:sp>
          <p:nvSpPr>
            <p:cNvPr id="125" name="Text 120"/>
            <p:cNvSpPr txBox="1"/>
            <p:nvPr/>
          </p:nvSpPr>
          <p:spPr>
            <a:xfrm>
              <a:off x="1463040" y="6555334"/>
              <a:ext cx="5413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return</a:t>
              </a:r>
              <a:endParaRPr lang="en-US" sz="900" dirty="0"/>
            </a:p>
          </p:txBody>
        </p:sp>
        <p:sp>
          <p:nvSpPr>
            <p:cNvPr id="126" name="Text 121"/>
            <p:cNvSpPr txBox="1"/>
            <p:nvPr/>
          </p:nvSpPr>
          <p:spPr>
            <a:xfrm>
              <a:off x="1909267" y="6555334"/>
              <a:ext cx="321869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C084FC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new</a:t>
              </a:r>
              <a:endParaRPr lang="en-US" sz="900" dirty="0"/>
            </a:p>
          </p:txBody>
        </p:sp>
        <p:sp>
          <p:nvSpPr>
            <p:cNvPr id="127" name="Text 122"/>
            <p:cNvSpPr txBox="1"/>
            <p:nvPr/>
          </p:nvSpPr>
          <p:spPr>
            <a:xfrm>
              <a:off x="2132381" y="6555334"/>
              <a:ext cx="128381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CategoryResource</a:t>
              </a:r>
              <a:endParaRPr lang="en-US" sz="900" dirty="0"/>
            </a:p>
          </p:txBody>
        </p:sp>
        <p:sp>
          <p:nvSpPr>
            <p:cNvPr id="128" name="Text 123"/>
            <p:cNvSpPr txBox="1"/>
            <p:nvPr/>
          </p:nvSpPr>
          <p:spPr>
            <a:xfrm>
              <a:off x="3321101" y="6555334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endParaRPr lang="en-US" sz="900" dirty="0"/>
            </a:p>
          </p:txBody>
        </p:sp>
        <p:sp>
          <p:nvSpPr>
            <p:cNvPr id="129" name="Text 124"/>
            <p:cNvSpPr txBox="1"/>
            <p:nvPr/>
          </p:nvSpPr>
          <p:spPr>
            <a:xfrm>
              <a:off x="3395167" y="6555334"/>
              <a:ext cx="76992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$category</a:t>
              </a:r>
              <a:endParaRPr lang="en-US" sz="900" dirty="0"/>
            </a:p>
          </p:txBody>
        </p:sp>
        <p:sp>
          <p:nvSpPr>
            <p:cNvPr id="130" name="Text 125"/>
            <p:cNvSpPr txBox="1"/>
            <p:nvPr/>
          </p:nvSpPr>
          <p:spPr>
            <a:xfrm>
              <a:off x="4063594" y="6555334"/>
              <a:ext cx="24597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E2E8F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);</a:t>
              </a:r>
              <a:endParaRPr lang="en-US" sz="900" dirty="0"/>
            </a:p>
          </p:txBody>
        </p:sp>
        <p:sp>
          <p:nvSpPr>
            <p:cNvPr id="131" name="Text 126"/>
            <p:cNvSpPr txBox="1"/>
            <p:nvPr/>
          </p:nvSpPr>
          <p:spPr>
            <a:xfrm>
              <a:off x="1463040" y="6753758"/>
              <a:ext cx="1691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}</a:t>
              </a:r>
              <a:endParaRPr lang="en-US" sz="900" dirty="0"/>
            </a:p>
          </p:txBody>
        </p:sp>
      </p:grpSp>
      <p:sp>
        <p:nvSpPr>
          <p:cNvPr id="132" name="Text 127"/>
          <p:cNvSpPr txBox="1"/>
          <p:nvPr/>
        </p:nvSpPr>
        <p:spPr>
          <a:xfrm>
            <a:off x="6705295" y="1819656"/>
            <a:ext cx="23317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app/Services/CourseService.php</a:t>
            </a:r>
            <a:endParaRPr lang="en-US" sz="900" dirty="0"/>
          </a:p>
        </p:txBody>
      </p:sp>
      <p:sp>
        <p:nvSpPr>
          <p:cNvPr id="133" name="Text 128"/>
          <p:cNvSpPr txBox="1"/>
          <p:nvPr/>
        </p:nvSpPr>
        <p:spPr>
          <a:xfrm>
            <a:off x="6476695" y="235732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85</a:t>
            </a:r>
            <a:endParaRPr lang="en-US" sz="900" dirty="0"/>
          </a:p>
        </p:txBody>
      </p:sp>
      <p:sp>
        <p:nvSpPr>
          <p:cNvPr id="134" name="Text 129"/>
          <p:cNvSpPr txBox="1"/>
          <p:nvPr/>
        </p:nvSpPr>
        <p:spPr>
          <a:xfrm>
            <a:off x="6476695" y="255574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86</a:t>
            </a:r>
            <a:endParaRPr lang="en-US" sz="900" dirty="0"/>
          </a:p>
        </p:txBody>
      </p:sp>
      <p:sp>
        <p:nvSpPr>
          <p:cNvPr id="135" name="Text 130"/>
          <p:cNvSpPr txBox="1"/>
          <p:nvPr/>
        </p:nvSpPr>
        <p:spPr>
          <a:xfrm>
            <a:off x="6476695" y="275325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87</a:t>
            </a:r>
            <a:endParaRPr lang="en-US" sz="900" dirty="0"/>
          </a:p>
        </p:txBody>
      </p:sp>
      <p:sp>
        <p:nvSpPr>
          <p:cNvPr id="136" name="Text 131"/>
          <p:cNvSpPr txBox="1"/>
          <p:nvPr/>
        </p:nvSpPr>
        <p:spPr>
          <a:xfrm>
            <a:off x="6476695" y="295168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88</a:t>
            </a:r>
            <a:endParaRPr lang="en-US" sz="900" dirty="0"/>
          </a:p>
        </p:txBody>
      </p:sp>
      <p:sp>
        <p:nvSpPr>
          <p:cNvPr id="137" name="Text 132"/>
          <p:cNvSpPr txBox="1"/>
          <p:nvPr/>
        </p:nvSpPr>
        <p:spPr>
          <a:xfrm>
            <a:off x="6476695" y="315010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89</a:t>
            </a:r>
            <a:endParaRPr lang="en-US" sz="900" dirty="0"/>
          </a:p>
        </p:txBody>
      </p:sp>
      <p:sp>
        <p:nvSpPr>
          <p:cNvPr id="138" name="Text 133"/>
          <p:cNvSpPr txBox="1"/>
          <p:nvPr/>
        </p:nvSpPr>
        <p:spPr>
          <a:xfrm>
            <a:off x="6476695" y="334761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90</a:t>
            </a:r>
            <a:endParaRPr lang="en-US" sz="900" dirty="0"/>
          </a:p>
        </p:txBody>
      </p:sp>
      <p:sp>
        <p:nvSpPr>
          <p:cNvPr id="139" name="Text 134"/>
          <p:cNvSpPr txBox="1"/>
          <p:nvPr/>
        </p:nvSpPr>
        <p:spPr>
          <a:xfrm>
            <a:off x="6476695" y="354604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91</a:t>
            </a:r>
            <a:endParaRPr lang="en-US" sz="900" dirty="0"/>
          </a:p>
        </p:txBody>
      </p:sp>
      <p:sp>
        <p:nvSpPr>
          <p:cNvPr id="140" name="Text 135"/>
          <p:cNvSpPr txBox="1"/>
          <p:nvPr/>
        </p:nvSpPr>
        <p:spPr>
          <a:xfrm>
            <a:off x="6476695" y="374446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92</a:t>
            </a:r>
            <a:endParaRPr lang="en-US" sz="900" dirty="0"/>
          </a:p>
        </p:txBody>
      </p:sp>
      <p:sp>
        <p:nvSpPr>
          <p:cNvPr id="141" name="Text 136"/>
          <p:cNvSpPr txBox="1"/>
          <p:nvPr/>
        </p:nvSpPr>
        <p:spPr>
          <a:xfrm>
            <a:off x="6476695" y="394197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93</a:t>
            </a:r>
            <a:endParaRPr lang="en-US" sz="900" dirty="0"/>
          </a:p>
        </p:txBody>
      </p:sp>
      <p:sp>
        <p:nvSpPr>
          <p:cNvPr id="142" name="Text 137"/>
          <p:cNvSpPr txBox="1"/>
          <p:nvPr/>
        </p:nvSpPr>
        <p:spPr>
          <a:xfrm>
            <a:off x="6476695" y="414040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94</a:t>
            </a:r>
            <a:endParaRPr lang="en-US" sz="900" dirty="0"/>
          </a:p>
        </p:txBody>
      </p:sp>
      <p:sp>
        <p:nvSpPr>
          <p:cNvPr id="143" name="Text 138"/>
          <p:cNvSpPr txBox="1"/>
          <p:nvPr/>
        </p:nvSpPr>
        <p:spPr>
          <a:xfrm>
            <a:off x="6476695" y="433791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95</a:t>
            </a:r>
            <a:endParaRPr lang="en-US" sz="900" dirty="0"/>
          </a:p>
        </p:txBody>
      </p:sp>
      <p:sp>
        <p:nvSpPr>
          <p:cNvPr id="144" name="Text 139"/>
          <p:cNvSpPr txBox="1"/>
          <p:nvPr/>
        </p:nvSpPr>
        <p:spPr>
          <a:xfrm>
            <a:off x="6476695" y="453633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96</a:t>
            </a:r>
            <a:endParaRPr lang="en-US" sz="900" dirty="0"/>
          </a:p>
        </p:txBody>
      </p:sp>
      <p:sp>
        <p:nvSpPr>
          <p:cNvPr id="145" name="Text 140"/>
          <p:cNvSpPr txBox="1"/>
          <p:nvPr/>
        </p:nvSpPr>
        <p:spPr>
          <a:xfrm>
            <a:off x="6476695" y="473476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97</a:t>
            </a:r>
            <a:endParaRPr lang="en-US" sz="900" dirty="0"/>
          </a:p>
        </p:txBody>
      </p:sp>
      <p:sp>
        <p:nvSpPr>
          <p:cNvPr id="146" name="Text 141"/>
          <p:cNvSpPr txBox="1"/>
          <p:nvPr/>
        </p:nvSpPr>
        <p:spPr>
          <a:xfrm>
            <a:off x="6476695" y="493227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98</a:t>
            </a:r>
            <a:endParaRPr lang="en-US" sz="900" dirty="0"/>
          </a:p>
        </p:txBody>
      </p:sp>
      <p:sp>
        <p:nvSpPr>
          <p:cNvPr id="147" name="Shape 142"/>
          <p:cNvSpPr/>
          <p:nvPr/>
        </p:nvSpPr>
        <p:spPr>
          <a:xfrm>
            <a:off x="6940296" y="2348179"/>
            <a:ext cx="1571854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8" name="Text 143"/>
          <p:cNvSpPr txBox="1"/>
          <p:nvPr/>
        </p:nvSpPr>
        <p:spPr>
          <a:xfrm>
            <a:off x="7044538" y="2404872"/>
            <a:ext cx="14410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GRANULAR TAG CONTROL</a:t>
            </a:r>
            <a:endParaRPr lang="en-US" sz="800" dirty="0"/>
          </a:p>
        </p:txBody>
      </p:sp>
      <p:sp>
        <p:nvSpPr>
          <p:cNvPr id="149" name="Text 144"/>
          <p:cNvSpPr txBox="1"/>
          <p:nvPr/>
        </p:nvSpPr>
        <p:spPr>
          <a:xfrm>
            <a:off x="6940296" y="2696566"/>
            <a:ext cx="284561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Dynamic tagging for specific scope</a:t>
            </a:r>
            <a:endParaRPr lang="en-US" sz="900" dirty="0"/>
          </a:p>
        </p:txBody>
      </p:sp>
      <p:sp>
        <p:nvSpPr>
          <p:cNvPr id="150" name="Text 145"/>
          <p:cNvSpPr txBox="1"/>
          <p:nvPr/>
        </p:nvSpPr>
        <p:spPr>
          <a:xfrm>
            <a:off x="6940296" y="2894990"/>
            <a:ext cx="4745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$tags</a:t>
            </a:r>
            <a:endParaRPr lang="en-US" sz="900" dirty="0"/>
          </a:p>
        </p:txBody>
      </p:sp>
      <p:sp>
        <p:nvSpPr>
          <p:cNvPr id="151" name="Text 146"/>
          <p:cNvSpPr txBox="1"/>
          <p:nvPr/>
        </p:nvSpPr>
        <p:spPr>
          <a:xfrm>
            <a:off x="7311542" y="2894990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900" dirty="0"/>
          </a:p>
        </p:txBody>
      </p:sp>
      <p:sp>
        <p:nvSpPr>
          <p:cNvPr id="152" name="Text 147"/>
          <p:cNvSpPr txBox="1"/>
          <p:nvPr/>
        </p:nvSpPr>
        <p:spPr>
          <a:xfrm>
            <a:off x="7385609" y="2894990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</a:t>
            </a:r>
            <a:endParaRPr lang="en-US" sz="900" dirty="0"/>
          </a:p>
        </p:txBody>
      </p:sp>
      <p:sp>
        <p:nvSpPr>
          <p:cNvPr id="153" name="Text 148"/>
          <p:cNvSpPr txBox="1"/>
          <p:nvPr/>
        </p:nvSpPr>
        <p:spPr>
          <a:xfrm>
            <a:off x="6940296" y="3092501"/>
            <a:ext cx="7699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'courses'</a:t>
            </a:r>
            <a:endParaRPr lang="en-US" sz="900" dirty="0"/>
          </a:p>
        </p:txBody>
      </p:sp>
      <p:sp>
        <p:nvSpPr>
          <p:cNvPr id="154" name="Text 149"/>
          <p:cNvSpPr txBox="1"/>
          <p:nvPr/>
        </p:nvSpPr>
        <p:spPr>
          <a:xfrm>
            <a:off x="7608722" y="3092501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155" name="Text 150"/>
          <p:cNvSpPr txBox="1"/>
          <p:nvPr/>
        </p:nvSpPr>
        <p:spPr>
          <a:xfrm>
            <a:off x="6940296" y="3290926"/>
            <a:ext cx="11411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"cat-{$catId}"</a:t>
            </a:r>
            <a:endParaRPr lang="en-US" sz="900" dirty="0"/>
          </a:p>
        </p:txBody>
      </p:sp>
      <p:sp>
        <p:nvSpPr>
          <p:cNvPr id="156" name="Text 151"/>
          <p:cNvSpPr txBox="1"/>
          <p:nvPr/>
        </p:nvSpPr>
        <p:spPr>
          <a:xfrm>
            <a:off x="7979969" y="3290926"/>
            <a:ext cx="21790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Tag for specific category</a:t>
            </a:r>
            <a:endParaRPr lang="en-US" sz="900" dirty="0"/>
          </a:p>
        </p:txBody>
      </p:sp>
      <p:sp>
        <p:nvSpPr>
          <p:cNvPr id="157" name="Text 152"/>
          <p:cNvSpPr txBox="1"/>
          <p:nvPr/>
        </p:nvSpPr>
        <p:spPr>
          <a:xfrm>
            <a:off x="6940296" y="348843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];</a:t>
            </a:r>
            <a:endParaRPr lang="en-US" sz="900" dirty="0"/>
          </a:p>
        </p:txBody>
      </p:sp>
      <p:sp>
        <p:nvSpPr>
          <p:cNvPr id="158" name="Text 153"/>
          <p:cNvSpPr txBox="1"/>
          <p:nvPr/>
        </p:nvSpPr>
        <p:spPr>
          <a:xfrm>
            <a:off x="6940296" y="3885286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endParaRPr lang="en-US" sz="900" dirty="0"/>
          </a:p>
        </p:txBody>
      </p:sp>
      <p:sp>
        <p:nvSpPr>
          <p:cNvPr id="159" name="Text 154"/>
          <p:cNvSpPr txBox="1"/>
          <p:nvPr/>
        </p:nvSpPr>
        <p:spPr>
          <a:xfrm>
            <a:off x="7385609" y="3885286"/>
            <a:ext cx="4745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cache</a:t>
            </a:r>
            <a:endParaRPr lang="en-US" sz="900" dirty="0"/>
          </a:p>
        </p:txBody>
      </p:sp>
      <p:sp>
        <p:nvSpPr>
          <p:cNvPr id="160" name="Text 155"/>
          <p:cNvSpPr txBox="1"/>
          <p:nvPr/>
        </p:nvSpPr>
        <p:spPr>
          <a:xfrm>
            <a:off x="7757770" y="388528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900" dirty="0"/>
          </a:p>
        </p:txBody>
      </p:sp>
      <p:sp>
        <p:nvSpPr>
          <p:cNvPr id="161" name="Text 156"/>
          <p:cNvSpPr txBox="1"/>
          <p:nvPr/>
        </p:nvSpPr>
        <p:spPr>
          <a:xfrm>
            <a:off x="7905902" y="388528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162" name="Text 157"/>
          <p:cNvSpPr txBox="1"/>
          <p:nvPr/>
        </p:nvSpPr>
        <p:spPr>
          <a:xfrm>
            <a:off x="8054950" y="3885286"/>
            <a:ext cx="3977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tags</a:t>
            </a:r>
            <a:endParaRPr lang="en-US" sz="900" dirty="0"/>
          </a:p>
        </p:txBody>
      </p:sp>
      <p:sp>
        <p:nvSpPr>
          <p:cNvPr id="163" name="Text 158"/>
          <p:cNvSpPr txBox="1"/>
          <p:nvPr/>
        </p:nvSpPr>
        <p:spPr>
          <a:xfrm>
            <a:off x="8352130" y="388528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64" name="Text 159"/>
          <p:cNvSpPr txBox="1"/>
          <p:nvPr/>
        </p:nvSpPr>
        <p:spPr>
          <a:xfrm>
            <a:off x="8426196" y="3885286"/>
            <a:ext cx="4745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$tags</a:t>
            </a:r>
            <a:endParaRPr lang="en-US" sz="900" dirty="0"/>
          </a:p>
        </p:txBody>
      </p:sp>
      <p:sp>
        <p:nvSpPr>
          <p:cNvPr id="165" name="Text 160"/>
          <p:cNvSpPr txBox="1"/>
          <p:nvPr/>
        </p:nvSpPr>
        <p:spPr>
          <a:xfrm>
            <a:off x="8798357" y="388528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900" dirty="0"/>
          </a:p>
        </p:txBody>
      </p:sp>
      <p:sp>
        <p:nvSpPr>
          <p:cNvPr id="166" name="Text 161"/>
          <p:cNvSpPr txBox="1"/>
          <p:nvPr/>
        </p:nvSpPr>
        <p:spPr>
          <a:xfrm>
            <a:off x="6940296" y="408279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167" name="Text 162"/>
          <p:cNvSpPr txBox="1"/>
          <p:nvPr/>
        </p:nvSpPr>
        <p:spPr>
          <a:xfrm>
            <a:off x="7088429" y="4082796"/>
            <a:ext cx="6931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remember</a:t>
            </a:r>
            <a:endParaRPr lang="en-US" sz="900" dirty="0"/>
          </a:p>
        </p:txBody>
      </p:sp>
      <p:sp>
        <p:nvSpPr>
          <p:cNvPr id="168" name="Text 163"/>
          <p:cNvSpPr txBox="1"/>
          <p:nvPr/>
        </p:nvSpPr>
        <p:spPr>
          <a:xfrm>
            <a:off x="7682789" y="408279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69" name="Text 164"/>
          <p:cNvSpPr txBox="1"/>
          <p:nvPr/>
        </p:nvSpPr>
        <p:spPr>
          <a:xfrm>
            <a:off x="6940296" y="4281221"/>
            <a:ext cx="18077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"courses_list_{$catId}"</a:t>
            </a:r>
            <a:endParaRPr lang="en-US" sz="900" dirty="0"/>
          </a:p>
        </p:txBody>
      </p:sp>
      <p:sp>
        <p:nvSpPr>
          <p:cNvPr id="170" name="Text 165"/>
          <p:cNvSpPr txBox="1"/>
          <p:nvPr/>
        </p:nvSpPr>
        <p:spPr>
          <a:xfrm>
            <a:off x="8648395" y="4281221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171" name="Text 166"/>
          <p:cNvSpPr txBox="1"/>
          <p:nvPr/>
        </p:nvSpPr>
        <p:spPr>
          <a:xfrm>
            <a:off x="6940296" y="447964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900" dirty="0"/>
          </a:p>
        </p:txBody>
      </p:sp>
      <p:sp>
        <p:nvSpPr>
          <p:cNvPr id="172" name="Text 167"/>
          <p:cNvSpPr txBox="1"/>
          <p:nvPr/>
        </p:nvSpPr>
        <p:spPr>
          <a:xfrm>
            <a:off x="7088429" y="447964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</a:t>
            </a:r>
            <a:endParaRPr lang="en-US" sz="900" dirty="0"/>
          </a:p>
        </p:txBody>
      </p:sp>
      <p:sp>
        <p:nvSpPr>
          <p:cNvPr id="173" name="Text 168"/>
          <p:cNvSpPr txBox="1"/>
          <p:nvPr/>
        </p:nvSpPr>
        <p:spPr>
          <a:xfrm>
            <a:off x="7163410" y="447964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</a:t>
            </a:r>
            <a:endParaRPr lang="en-US" sz="900" dirty="0"/>
          </a:p>
        </p:txBody>
      </p:sp>
      <p:sp>
        <p:nvSpPr>
          <p:cNvPr id="174" name="Text 169"/>
          <p:cNvSpPr txBox="1"/>
          <p:nvPr/>
        </p:nvSpPr>
        <p:spPr>
          <a:xfrm>
            <a:off x="7311542" y="447964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175" name="Text 170"/>
          <p:cNvSpPr txBox="1"/>
          <p:nvPr/>
        </p:nvSpPr>
        <p:spPr>
          <a:xfrm>
            <a:off x="7386523" y="4479646"/>
            <a:ext cx="17318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12 hours in minutes</a:t>
            </a:r>
            <a:endParaRPr lang="en-US" sz="900" dirty="0"/>
          </a:p>
        </p:txBody>
      </p:sp>
      <p:sp>
        <p:nvSpPr>
          <p:cNvPr id="176" name="Text 171"/>
          <p:cNvSpPr txBox="1"/>
          <p:nvPr/>
        </p:nvSpPr>
        <p:spPr>
          <a:xfrm>
            <a:off x="6940296" y="467715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fn</a:t>
            </a:r>
            <a:endParaRPr lang="en-US" sz="900" dirty="0"/>
          </a:p>
        </p:txBody>
      </p:sp>
      <p:sp>
        <p:nvSpPr>
          <p:cNvPr id="177" name="Text 172"/>
          <p:cNvSpPr txBox="1"/>
          <p:nvPr/>
        </p:nvSpPr>
        <p:spPr>
          <a:xfrm>
            <a:off x="7088429" y="467715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900" dirty="0"/>
          </a:p>
        </p:txBody>
      </p:sp>
      <p:sp>
        <p:nvSpPr>
          <p:cNvPr id="178" name="Text 173"/>
          <p:cNvSpPr txBox="1"/>
          <p:nvPr/>
        </p:nvSpPr>
        <p:spPr>
          <a:xfrm>
            <a:off x="7237476" y="467715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900" dirty="0"/>
          </a:p>
        </p:txBody>
      </p:sp>
      <p:sp>
        <p:nvSpPr>
          <p:cNvPr id="179" name="Text 174"/>
          <p:cNvSpPr txBox="1"/>
          <p:nvPr/>
        </p:nvSpPr>
        <p:spPr>
          <a:xfrm>
            <a:off x="7385609" y="4677156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</a:t>
            </a:r>
            <a:endParaRPr lang="en-US" sz="900" dirty="0"/>
          </a:p>
        </p:txBody>
      </p:sp>
      <p:sp>
        <p:nvSpPr>
          <p:cNvPr id="180" name="Text 175"/>
          <p:cNvSpPr txBox="1"/>
          <p:nvPr/>
        </p:nvSpPr>
        <p:spPr>
          <a:xfrm>
            <a:off x="7831836" y="467715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900" dirty="0"/>
          </a:p>
        </p:txBody>
      </p:sp>
      <p:sp>
        <p:nvSpPr>
          <p:cNvPr id="181" name="Text 176"/>
          <p:cNvSpPr txBox="1"/>
          <p:nvPr/>
        </p:nvSpPr>
        <p:spPr>
          <a:xfrm>
            <a:off x="7980883" y="4677156"/>
            <a:ext cx="4745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endParaRPr lang="en-US" sz="900" dirty="0"/>
          </a:p>
        </p:txBody>
      </p:sp>
      <p:sp>
        <p:nvSpPr>
          <p:cNvPr id="182" name="Text 177"/>
          <p:cNvSpPr txBox="1"/>
          <p:nvPr/>
        </p:nvSpPr>
        <p:spPr>
          <a:xfrm>
            <a:off x="8352130" y="467715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83" name="Text 178"/>
          <p:cNvSpPr txBox="1"/>
          <p:nvPr/>
        </p:nvSpPr>
        <p:spPr>
          <a:xfrm>
            <a:off x="8426196" y="4677156"/>
            <a:ext cx="10652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'category_id'</a:t>
            </a:r>
            <a:endParaRPr lang="en-US" sz="900" dirty="0"/>
          </a:p>
        </p:txBody>
      </p:sp>
      <p:sp>
        <p:nvSpPr>
          <p:cNvPr id="184" name="Text 179"/>
          <p:cNvSpPr txBox="1"/>
          <p:nvPr/>
        </p:nvSpPr>
        <p:spPr>
          <a:xfrm>
            <a:off x="9392717" y="467715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185" name="Text 180"/>
          <p:cNvSpPr txBox="1"/>
          <p:nvPr/>
        </p:nvSpPr>
        <p:spPr>
          <a:xfrm>
            <a:off x="9466783" y="4677156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$catId</a:t>
            </a:r>
            <a:endParaRPr lang="en-US" sz="900" dirty="0"/>
          </a:p>
        </p:txBody>
      </p:sp>
      <p:sp>
        <p:nvSpPr>
          <p:cNvPr id="186" name="Text 181"/>
          <p:cNvSpPr txBox="1"/>
          <p:nvPr/>
        </p:nvSpPr>
        <p:spPr>
          <a:xfrm>
            <a:off x="9913010" y="467715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900" dirty="0"/>
          </a:p>
        </p:txBody>
      </p:sp>
      <p:sp>
        <p:nvSpPr>
          <p:cNvPr id="187" name="Text 182"/>
          <p:cNvSpPr txBox="1"/>
          <p:nvPr/>
        </p:nvSpPr>
        <p:spPr>
          <a:xfrm>
            <a:off x="6940296" y="487558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188" name="Text 183"/>
          <p:cNvSpPr txBox="1"/>
          <p:nvPr/>
        </p:nvSpPr>
        <p:spPr>
          <a:xfrm>
            <a:off x="7088429" y="4875581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endParaRPr lang="en-US" sz="900" dirty="0"/>
          </a:p>
        </p:txBody>
      </p:sp>
      <p:sp>
        <p:nvSpPr>
          <p:cNvPr id="189" name="Text 184"/>
          <p:cNvSpPr txBox="1"/>
          <p:nvPr/>
        </p:nvSpPr>
        <p:spPr>
          <a:xfrm>
            <a:off x="7311542" y="487558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900" dirty="0"/>
          </a:p>
        </p:txBody>
      </p:sp>
      <p:sp>
        <p:nvSpPr>
          <p:cNvPr id="190" name="Text 185"/>
          <p:cNvSpPr txBox="1"/>
          <p:nvPr/>
        </p:nvSpPr>
        <p:spPr>
          <a:xfrm>
            <a:off x="6940296" y="507400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900" dirty="0"/>
          </a:p>
        </p:txBody>
      </p:sp>
      <p:sp>
        <p:nvSpPr>
          <p:cNvPr id="191" name="Text 186"/>
          <p:cNvSpPr txBox="1"/>
          <p:nvPr/>
        </p:nvSpPr>
        <p:spPr>
          <a:xfrm>
            <a:off x="7330745" y="5519318"/>
            <a:ext cx="321777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Allows flushing only courses in a specific category without clearing the global cache</a:t>
            </a:r>
            <a:endParaRPr lang="en-US" sz="900" dirty="0"/>
          </a:p>
        </p:txBody>
      </p:sp>
      <p:sp>
        <p:nvSpPr>
          <p:cNvPr id="192" name="Text 187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953098" y="-952805"/>
            <a:ext cx="5715000" cy="57150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-476402" y="3047695"/>
            <a:ext cx="4762195" cy="4762195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10394899" y="866851"/>
            <a:ext cx="1133856" cy="333756"/>
          </a:xfrm>
          <a:prstGeom prst="roundRect">
            <a:avLst>
              <a:gd name="adj" fmla="val 62622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2838" r="-2838"/>
          <a:stretch/>
        </p:blipFill>
        <p:spPr>
          <a:xfrm>
            <a:off x="10556748" y="966521"/>
            <a:ext cx="123444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757002" y="933602"/>
            <a:ext cx="7104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2.4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8288169" y="1781251"/>
            <a:ext cx="3295498" cy="3191256"/>
          </a:xfrm>
          <a:prstGeom prst="roundRect">
            <a:avLst>
              <a:gd name="adj" fmla="val 1026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25913" y="2057399"/>
            <a:ext cx="152705" cy="15270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754513" y="2018995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Objectives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288169" y="5200192"/>
            <a:ext cx="3295498" cy="1067105"/>
          </a:xfrm>
          <a:prstGeom prst="roundRect">
            <a:avLst>
              <a:gd name="adj" fmla="val 918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27"/>
          <p:cNvSpPr/>
          <p:nvPr/>
        </p:nvSpPr>
        <p:spPr>
          <a:xfrm>
            <a:off x="8525913" y="5781751"/>
            <a:ext cx="599846" cy="247802"/>
          </a:xfrm>
          <a:prstGeom prst="roundRect">
            <a:avLst>
              <a:gd name="adj" fmla="val 56770"/>
            </a:avLst>
          </a:prstGeom>
          <a:solidFill>
            <a:srgbClr val="7F1D1D">
              <a:alpha val="5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28"/>
          <p:cNvSpPr/>
          <p:nvPr/>
        </p:nvSpPr>
        <p:spPr>
          <a:xfrm>
            <a:off x="9193425" y="5781751"/>
            <a:ext cx="1009498" cy="247802"/>
          </a:xfrm>
          <a:prstGeom prst="roundRect">
            <a:avLst>
              <a:gd name="adj" fmla="val 56770"/>
            </a:avLst>
          </a:prstGeom>
          <a:solidFill>
            <a:srgbClr val="312E81">
              <a:alpha val="5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29"/>
          <p:cNvSpPr/>
          <p:nvPr/>
        </p:nvSpPr>
        <p:spPr>
          <a:xfrm>
            <a:off x="10271503" y="5781751"/>
            <a:ext cx="866851" cy="247802"/>
          </a:xfrm>
          <a:prstGeom prst="roundRect">
            <a:avLst>
              <a:gd name="adj" fmla="val 56770"/>
            </a:avLst>
          </a:prstGeom>
          <a:solidFill>
            <a:srgbClr val="1E3A8A">
              <a:alpha val="5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0"/>
          <p:cNvSpPr txBox="1"/>
          <p:nvPr/>
        </p:nvSpPr>
        <p:spPr>
          <a:xfrm>
            <a:off x="666598" y="457200"/>
            <a:ext cx="44577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2.4: Caching Strategy</a:t>
            </a:r>
            <a:endParaRPr lang="en-US" sz="2700" dirty="0"/>
          </a:p>
        </p:txBody>
      </p:sp>
      <p:sp>
        <p:nvSpPr>
          <p:cNvPr id="37" name="Text 31"/>
          <p:cNvSpPr txBox="1"/>
          <p:nvPr/>
        </p:nvSpPr>
        <p:spPr>
          <a:xfrm>
            <a:off x="666598" y="961949"/>
            <a:ext cx="30723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Performance &amp; Scalability</a:t>
            </a:r>
            <a:endParaRPr lang="en-US" sz="13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184663B-BD90-7093-710B-836E589F8278}"/>
              </a:ext>
            </a:extLst>
          </p:cNvPr>
          <p:cNvGrpSpPr/>
          <p:nvPr/>
        </p:nvGrpSpPr>
        <p:grpSpPr>
          <a:xfrm>
            <a:off x="666598" y="1781252"/>
            <a:ext cx="7181698" cy="4866436"/>
            <a:chOff x="666598" y="1781251"/>
            <a:chExt cx="7181698" cy="5876849"/>
          </a:xfrm>
        </p:grpSpPr>
        <p:sp>
          <p:nvSpPr>
            <p:cNvPr id="10" name="Shape 7"/>
            <p:cNvSpPr/>
            <p:nvPr/>
          </p:nvSpPr>
          <p:spPr>
            <a:xfrm>
              <a:off x="666598" y="1781251"/>
              <a:ext cx="7181698" cy="5876849"/>
            </a:xfrm>
            <a:prstGeom prst="roundRect">
              <a:avLst>
                <a:gd name="adj" fmla="val 403"/>
              </a:avLst>
            </a:prstGeom>
            <a:solidFill>
              <a:srgbClr val="1E293B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961949" y="2119579"/>
              <a:ext cx="171907" cy="171907"/>
            </a:xfrm>
            <a:prstGeom prst="rect">
              <a:avLst/>
            </a:prstGeom>
          </p:spPr>
        </p:pic>
        <p:sp>
          <p:nvSpPr>
            <p:cNvPr id="12" name="Shape 8"/>
            <p:cNvSpPr/>
            <p:nvPr/>
          </p:nvSpPr>
          <p:spPr>
            <a:xfrm>
              <a:off x="961949" y="2562149"/>
              <a:ext cx="6590995" cy="552298"/>
            </a:xfrm>
            <a:prstGeom prst="roundRect">
              <a:avLst>
                <a:gd name="adj" fmla="val 28545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Text 9"/>
            <p:cNvSpPr txBox="1"/>
            <p:nvPr/>
          </p:nvSpPr>
          <p:spPr>
            <a:xfrm>
              <a:off x="1123798" y="2723998"/>
              <a:ext cx="36009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Implement caching for frequently accessed data</a:t>
              </a:r>
              <a:endParaRPr lang="en-US" sz="120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961949" y="3267151"/>
              <a:ext cx="6590995" cy="552298"/>
            </a:xfrm>
            <a:prstGeom prst="roundRect">
              <a:avLst>
                <a:gd name="adj" fmla="val 28545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Text 11"/>
            <p:cNvSpPr txBox="1"/>
            <p:nvPr/>
          </p:nvSpPr>
          <p:spPr>
            <a:xfrm>
              <a:off x="1123798" y="3429000"/>
              <a:ext cx="32863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Use cache tags for organized data grouping</a:t>
              </a:r>
              <a:endParaRPr lang="en-US" sz="1200" dirty="0"/>
            </a:p>
          </p:txBody>
        </p:sp>
        <p:sp>
          <p:nvSpPr>
            <p:cNvPr id="16" name="Shape 12"/>
            <p:cNvSpPr/>
            <p:nvPr/>
          </p:nvSpPr>
          <p:spPr>
            <a:xfrm>
              <a:off x="961949" y="3972154"/>
              <a:ext cx="6590995" cy="571500"/>
            </a:xfrm>
            <a:prstGeom prst="roundRect">
              <a:avLst>
                <a:gd name="adj" fmla="val 26667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Shape 13"/>
            <p:cNvSpPr/>
            <p:nvPr/>
          </p:nvSpPr>
          <p:spPr>
            <a:xfrm>
              <a:off x="1123798" y="4153205"/>
              <a:ext cx="228600" cy="228600"/>
            </a:xfrm>
            <a:prstGeom prst="roundRect">
              <a:avLst>
                <a:gd name="adj" fmla="val 100000"/>
              </a:avLst>
            </a:prstGeom>
            <a:noFill/>
            <a:ln w="254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Shape 14"/>
            <p:cNvSpPr/>
            <p:nvPr/>
          </p:nvSpPr>
          <p:spPr>
            <a:xfrm>
              <a:off x="961949" y="4695444"/>
              <a:ext cx="6590995" cy="571500"/>
            </a:xfrm>
            <a:prstGeom prst="roundRect">
              <a:avLst>
                <a:gd name="adj" fmla="val 26667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Shape 15"/>
            <p:cNvSpPr/>
            <p:nvPr/>
          </p:nvSpPr>
          <p:spPr>
            <a:xfrm>
              <a:off x="1123798" y="4876495"/>
              <a:ext cx="228600" cy="228600"/>
            </a:xfrm>
            <a:prstGeom prst="roundRect">
              <a:avLst>
                <a:gd name="adj" fmla="val 100000"/>
              </a:avLst>
            </a:prstGeom>
            <a:noFill/>
            <a:ln w="254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Shape 16"/>
            <p:cNvSpPr/>
            <p:nvPr/>
          </p:nvSpPr>
          <p:spPr>
            <a:xfrm>
              <a:off x="961949" y="5419649"/>
              <a:ext cx="6590995" cy="571500"/>
            </a:xfrm>
            <a:prstGeom prst="roundRect">
              <a:avLst>
                <a:gd name="adj" fmla="val 26667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Shape 17"/>
            <p:cNvSpPr/>
            <p:nvPr/>
          </p:nvSpPr>
          <p:spPr>
            <a:xfrm>
              <a:off x="1123798" y="5600700"/>
              <a:ext cx="228600" cy="228600"/>
            </a:xfrm>
            <a:prstGeom prst="roundRect">
              <a:avLst>
                <a:gd name="adj" fmla="val 100000"/>
              </a:avLst>
            </a:prstGeom>
            <a:noFill/>
            <a:ln w="254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Shape 18"/>
            <p:cNvSpPr/>
            <p:nvPr/>
          </p:nvSpPr>
          <p:spPr>
            <a:xfrm>
              <a:off x="961949" y="6143854"/>
              <a:ext cx="6590995" cy="552298"/>
            </a:xfrm>
            <a:prstGeom prst="roundRect">
              <a:avLst>
                <a:gd name="adj" fmla="val 28545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Text 19"/>
            <p:cNvSpPr txBox="1"/>
            <p:nvPr/>
          </p:nvSpPr>
          <p:spPr>
            <a:xfrm>
              <a:off x="1123798" y="6305702"/>
              <a:ext cx="26956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Configure Redis as the cache driver</a:t>
              </a:r>
              <a:endParaRPr lang="en-US" sz="1200" dirty="0"/>
            </a:p>
          </p:txBody>
        </p:sp>
        <p:sp>
          <p:nvSpPr>
            <p:cNvPr id="24" name="Shape 20"/>
            <p:cNvSpPr/>
            <p:nvPr/>
          </p:nvSpPr>
          <p:spPr>
            <a:xfrm>
              <a:off x="961949" y="6848856"/>
              <a:ext cx="6590995" cy="514807"/>
            </a:xfrm>
            <a:prstGeom prst="roundRect">
              <a:avLst>
                <a:gd name="adj" fmla="val 26314"/>
              </a:avLst>
            </a:prstGeom>
            <a:solidFill>
              <a:srgbClr val="3B82F6">
                <a:alpha val="5000"/>
              </a:srgbClr>
            </a:solidFill>
            <a:ln w="12700">
              <a:solidFill>
                <a:srgbClr val="3B82F6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Text 21"/>
            <p:cNvSpPr txBox="1"/>
            <p:nvPr/>
          </p:nvSpPr>
          <p:spPr>
            <a:xfrm>
              <a:off x="1123798" y="7010705"/>
              <a:ext cx="584667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3C5FD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Tip: Use Cache::tags(['courses'])-&gt;flush() to clear all related keys when a single resource updates.</a:t>
              </a:r>
              <a:endParaRPr lang="en-US" sz="900" dirty="0"/>
            </a:p>
          </p:txBody>
        </p:sp>
        <p:sp>
          <p:nvSpPr>
            <p:cNvPr id="38" name="Text 32"/>
            <p:cNvSpPr txBox="1"/>
            <p:nvPr/>
          </p:nvSpPr>
          <p:spPr>
            <a:xfrm>
              <a:off x="1228954" y="2104949"/>
              <a:ext cx="1433779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Tasks Checklist</a:t>
              </a:r>
              <a:endParaRPr lang="en-US" sz="1300" dirty="0"/>
            </a:p>
          </p:txBody>
        </p:sp>
        <p:sp>
          <p:nvSpPr>
            <p:cNvPr id="39" name="Text 33"/>
            <p:cNvSpPr txBox="1"/>
            <p:nvPr/>
          </p:nvSpPr>
          <p:spPr>
            <a:xfrm>
              <a:off x="1505102" y="4153205"/>
              <a:ext cx="345826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Implement invalidation logic on model updates</a:t>
              </a:r>
              <a:endParaRPr lang="en-US" sz="1200" dirty="0"/>
            </a:p>
          </p:txBody>
        </p:sp>
        <p:sp>
          <p:nvSpPr>
            <p:cNvPr id="40" name="Text 34"/>
            <p:cNvSpPr txBox="1"/>
            <p:nvPr/>
          </p:nvSpPr>
          <p:spPr>
            <a:xfrm>
              <a:off x="1505102" y="4876495"/>
              <a:ext cx="372435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Monitor cache hits and effectiveness in Telescope</a:t>
              </a:r>
              <a:endParaRPr lang="en-US" sz="1200" dirty="0"/>
            </a:p>
          </p:txBody>
        </p:sp>
        <p:sp>
          <p:nvSpPr>
            <p:cNvPr id="41" name="Text 35"/>
            <p:cNvSpPr txBox="1"/>
            <p:nvPr/>
          </p:nvSpPr>
          <p:spPr>
            <a:xfrm>
              <a:off x="1505102" y="5600700"/>
              <a:ext cx="327721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Benchmark response times before and after</a:t>
              </a:r>
              <a:endParaRPr lang="en-US" sz="1200" dirty="0"/>
            </a:p>
          </p:txBody>
        </p:sp>
      </p:grpSp>
      <p:sp>
        <p:nvSpPr>
          <p:cNvPr id="44" name="Text 38"/>
          <p:cNvSpPr txBox="1"/>
          <p:nvPr/>
        </p:nvSpPr>
        <p:spPr>
          <a:xfrm>
            <a:off x="8525913" y="5447995"/>
            <a:ext cx="1014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8650271" y="5838443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A5A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Redis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9316869" y="5838443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Cache::tags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10395861" y="5838443"/>
            <a:ext cx="7050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Benchmark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8717023" y="2381097"/>
            <a:ext cx="24249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Reducing database load significantly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8717023" y="2676448"/>
            <a:ext cx="26151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data consistency (invalidation)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8717023" y="2971799"/>
            <a:ext cx="23289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Mastering advanced Redis features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10299849" y="5100523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1218895" y="-952805"/>
            <a:ext cx="4762195" cy="476219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210605" y="3047695"/>
            <a:ext cx="4762195" cy="4762195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 txBox="1"/>
          <p:nvPr/>
        </p:nvSpPr>
        <p:spPr>
          <a:xfrm>
            <a:off x="666598" y="457200"/>
            <a:ext cx="33631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Patterns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66598" y="961949"/>
            <a:ext cx="44915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Polymorphic Relationships &amp; Event-Driven Architecture</a:t>
            </a:r>
            <a:endParaRPr lang="en-US" sz="13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4EAE906-9F7C-E8EB-4E92-055E939AD0CD}"/>
              </a:ext>
            </a:extLst>
          </p:cNvPr>
          <p:cNvGrpSpPr/>
          <p:nvPr/>
        </p:nvGrpSpPr>
        <p:grpSpPr>
          <a:xfrm>
            <a:off x="666598" y="1686154"/>
            <a:ext cx="11383365" cy="5165263"/>
            <a:chOff x="666598" y="1686154"/>
            <a:chExt cx="11383365" cy="5448910"/>
          </a:xfrm>
        </p:grpSpPr>
        <p:sp>
          <p:nvSpPr>
            <p:cNvPr id="9" name="Shape 7"/>
            <p:cNvSpPr/>
            <p:nvPr/>
          </p:nvSpPr>
          <p:spPr>
            <a:xfrm>
              <a:off x="666598" y="1686154"/>
              <a:ext cx="5238598" cy="5181905"/>
            </a:xfrm>
            <a:prstGeom prst="roundRect">
              <a:avLst>
                <a:gd name="adj" fmla="val 519"/>
              </a:avLst>
            </a:prstGeom>
            <a:solidFill>
              <a:srgbClr val="1E293B">
                <a:alpha val="40000"/>
              </a:srgbClr>
            </a:solidFill>
            <a:ln w="508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Shape 8"/>
            <p:cNvSpPr/>
            <p:nvPr/>
          </p:nvSpPr>
          <p:spPr>
            <a:xfrm>
              <a:off x="905256" y="2600554"/>
              <a:ext cx="4762195" cy="9144"/>
            </a:xfrm>
            <a:prstGeom prst="rect">
              <a:avLst/>
            </a:prstGeom>
            <a:solidFill>
              <a:srgbClr val="94A3B8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Shape 9"/>
            <p:cNvSpPr/>
            <p:nvPr/>
          </p:nvSpPr>
          <p:spPr>
            <a:xfrm>
              <a:off x="905256" y="1969618"/>
              <a:ext cx="457200" cy="457200"/>
            </a:xfrm>
            <a:prstGeom prst="roundRect">
              <a:avLst>
                <a:gd name="adj" fmla="val 41667"/>
              </a:avLst>
            </a:prstGeom>
            <a:solidFill>
              <a:srgbClr val="8B5CF6">
                <a:alpha val="15000"/>
              </a:srgbClr>
            </a:solidFill>
            <a:ln/>
            <a:effectLst>
              <a:outerShdw blurRad="635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MY"/>
            </a:p>
          </p:txBody>
        </p:sp>
        <p:pic>
          <p:nvPicPr>
            <p:cNvPr id="12" name="Image 0" descr="preencoded.png"/>
            <p:cNvPicPr>
              <a:picLocks noChangeAspect="1"/>
            </p:cNvPicPr>
            <p:nvPr/>
          </p:nvPicPr>
          <p:blipFill>
            <a:blip r:embed="rId3"/>
            <a:srcRect l="-1282" r="-1282"/>
            <a:stretch/>
          </p:blipFill>
          <p:spPr>
            <a:xfrm>
              <a:off x="1024128" y="2102206"/>
              <a:ext cx="219456" cy="190195"/>
            </a:xfrm>
            <a:prstGeom prst="rect">
              <a:avLst/>
            </a:prstGeom>
          </p:spPr>
        </p:pic>
        <p:sp>
          <p:nvSpPr>
            <p:cNvPr id="13" name="Text 10"/>
            <p:cNvSpPr txBox="1"/>
            <p:nvPr/>
          </p:nvSpPr>
          <p:spPr>
            <a:xfrm>
              <a:off x="1514246" y="1981505"/>
              <a:ext cx="26289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1F5F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Polymorphic Relationships</a:t>
              </a:r>
              <a:endParaRPr lang="en-US" sz="1500" dirty="0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1514246" y="2266798"/>
              <a:ext cx="178856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Dynamic Model Associations</a:t>
              </a:r>
              <a:endParaRPr lang="en-US" sz="9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905256" y="2833726"/>
              <a:ext cx="4762195" cy="809244"/>
            </a:xfrm>
            <a:prstGeom prst="roundRect">
              <a:avLst>
                <a:gd name="adj" fmla="val 10635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16" name="Image 1" descr="preencoded.png"/>
            <p:cNvPicPr>
              <a:picLocks noChangeAspect="1"/>
            </p:cNvPicPr>
            <p:nvPr/>
          </p:nvPicPr>
          <p:blipFill>
            <a:blip r:embed="rId4"/>
            <a:srcRect l="-837" r="-837"/>
            <a:stretch/>
          </p:blipFill>
          <p:spPr>
            <a:xfrm>
              <a:off x="1067105" y="2986430"/>
              <a:ext cx="152705" cy="133502"/>
            </a:xfrm>
            <a:prstGeom prst="rect">
              <a:avLst/>
            </a:prstGeom>
          </p:spPr>
        </p:pic>
        <p:sp>
          <p:nvSpPr>
            <p:cNvPr id="17" name="Text 13"/>
            <p:cNvSpPr txBox="1"/>
            <p:nvPr/>
          </p:nvSpPr>
          <p:spPr>
            <a:xfrm>
              <a:off x="1333195" y="2976372"/>
              <a:ext cx="115763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Flexible Schema</a:t>
              </a:r>
              <a:endParaRPr lang="en-US" sz="1000" dirty="0"/>
            </a:p>
          </p:txBody>
        </p:sp>
        <p:sp>
          <p:nvSpPr>
            <p:cNvPr id="18" name="Text 14"/>
            <p:cNvSpPr txBox="1"/>
            <p:nvPr/>
          </p:nvSpPr>
          <p:spPr>
            <a:xfrm>
              <a:off x="1333195" y="3195828"/>
              <a:ext cx="3896258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 single table can serve as a child for multiple different parent models, reducing table proliferation.</a:t>
              </a:r>
              <a:endParaRPr lang="en-US" sz="900" dirty="0"/>
            </a:p>
          </p:txBody>
        </p:sp>
        <p:sp>
          <p:nvSpPr>
            <p:cNvPr id="19" name="Shape 15"/>
            <p:cNvSpPr/>
            <p:nvPr/>
          </p:nvSpPr>
          <p:spPr>
            <a:xfrm>
              <a:off x="905256" y="3792017"/>
              <a:ext cx="4762195" cy="809244"/>
            </a:xfrm>
            <a:prstGeom prst="roundRect">
              <a:avLst>
                <a:gd name="adj" fmla="val 10635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20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067105" y="3943807"/>
              <a:ext cx="133502" cy="133502"/>
            </a:xfrm>
            <a:prstGeom prst="rect">
              <a:avLst/>
            </a:prstGeom>
          </p:spPr>
        </p:pic>
        <p:sp>
          <p:nvSpPr>
            <p:cNvPr id="21" name="Text 16"/>
            <p:cNvSpPr txBox="1"/>
            <p:nvPr/>
          </p:nvSpPr>
          <p:spPr>
            <a:xfrm>
              <a:off x="1314907" y="3934663"/>
              <a:ext cx="126278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Unified Audit Trail</a:t>
              </a:r>
              <a:endParaRPr lang="en-US" sz="1000" dirty="0"/>
            </a:p>
          </p:txBody>
        </p:sp>
        <p:sp>
          <p:nvSpPr>
            <p:cNvPr id="22" name="Text 17"/>
            <p:cNvSpPr txBox="1"/>
            <p:nvPr/>
          </p:nvSpPr>
          <p:spPr>
            <a:xfrm>
              <a:off x="1314907" y="4154119"/>
              <a:ext cx="3495751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Track changes across all models in one `audit_logs` table using `subject_type` and `subject_id`.</a:t>
              </a:r>
              <a:endParaRPr lang="en-US" sz="900" dirty="0"/>
            </a:p>
          </p:txBody>
        </p:sp>
        <p:sp>
          <p:nvSpPr>
            <p:cNvPr id="23" name="Shape 18"/>
            <p:cNvSpPr/>
            <p:nvPr/>
          </p:nvSpPr>
          <p:spPr>
            <a:xfrm>
              <a:off x="905256" y="4787798"/>
              <a:ext cx="4762195" cy="1837944"/>
            </a:xfrm>
            <a:prstGeom prst="roundRect">
              <a:avLst>
                <a:gd name="adj" fmla="val 2062"/>
              </a:avLst>
            </a:prstGeom>
            <a:solidFill>
              <a:srgbClr val="0F172A">
                <a:alpha val="50000"/>
              </a:srgbClr>
            </a:solidFill>
            <a:ln w="12700">
              <a:solidFill>
                <a:srgbClr val="94A3B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Shape 19"/>
            <p:cNvSpPr/>
            <p:nvPr/>
          </p:nvSpPr>
          <p:spPr>
            <a:xfrm>
              <a:off x="1028700" y="4702759"/>
              <a:ext cx="1248156" cy="181051"/>
            </a:xfrm>
            <a:prstGeom prst="roundRect">
              <a:avLst>
                <a:gd name="adj" fmla="val 106327"/>
              </a:avLst>
            </a:prstGeom>
            <a:solidFill>
              <a:srgbClr val="1E293B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Text 20"/>
            <p:cNvSpPr txBox="1"/>
            <p:nvPr/>
          </p:nvSpPr>
          <p:spPr>
            <a:xfrm>
              <a:off x="1104595" y="4731106"/>
              <a:ext cx="1172261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SCHEMA STRUCTURE</a:t>
              </a:r>
              <a:endParaRPr lang="en-US" sz="800" dirty="0"/>
            </a:p>
          </p:txBody>
        </p:sp>
        <p:sp>
          <p:nvSpPr>
            <p:cNvPr id="26" name="Shape 21"/>
            <p:cNvSpPr/>
            <p:nvPr/>
          </p:nvSpPr>
          <p:spPr>
            <a:xfrm>
              <a:off x="2018995" y="5045659"/>
              <a:ext cx="857707" cy="552298"/>
            </a:xfrm>
            <a:prstGeom prst="roundRect">
              <a:avLst>
                <a:gd name="adj" fmla="val 17127"/>
              </a:avLst>
            </a:prstGeom>
            <a:solidFill>
              <a:srgbClr val="1E293B"/>
            </a:solidFill>
            <a:ln w="1270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Shape 22"/>
            <p:cNvSpPr/>
            <p:nvPr/>
          </p:nvSpPr>
          <p:spPr>
            <a:xfrm>
              <a:off x="2104949" y="5311750"/>
              <a:ext cx="685800" cy="9144"/>
            </a:xfrm>
            <a:prstGeom prst="rect">
              <a:avLst/>
            </a:prstGeom>
            <a:solidFill>
              <a:srgbClr val="94A3B8">
                <a:alpha val="2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Text 23"/>
            <p:cNvSpPr txBox="1"/>
            <p:nvPr/>
          </p:nvSpPr>
          <p:spPr>
            <a:xfrm>
              <a:off x="2253082" y="5140757"/>
              <a:ext cx="467258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Courses</a:t>
              </a:r>
              <a:endParaRPr lang="en-US" sz="800" dirty="0"/>
            </a:p>
          </p:txBody>
        </p:sp>
        <p:sp>
          <p:nvSpPr>
            <p:cNvPr id="29" name="Shape 24"/>
            <p:cNvSpPr/>
            <p:nvPr/>
          </p:nvSpPr>
          <p:spPr>
            <a:xfrm>
              <a:off x="2104949" y="5359298"/>
              <a:ext cx="685800" cy="38405"/>
            </a:xfrm>
            <a:prstGeom prst="roundRect">
              <a:avLst>
                <a:gd name="adj" fmla="val 1190470"/>
              </a:avLst>
            </a:prstGeom>
            <a:solidFill>
              <a:srgbClr val="94A3B8">
                <a:alpha val="2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Shape 25"/>
            <p:cNvSpPr/>
            <p:nvPr/>
          </p:nvSpPr>
          <p:spPr>
            <a:xfrm>
              <a:off x="2104949" y="5436108"/>
              <a:ext cx="685800" cy="38405"/>
            </a:xfrm>
            <a:prstGeom prst="roundRect">
              <a:avLst>
                <a:gd name="adj" fmla="val 1190470"/>
              </a:avLst>
            </a:prstGeom>
            <a:solidFill>
              <a:srgbClr val="94A3B8">
                <a:alpha val="2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31" name="Shape 26"/>
            <p:cNvSpPr/>
            <p:nvPr/>
          </p:nvSpPr>
          <p:spPr>
            <a:xfrm>
              <a:off x="2018995" y="5673852"/>
              <a:ext cx="857707" cy="552298"/>
            </a:xfrm>
            <a:prstGeom prst="roundRect">
              <a:avLst>
                <a:gd name="adj" fmla="val 17127"/>
              </a:avLst>
            </a:prstGeom>
            <a:solidFill>
              <a:srgbClr val="1E293B"/>
            </a:solidFill>
            <a:ln w="1270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32" name="Shape 27"/>
            <p:cNvSpPr/>
            <p:nvPr/>
          </p:nvSpPr>
          <p:spPr>
            <a:xfrm>
              <a:off x="2104949" y="5940857"/>
              <a:ext cx="685800" cy="9144"/>
            </a:xfrm>
            <a:prstGeom prst="rect">
              <a:avLst/>
            </a:prstGeom>
            <a:solidFill>
              <a:srgbClr val="94A3B8">
                <a:alpha val="2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33" name="Text 28"/>
            <p:cNvSpPr txBox="1"/>
            <p:nvPr/>
          </p:nvSpPr>
          <p:spPr>
            <a:xfrm>
              <a:off x="2311603" y="5768950"/>
              <a:ext cx="352958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Users</a:t>
              </a:r>
              <a:endParaRPr lang="en-US" sz="800" dirty="0"/>
            </a:p>
          </p:txBody>
        </p:sp>
        <p:sp>
          <p:nvSpPr>
            <p:cNvPr id="34" name="Shape 29"/>
            <p:cNvSpPr/>
            <p:nvPr/>
          </p:nvSpPr>
          <p:spPr>
            <a:xfrm>
              <a:off x="2104949" y="5988406"/>
              <a:ext cx="685800" cy="38405"/>
            </a:xfrm>
            <a:prstGeom prst="roundRect">
              <a:avLst>
                <a:gd name="adj" fmla="val 1190470"/>
              </a:avLst>
            </a:prstGeom>
            <a:solidFill>
              <a:srgbClr val="94A3B8">
                <a:alpha val="2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35" name="Shape 30"/>
            <p:cNvSpPr/>
            <p:nvPr/>
          </p:nvSpPr>
          <p:spPr>
            <a:xfrm>
              <a:off x="2104949" y="6064301"/>
              <a:ext cx="685800" cy="38405"/>
            </a:xfrm>
            <a:prstGeom prst="roundRect">
              <a:avLst>
                <a:gd name="adj" fmla="val 1190470"/>
              </a:avLst>
            </a:prstGeom>
            <a:solidFill>
              <a:srgbClr val="94A3B8">
                <a:alpha val="2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36" name="Shape 31"/>
            <p:cNvSpPr/>
            <p:nvPr/>
          </p:nvSpPr>
          <p:spPr>
            <a:xfrm>
              <a:off x="3029407" y="5602529"/>
              <a:ext cx="286207" cy="9144"/>
            </a:xfrm>
            <a:prstGeom prst="rect">
              <a:avLst/>
            </a:prstGeom>
            <a:solidFill>
              <a:srgbClr val="64748B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37" name="Shape 32"/>
            <p:cNvSpPr/>
            <p:nvPr/>
          </p:nvSpPr>
          <p:spPr>
            <a:xfrm>
              <a:off x="3029407" y="5659222"/>
              <a:ext cx="323698" cy="9144"/>
            </a:xfrm>
            <a:prstGeom prst="rect">
              <a:avLst/>
            </a:prstGeom>
            <a:solidFill>
              <a:srgbClr val="64748B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38" name="Shape 33"/>
            <p:cNvSpPr/>
            <p:nvPr/>
          </p:nvSpPr>
          <p:spPr>
            <a:xfrm>
              <a:off x="3504895" y="5188306"/>
              <a:ext cx="1047902" cy="895198"/>
            </a:xfrm>
            <a:prstGeom prst="roundRect">
              <a:avLst>
                <a:gd name="adj" fmla="val 6520"/>
              </a:avLst>
            </a:prstGeom>
            <a:solidFill>
              <a:srgbClr val="1E293B"/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39" name="Shape 34"/>
            <p:cNvSpPr/>
            <p:nvPr/>
          </p:nvSpPr>
          <p:spPr>
            <a:xfrm>
              <a:off x="3590849" y="5455310"/>
              <a:ext cx="875995" cy="9144"/>
            </a:xfrm>
            <a:prstGeom prst="rect">
              <a:avLst/>
            </a:prstGeom>
            <a:solidFill>
              <a:srgbClr val="94A3B8">
                <a:alpha val="2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40" name="Text 35"/>
            <p:cNvSpPr txBox="1"/>
            <p:nvPr/>
          </p:nvSpPr>
          <p:spPr>
            <a:xfrm>
              <a:off x="3775558" y="5283403"/>
              <a:ext cx="590702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Comments</a:t>
              </a:r>
              <a:endParaRPr lang="en-US" sz="800" dirty="0"/>
            </a:p>
          </p:txBody>
        </p:sp>
        <p:sp>
          <p:nvSpPr>
            <p:cNvPr id="41" name="Text 36"/>
            <p:cNvSpPr txBox="1"/>
            <p:nvPr/>
          </p:nvSpPr>
          <p:spPr>
            <a:xfrm>
              <a:off x="3590849" y="5531206"/>
              <a:ext cx="1400861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8FAFC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commentable_id</a:t>
              </a:r>
              <a:endParaRPr lang="en-US" sz="1200" dirty="0"/>
            </a:p>
          </p:txBody>
        </p:sp>
        <p:sp>
          <p:nvSpPr>
            <p:cNvPr id="42" name="Text 37"/>
            <p:cNvSpPr txBox="1"/>
            <p:nvPr/>
          </p:nvSpPr>
          <p:spPr>
            <a:xfrm>
              <a:off x="3590849" y="5797296"/>
              <a:ext cx="1581912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8FAFC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commentable_type</a:t>
              </a:r>
              <a:endParaRPr lang="en-US" sz="1200" dirty="0"/>
            </a:p>
          </p:txBody>
        </p:sp>
        <p:sp>
          <p:nvSpPr>
            <p:cNvPr id="43" name="Text 38"/>
            <p:cNvSpPr txBox="1"/>
            <p:nvPr/>
          </p:nvSpPr>
          <p:spPr>
            <a:xfrm>
              <a:off x="2186330" y="6312103"/>
              <a:ext cx="2279599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A7F3D0">
                      <a:alpha val="80000"/>
                    </a:srgbClr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$model-&gt;comments()-&gt;save($comment);</a:t>
              </a:r>
              <a:endParaRPr lang="en-US" sz="800" dirty="0"/>
            </a:p>
          </p:txBody>
        </p:sp>
        <p:sp>
          <p:nvSpPr>
            <p:cNvPr id="44" name="Shape 39"/>
            <p:cNvSpPr/>
            <p:nvPr/>
          </p:nvSpPr>
          <p:spPr>
            <a:xfrm>
              <a:off x="6286500" y="1686154"/>
              <a:ext cx="5238598" cy="5181905"/>
            </a:xfrm>
            <a:prstGeom prst="roundRect">
              <a:avLst>
                <a:gd name="adj" fmla="val 519"/>
              </a:avLst>
            </a:prstGeom>
            <a:solidFill>
              <a:srgbClr val="1E293B">
                <a:alpha val="40000"/>
              </a:srgbClr>
            </a:solidFill>
            <a:ln w="50800">
              <a:solidFill>
                <a:srgbClr val="06B6D4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45" name="Shape 40"/>
            <p:cNvSpPr/>
            <p:nvPr/>
          </p:nvSpPr>
          <p:spPr>
            <a:xfrm>
              <a:off x="6524244" y="2600554"/>
              <a:ext cx="4762195" cy="9144"/>
            </a:xfrm>
            <a:prstGeom prst="rect">
              <a:avLst/>
            </a:prstGeom>
            <a:solidFill>
              <a:srgbClr val="94A3B8">
                <a:alpha val="10000"/>
              </a:srgbClr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46" name="Shape 41"/>
            <p:cNvSpPr/>
            <p:nvPr/>
          </p:nvSpPr>
          <p:spPr>
            <a:xfrm>
              <a:off x="6524244" y="1969618"/>
              <a:ext cx="457200" cy="457200"/>
            </a:xfrm>
            <a:prstGeom prst="roundRect">
              <a:avLst>
                <a:gd name="adj" fmla="val 41667"/>
              </a:avLst>
            </a:prstGeom>
            <a:solidFill>
              <a:srgbClr val="06B6D4">
                <a:alpha val="15000"/>
              </a:srgbClr>
            </a:solidFill>
            <a:ln/>
            <a:effectLst>
              <a:outerShdw blurRad="635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MY"/>
            </a:p>
          </p:txBody>
        </p:sp>
        <p:pic>
          <p:nvPicPr>
            <p:cNvPr id="47" name="Image 3" descr="preencoded.png"/>
            <p:cNvPicPr>
              <a:picLocks noChangeAspect="1"/>
            </p:cNvPicPr>
            <p:nvPr/>
          </p:nvPicPr>
          <p:blipFill>
            <a:blip r:embed="rId6"/>
            <a:srcRect l="-1282" r="-1282"/>
            <a:stretch/>
          </p:blipFill>
          <p:spPr>
            <a:xfrm>
              <a:off x="6644030" y="2102206"/>
              <a:ext cx="219456" cy="190195"/>
            </a:xfrm>
            <a:prstGeom prst="rect">
              <a:avLst/>
            </a:prstGeom>
          </p:spPr>
        </p:pic>
        <p:sp>
          <p:nvSpPr>
            <p:cNvPr id="48" name="Text 42"/>
            <p:cNvSpPr txBox="1"/>
            <p:nvPr/>
          </p:nvSpPr>
          <p:spPr>
            <a:xfrm>
              <a:off x="7134149" y="1981505"/>
              <a:ext cx="25813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1F5F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Event-Driven Architecture</a:t>
              </a:r>
              <a:endParaRPr lang="en-US" sz="1500" dirty="0"/>
            </a:p>
          </p:txBody>
        </p:sp>
        <p:sp>
          <p:nvSpPr>
            <p:cNvPr id="49" name="Text 43"/>
            <p:cNvSpPr txBox="1"/>
            <p:nvPr/>
          </p:nvSpPr>
          <p:spPr>
            <a:xfrm>
              <a:off x="7134149" y="2266798"/>
              <a:ext cx="172181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Decoupled &amp; Asynchronous</a:t>
              </a:r>
              <a:endParaRPr lang="en-US" sz="900" dirty="0"/>
            </a:p>
          </p:txBody>
        </p:sp>
        <p:sp>
          <p:nvSpPr>
            <p:cNvPr id="50" name="Shape 44"/>
            <p:cNvSpPr/>
            <p:nvPr/>
          </p:nvSpPr>
          <p:spPr>
            <a:xfrm>
              <a:off x="6524244" y="2833726"/>
              <a:ext cx="4762195" cy="809244"/>
            </a:xfrm>
            <a:prstGeom prst="roundRect">
              <a:avLst>
                <a:gd name="adj" fmla="val 10635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51" name="Image 4" descr="preencoded.png"/>
            <p:cNvPicPr>
              <a:picLocks noChangeAspect="1"/>
            </p:cNvPicPr>
            <p:nvPr/>
          </p:nvPicPr>
          <p:blipFill>
            <a:blip r:embed="rId7"/>
            <a:srcRect l="-1507" r="-1507"/>
            <a:stretch/>
          </p:blipFill>
          <p:spPr>
            <a:xfrm>
              <a:off x="6687007" y="2986430"/>
              <a:ext cx="171907" cy="133502"/>
            </a:xfrm>
            <a:prstGeom prst="rect">
              <a:avLst/>
            </a:prstGeom>
          </p:spPr>
        </p:pic>
        <p:sp>
          <p:nvSpPr>
            <p:cNvPr id="52" name="Text 45"/>
            <p:cNvSpPr txBox="1"/>
            <p:nvPr/>
          </p:nvSpPr>
          <p:spPr>
            <a:xfrm>
              <a:off x="6972300" y="2976372"/>
              <a:ext cx="163403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Separation of Concerns</a:t>
              </a:r>
              <a:endParaRPr lang="en-US" sz="1000" dirty="0"/>
            </a:p>
          </p:txBody>
        </p:sp>
        <p:sp>
          <p:nvSpPr>
            <p:cNvPr id="53" name="Text 46"/>
            <p:cNvSpPr txBox="1"/>
            <p:nvPr/>
          </p:nvSpPr>
          <p:spPr>
            <a:xfrm>
              <a:off x="6972300" y="3195828"/>
              <a:ext cx="4210812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Decouple side effects (emails, logging, stats) from the core business logic in your controllers/services.</a:t>
              </a:r>
              <a:endParaRPr lang="en-US" sz="900" dirty="0"/>
            </a:p>
          </p:txBody>
        </p:sp>
        <p:sp>
          <p:nvSpPr>
            <p:cNvPr id="54" name="Shape 47"/>
            <p:cNvSpPr/>
            <p:nvPr/>
          </p:nvSpPr>
          <p:spPr>
            <a:xfrm>
              <a:off x="6524244" y="3792017"/>
              <a:ext cx="4762195" cy="809244"/>
            </a:xfrm>
            <a:prstGeom prst="roundRect">
              <a:avLst>
                <a:gd name="adj" fmla="val 10635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55" name="Image 5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6687007" y="3943807"/>
              <a:ext cx="133502" cy="133502"/>
            </a:xfrm>
            <a:prstGeom prst="rect">
              <a:avLst/>
            </a:prstGeom>
          </p:spPr>
        </p:pic>
        <p:sp>
          <p:nvSpPr>
            <p:cNvPr id="56" name="Text 48"/>
            <p:cNvSpPr txBox="1"/>
            <p:nvPr/>
          </p:nvSpPr>
          <p:spPr>
            <a:xfrm>
              <a:off x="6933895" y="3934663"/>
              <a:ext cx="939089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Performance</a:t>
              </a:r>
              <a:endParaRPr lang="en-US" sz="1000" dirty="0"/>
            </a:p>
          </p:txBody>
        </p:sp>
        <p:sp>
          <p:nvSpPr>
            <p:cNvPr id="57" name="Text 49"/>
            <p:cNvSpPr txBox="1"/>
            <p:nvPr/>
          </p:nvSpPr>
          <p:spPr>
            <a:xfrm>
              <a:off x="6933895" y="4154119"/>
              <a:ext cx="4058107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Offload heavy tasks to background queues via listeners, keeping the user response time fast.</a:t>
              </a:r>
              <a:endParaRPr lang="en-US" sz="900" dirty="0"/>
            </a:p>
          </p:txBody>
        </p:sp>
        <p:sp>
          <p:nvSpPr>
            <p:cNvPr id="58" name="Shape 50"/>
            <p:cNvSpPr/>
            <p:nvPr/>
          </p:nvSpPr>
          <p:spPr>
            <a:xfrm>
              <a:off x="6524244" y="4916729"/>
              <a:ext cx="4762195" cy="1705356"/>
            </a:xfrm>
            <a:prstGeom prst="roundRect">
              <a:avLst>
                <a:gd name="adj" fmla="val 2396"/>
              </a:avLst>
            </a:prstGeom>
            <a:solidFill>
              <a:srgbClr val="0F172A">
                <a:alpha val="50000"/>
              </a:srgbClr>
            </a:solidFill>
            <a:ln w="12700">
              <a:solidFill>
                <a:srgbClr val="94A3B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59" name="Shape 51"/>
            <p:cNvSpPr/>
            <p:nvPr/>
          </p:nvSpPr>
          <p:spPr>
            <a:xfrm>
              <a:off x="6648602" y="4830775"/>
              <a:ext cx="819302" cy="181051"/>
            </a:xfrm>
            <a:prstGeom prst="roundRect">
              <a:avLst>
                <a:gd name="adj" fmla="val 106327"/>
              </a:avLst>
            </a:prstGeom>
            <a:solidFill>
              <a:srgbClr val="1E293B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60" name="Text 52"/>
            <p:cNvSpPr txBox="1"/>
            <p:nvPr/>
          </p:nvSpPr>
          <p:spPr>
            <a:xfrm>
              <a:off x="6724498" y="4859122"/>
              <a:ext cx="743407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EVENT FLOW</a:t>
              </a:r>
              <a:endParaRPr lang="en-US" sz="800" dirty="0"/>
            </a:p>
          </p:txBody>
        </p:sp>
        <p:sp>
          <p:nvSpPr>
            <p:cNvPr id="61" name="Shape 53"/>
            <p:cNvSpPr/>
            <p:nvPr/>
          </p:nvSpPr>
          <p:spPr>
            <a:xfrm>
              <a:off x="6687007" y="5173675"/>
              <a:ext cx="342900" cy="342900"/>
            </a:xfrm>
            <a:prstGeom prst="ellipse">
              <a:avLst/>
            </a:prstGeom>
            <a:solidFill>
              <a:srgbClr val="1E293B">
                <a:alpha val="80000"/>
              </a:srgbClr>
            </a:solidFill>
            <a:ln w="12700">
              <a:solidFill>
                <a:srgbClr val="94A3B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62" name="Image 6" descr="preencoded.png"/>
            <p:cNvPicPr>
              <a:picLocks noChangeAspect="1"/>
            </p:cNvPicPr>
            <p:nvPr/>
          </p:nvPicPr>
          <p:blipFill>
            <a:blip r:embed="rId9"/>
            <a:srcRect l="-837" r="-837"/>
            <a:stretch/>
          </p:blipFill>
          <p:spPr>
            <a:xfrm>
              <a:off x="6782105" y="5278831"/>
              <a:ext cx="152705" cy="133502"/>
            </a:xfrm>
            <a:prstGeom prst="rect">
              <a:avLst/>
            </a:prstGeom>
          </p:spPr>
        </p:pic>
        <p:sp>
          <p:nvSpPr>
            <p:cNvPr id="63" name="Text 54"/>
            <p:cNvSpPr txBox="1"/>
            <p:nvPr/>
          </p:nvSpPr>
          <p:spPr>
            <a:xfrm>
              <a:off x="6714439" y="5583326"/>
              <a:ext cx="372161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Action</a:t>
              </a:r>
              <a:endParaRPr lang="en-US" sz="800" dirty="0"/>
            </a:p>
          </p:txBody>
        </p:sp>
        <p:sp>
          <p:nvSpPr>
            <p:cNvPr id="64" name="Shape 55"/>
            <p:cNvSpPr/>
            <p:nvPr/>
          </p:nvSpPr>
          <p:spPr>
            <a:xfrm>
              <a:off x="7125005" y="5345582"/>
              <a:ext cx="1514246" cy="9144"/>
            </a:xfrm>
            <a:prstGeom prst="rect">
              <a:avLst/>
            </a:prstGeom>
            <a:solidFill>
              <a:srgbClr val="475569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65" name="Shape 56"/>
            <p:cNvSpPr/>
            <p:nvPr/>
          </p:nvSpPr>
          <p:spPr>
            <a:xfrm>
              <a:off x="8725205" y="5173675"/>
              <a:ext cx="342900" cy="342900"/>
            </a:xfrm>
            <a:prstGeom prst="ellipse">
              <a:avLst/>
            </a:prstGeom>
            <a:solidFill>
              <a:srgbClr val="1E293B">
                <a:alpha val="80000"/>
              </a:srgbClr>
            </a:solidFill>
            <a:ln w="12700">
              <a:solidFill>
                <a:srgbClr val="94A3B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66" name="Image 7" descr="preencoded.png"/>
            <p:cNvPicPr>
              <a:picLocks noChangeAspect="1"/>
            </p:cNvPicPr>
            <p:nvPr/>
          </p:nvPicPr>
          <p:blipFill>
            <a:blip r:embed="rId10"/>
            <a:srcRect t="-1100" b="-1100"/>
            <a:stretch/>
          </p:blipFill>
          <p:spPr>
            <a:xfrm>
              <a:off x="8839505" y="5278831"/>
              <a:ext cx="114300" cy="133502"/>
            </a:xfrm>
            <a:prstGeom prst="rect">
              <a:avLst/>
            </a:prstGeom>
          </p:spPr>
        </p:pic>
        <p:sp>
          <p:nvSpPr>
            <p:cNvPr id="67" name="Text 57"/>
            <p:cNvSpPr txBox="1"/>
            <p:nvPr/>
          </p:nvSpPr>
          <p:spPr>
            <a:xfrm>
              <a:off x="8770925" y="5583326"/>
              <a:ext cx="333756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Event</a:t>
              </a:r>
              <a:endParaRPr lang="en-US" sz="800" dirty="0"/>
            </a:p>
          </p:txBody>
        </p:sp>
        <p:sp>
          <p:nvSpPr>
            <p:cNvPr id="68" name="Shape 58"/>
            <p:cNvSpPr/>
            <p:nvPr/>
          </p:nvSpPr>
          <p:spPr>
            <a:xfrm>
              <a:off x="9163202" y="5345582"/>
              <a:ext cx="1514246" cy="9144"/>
            </a:xfrm>
            <a:prstGeom prst="rect">
              <a:avLst/>
            </a:prstGeom>
            <a:solidFill>
              <a:srgbClr val="475569"/>
            </a:solidFill>
            <a:ln/>
          </p:spPr>
          <p:txBody>
            <a:bodyPr/>
            <a:lstStyle/>
            <a:p>
              <a:endParaRPr lang="en-MY"/>
            </a:p>
          </p:txBody>
        </p:sp>
        <p:sp>
          <p:nvSpPr>
            <p:cNvPr id="69" name="Shape 59"/>
            <p:cNvSpPr/>
            <p:nvPr/>
          </p:nvSpPr>
          <p:spPr>
            <a:xfrm>
              <a:off x="10773461" y="5173675"/>
              <a:ext cx="342900" cy="342900"/>
            </a:xfrm>
            <a:prstGeom prst="ellipse">
              <a:avLst/>
            </a:prstGeom>
            <a:solidFill>
              <a:srgbClr val="1E293B">
                <a:alpha val="80000"/>
              </a:srgbClr>
            </a:solidFill>
            <a:ln w="12700">
              <a:solidFill>
                <a:srgbClr val="94A3B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70" name="Image 8" descr="preencoded.png"/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10877702" y="5278831"/>
              <a:ext cx="133502" cy="133502"/>
            </a:xfrm>
            <a:prstGeom prst="rect">
              <a:avLst/>
            </a:prstGeom>
          </p:spPr>
        </p:pic>
        <p:sp>
          <p:nvSpPr>
            <p:cNvPr id="71" name="Text 60"/>
            <p:cNvSpPr txBox="1"/>
            <p:nvPr/>
          </p:nvSpPr>
          <p:spPr>
            <a:xfrm>
              <a:off x="10764317" y="5583326"/>
              <a:ext cx="438912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Listener</a:t>
              </a:r>
              <a:endParaRPr lang="en-US" sz="800" dirty="0"/>
            </a:p>
          </p:txBody>
        </p:sp>
        <p:sp>
          <p:nvSpPr>
            <p:cNvPr id="72" name="Shape 61"/>
            <p:cNvSpPr/>
            <p:nvPr/>
          </p:nvSpPr>
          <p:spPr>
            <a:xfrm>
              <a:off x="6687007" y="5831129"/>
              <a:ext cx="4438498" cy="629107"/>
            </a:xfrm>
            <a:prstGeom prst="roundRect">
              <a:avLst>
                <a:gd name="adj" fmla="val 8809"/>
              </a:avLst>
            </a:prstGeom>
            <a:noFill/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73" name="Text 62"/>
            <p:cNvSpPr txBox="1"/>
            <p:nvPr/>
          </p:nvSpPr>
          <p:spPr>
            <a:xfrm>
              <a:off x="6772046" y="5945429"/>
              <a:ext cx="3229661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Course::create() → CourseCreated → SendEmailJob</a:t>
              </a:r>
              <a:endParaRPr lang="en-US" sz="1200" dirty="0"/>
            </a:p>
          </p:txBody>
        </p:sp>
        <p:sp>
          <p:nvSpPr>
            <p:cNvPr id="74" name="Text 63"/>
            <p:cNvSpPr txBox="1"/>
            <p:nvPr/>
          </p:nvSpPr>
          <p:spPr>
            <a:xfrm>
              <a:off x="10316261" y="7001562"/>
              <a:ext cx="1733702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8FAFC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EPS Backend Web Training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210605" y="-952805"/>
            <a:ext cx="4762195" cy="476219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09905" y="4000500"/>
            <a:ext cx="4286707" cy="4286707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61695" y="1390802"/>
            <a:ext cx="106683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761695" y="1686154"/>
            <a:ext cx="5191049" cy="4695444"/>
          </a:xfrm>
          <a:prstGeom prst="roundRect">
            <a:avLst>
              <a:gd name="adj" fmla="val 63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771754" y="1695298"/>
            <a:ext cx="5171846" cy="4288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771754" y="2115007"/>
            <a:ext cx="51718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961949" y="1836115"/>
            <a:ext cx="171907" cy="1335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52898" y="18553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Shape 9"/>
          <p:cNvSpPr/>
          <p:nvPr/>
        </p:nvSpPr>
        <p:spPr>
          <a:xfrm>
            <a:off x="5505602" y="18553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5658307" y="18553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1305763" y="2348179"/>
            <a:ext cx="9144" cy="3866998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Shape 12"/>
          <p:cNvSpPr/>
          <p:nvPr/>
        </p:nvSpPr>
        <p:spPr>
          <a:xfrm>
            <a:off x="6238951" y="1686154"/>
            <a:ext cx="5191049" cy="4695444"/>
          </a:xfrm>
          <a:prstGeom prst="roundRect">
            <a:avLst>
              <a:gd name="adj" fmla="val 63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Shape 13"/>
          <p:cNvSpPr/>
          <p:nvPr/>
        </p:nvSpPr>
        <p:spPr>
          <a:xfrm>
            <a:off x="6248095" y="1695298"/>
            <a:ext cx="5171846" cy="42885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Shape 14"/>
          <p:cNvSpPr/>
          <p:nvPr/>
        </p:nvSpPr>
        <p:spPr>
          <a:xfrm>
            <a:off x="6248095" y="2115007"/>
            <a:ext cx="51718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6439205" y="1836115"/>
            <a:ext cx="152705" cy="13350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830154" y="1855318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Shape 16"/>
          <p:cNvSpPr/>
          <p:nvPr/>
        </p:nvSpPr>
        <p:spPr>
          <a:xfrm>
            <a:off x="10981944" y="1855318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Shape 17"/>
          <p:cNvSpPr/>
          <p:nvPr/>
        </p:nvSpPr>
        <p:spPr>
          <a:xfrm>
            <a:off x="11134649" y="1855318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Shape 18"/>
          <p:cNvSpPr/>
          <p:nvPr/>
        </p:nvSpPr>
        <p:spPr>
          <a:xfrm>
            <a:off x="6476695" y="2763317"/>
            <a:ext cx="4714646" cy="400507"/>
          </a:xfrm>
          <a:prstGeom prst="roundRect">
            <a:avLst>
              <a:gd name="adj" fmla="val 32616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19"/>
          <p:cNvSpPr/>
          <p:nvPr/>
        </p:nvSpPr>
        <p:spPr>
          <a:xfrm>
            <a:off x="6476695" y="4743907"/>
            <a:ext cx="4714646" cy="590702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Shape 20"/>
          <p:cNvSpPr/>
          <p:nvPr/>
        </p:nvSpPr>
        <p:spPr>
          <a:xfrm>
            <a:off x="6476695" y="4743907"/>
            <a:ext cx="28346" cy="59070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48602" y="4975250"/>
            <a:ext cx="123444" cy="123444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476695" y="5521147"/>
            <a:ext cx="4714646" cy="390449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Shape 22"/>
          <p:cNvSpPr/>
          <p:nvPr/>
        </p:nvSpPr>
        <p:spPr>
          <a:xfrm>
            <a:off x="6476695" y="5521147"/>
            <a:ext cx="28346" cy="39044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6648602" y="5653735"/>
            <a:ext cx="105156" cy="1234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61695" y="457200"/>
            <a:ext cx="44961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Observer Pattern Example</a:t>
            </a:r>
            <a:endParaRPr lang="en-US" sz="2700" dirty="0"/>
          </a:p>
        </p:txBody>
      </p:sp>
      <p:sp>
        <p:nvSpPr>
          <p:cNvPr id="30" name="Text 24"/>
          <p:cNvSpPr txBox="1"/>
          <p:nvPr/>
        </p:nvSpPr>
        <p:spPr>
          <a:xfrm>
            <a:off x="761695" y="961949"/>
            <a:ext cx="48911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model events cleanly without cluttering controllers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1228954" y="1819656"/>
            <a:ext cx="24743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app/Observers/CourseObserver.php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1000354" y="235732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1000354" y="255574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000354" y="275325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1000354" y="295168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1000354" y="315010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1000354" y="334761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000354" y="354604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1000354" y="374446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000354" y="394197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1000354" y="414040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1000354" y="433791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900" dirty="0"/>
          </a:p>
        </p:txBody>
      </p:sp>
      <p:sp>
        <p:nvSpPr>
          <p:cNvPr id="43" name="Text 37"/>
          <p:cNvSpPr txBox="1"/>
          <p:nvPr/>
        </p:nvSpPr>
        <p:spPr>
          <a:xfrm>
            <a:off x="1000354" y="453633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1000354" y="4734763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1000354" y="4932274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1000354" y="5130698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1463040" y="2357323"/>
            <a:ext cx="4745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1835201" y="2357323"/>
            <a:ext cx="11411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CourseObserver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2874874" y="2357323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1615745" y="2545690"/>
            <a:ext cx="1571854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1" name="Text 45"/>
          <p:cNvSpPr txBox="1"/>
          <p:nvPr/>
        </p:nvSpPr>
        <p:spPr>
          <a:xfrm>
            <a:off x="1719986" y="2603297"/>
            <a:ext cx="14410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AFTER CREATION EVENT</a:t>
            </a:r>
            <a:endParaRPr lang="en-US" sz="800" dirty="0"/>
          </a:p>
        </p:txBody>
      </p:sp>
      <p:sp>
        <p:nvSpPr>
          <p:cNvPr id="52" name="Text 46"/>
          <p:cNvSpPr txBox="1"/>
          <p:nvPr/>
        </p:nvSpPr>
        <p:spPr>
          <a:xfrm>
            <a:off x="1615745" y="2894990"/>
            <a:ext cx="12170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function</a:t>
            </a:r>
            <a:endParaRPr lang="en-US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2730398" y="2894990"/>
            <a:ext cx="6172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created</a:t>
            </a:r>
            <a:endParaRPr lang="en-US" sz="900" dirty="0"/>
          </a:p>
        </p:txBody>
      </p:sp>
      <p:sp>
        <p:nvSpPr>
          <p:cNvPr id="54" name="Text 48"/>
          <p:cNvSpPr txBox="1"/>
          <p:nvPr/>
        </p:nvSpPr>
        <p:spPr>
          <a:xfrm>
            <a:off x="3250692" y="2894990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55" name="Text 49"/>
          <p:cNvSpPr txBox="1"/>
          <p:nvPr/>
        </p:nvSpPr>
        <p:spPr>
          <a:xfrm>
            <a:off x="3324758" y="2894990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</a:t>
            </a:r>
            <a:endParaRPr lang="en-US" sz="900" dirty="0"/>
          </a:p>
        </p:txBody>
      </p:sp>
      <p:sp>
        <p:nvSpPr>
          <p:cNvPr id="56" name="Text 50"/>
          <p:cNvSpPr txBox="1"/>
          <p:nvPr/>
        </p:nvSpPr>
        <p:spPr>
          <a:xfrm>
            <a:off x="3770986" y="2894990"/>
            <a:ext cx="6172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$course</a:t>
            </a:r>
            <a:endParaRPr lang="en-US" sz="900" dirty="0"/>
          </a:p>
        </p:txBody>
      </p:sp>
      <p:sp>
        <p:nvSpPr>
          <p:cNvPr id="57" name="Text 51"/>
          <p:cNvSpPr txBox="1"/>
          <p:nvPr/>
        </p:nvSpPr>
        <p:spPr>
          <a:xfrm>
            <a:off x="4290365" y="2894990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900" dirty="0"/>
          </a:p>
        </p:txBody>
      </p:sp>
      <p:sp>
        <p:nvSpPr>
          <p:cNvPr id="58" name="Text 52"/>
          <p:cNvSpPr txBox="1"/>
          <p:nvPr/>
        </p:nvSpPr>
        <p:spPr>
          <a:xfrm>
            <a:off x="4365346" y="2894990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900" dirty="0"/>
          </a:p>
        </p:txBody>
      </p:sp>
      <p:sp>
        <p:nvSpPr>
          <p:cNvPr id="59" name="Text 53"/>
          <p:cNvSpPr txBox="1"/>
          <p:nvPr/>
        </p:nvSpPr>
        <p:spPr>
          <a:xfrm>
            <a:off x="4439412" y="2894990"/>
            <a:ext cx="3977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</a:t>
            </a:r>
            <a:endParaRPr lang="en-US" sz="900" dirty="0"/>
          </a:p>
        </p:txBody>
      </p:sp>
      <p:sp>
        <p:nvSpPr>
          <p:cNvPr id="60" name="Text 54"/>
          <p:cNvSpPr txBox="1"/>
          <p:nvPr/>
        </p:nvSpPr>
        <p:spPr>
          <a:xfrm>
            <a:off x="4736592" y="2894990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00" dirty="0"/>
          </a:p>
        </p:txBody>
      </p:sp>
      <p:sp>
        <p:nvSpPr>
          <p:cNvPr id="61" name="Text 55"/>
          <p:cNvSpPr txBox="1"/>
          <p:nvPr/>
        </p:nvSpPr>
        <p:spPr>
          <a:xfrm>
            <a:off x="1615745" y="3092501"/>
            <a:ext cx="20272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Send email notification</a:t>
            </a:r>
            <a:endParaRPr lang="en-US" sz="900" dirty="0"/>
          </a:p>
        </p:txBody>
      </p:sp>
      <p:sp>
        <p:nvSpPr>
          <p:cNvPr id="62" name="Text 56"/>
          <p:cNvSpPr txBox="1"/>
          <p:nvPr/>
        </p:nvSpPr>
        <p:spPr>
          <a:xfrm>
            <a:off x="1615745" y="3290926"/>
            <a:ext cx="3977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Mail</a:t>
            </a:r>
            <a:endParaRPr lang="en-US" sz="900" dirty="0"/>
          </a:p>
        </p:txBody>
      </p:sp>
      <p:sp>
        <p:nvSpPr>
          <p:cNvPr id="63" name="Text 57"/>
          <p:cNvSpPr txBox="1"/>
          <p:nvPr/>
        </p:nvSpPr>
        <p:spPr>
          <a:xfrm>
            <a:off x="1912925" y="329092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900" dirty="0"/>
          </a:p>
        </p:txBody>
      </p:sp>
      <p:sp>
        <p:nvSpPr>
          <p:cNvPr id="64" name="Text 58"/>
          <p:cNvSpPr txBox="1"/>
          <p:nvPr/>
        </p:nvSpPr>
        <p:spPr>
          <a:xfrm>
            <a:off x="2061058" y="329092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</a:t>
            </a:r>
            <a:endParaRPr lang="en-US" sz="900" dirty="0"/>
          </a:p>
        </p:txBody>
      </p:sp>
      <p:sp>
        <p:nvSpPr>
          <p:cNvPr id="65" name="Text 59"/>
          <p:cNvSpPr txBox="1"/>
          <p:nvPr/>
        </p:nvSpPr>
        <p:spPr>
          <a:xfrm>
            <a:off x="2210105" y="329092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66" name="Text 60"/>
          <p:cNvSpPr txBox="1"/>
          <p:nvPr/>
        </p:nvSpPr>
        <p:spPr>
          <a:xfrm>
            <a:off x="2284171" y="3290926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</a:t>
            </a:r>
            <a:endParaRPr lang="en-US" sz="900" dirty="0"/>
          </a:p>
        </p:txBody>
      </p:sp>
      <p:sp>
        <p:nvSpPr>
          <p:cNvPr id="67" name="Text 61"/>
          <p:cNvSpPr txBox="1"/>
          <p:nvPr/>
        </p:nvSpPr>
        <p:spPr>
          <a:xfrm>
            <a:off x="2730398" y="329092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68" name="Text 62"/>
          <p:cNvSpPr txBox="1"/>
          <p:nvPr/>
        </p:nvSpPr>
        <p:spPr>
          <a:xfrm>
            <a:off x="2804465" y="3290926"/>
            <a:ext cx="9884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'mail.admin'</a:t>
            </a:r>
            <a:endParaRPr lang="en-US" sz="900" dirty="0"/>
          </a:p>
        </p:txBody>
      </p:sp>
      <p:sp>
        <p:nvSpPr>
          <p:cNvPr id="69" name="Text 63"/>
          <p:cNvSpPr txBox="1"/>
          <p:nvPr/>
        </p:nvSpPr>
        <p:spPr>
          <a:xfrm>
            <a:off x="3696005" y="329092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))</a:t>
            </a:r>
            <a:endParaRPr lang="en-US" sz="900" dirty="0"/>
          </a:p>
        </p:txBody>
      </p:sp>
      <p:sp>
        <p:nvSpPr>
          <p:cNvPr id="70" name="Text 64"/>
          <p:cNvSpPr txBox="1"/>
          <p:nvPr/>
        </p:nvSpPr>
        <p:spPr>
          <a:xfrm>
            <a:off x="1615745" y="348843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71" name="Text 65"/>
          <p:cNvSpPr txBox="1"/>
          <p:nvPr/>
        </p:nvSpPr>
        <p:spPr>
          <a:xfrm>
            <a:off x="1763878" y="3488436"/>
            <a:ext cx="3977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send</a:t>
            </a:r>
            <a:endParaRPr lang="en-US" sz="900" dirty="0"/>
          </a:p>
        </p:txBody>
      </p:sp>
      <p:sp>
        <p:nvSpPr>
          <p:cNvPr id="72" name="Text 66"/>
          <p:cNvSpPr txBox="1"/>
          <p:nvPr/>
        </p:nvSpPr>
        <p:spPr>
          <a:xfrm>
            <a:off x="2061058" y="348843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73" name="Text 67"/>
          <p:cNvSpPr txBox="1"/>
          <p:nvPr/>
        </p:nvSpPr>
        <p:spPr>
          <a:xfrm>
            <a:off x="2136038" y="3488436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endParaRPr lang="en-US" sz="900" dirty="0"/>
          </a:p>
        </p:txBody>
      </p:sp>
      <p:sp>
        <p:nvSpPr>
          <p:cNvPr id="74" name="Text 68"/>
          <p:cNvSpPr txBox="1"/>
          <p:nvPr/>
        </p:nvSpPr>
        <p:spPr>
          <a:xfrm>
            <a:off x="2359152" y="3488436"/>
            <a:ext cx="135971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CourseCreatedMail</a:t>
            </a:r>
            <a:endParaRPr lang="en-US" sz="900" dirty="0"/>
          </a:p>
        </p:txBody>
      </p:sp>
      <p:sp>
        <p:nvSpPr>
          <p:cNvPr id="75" name="Text 69"/>
          <p:cNvSpPr txBox="1"/>
          <p:nvPr/>
        </p:nvSpPr>
        <p:spPr>
          <a:xfrm>
            <a:off x="3621938" y="348843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76" name="Text 70"/>
          <p:cNvSpPr txBox="1"/>
          <p:nvPr/>
        </p:nvSpPr>
        <p:spPr>
          <a:xfrm>
            <a:off x="3696005" y="3488436"/>
            <a:ext cx="6172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$course</a:t>
            </a:r>
            <a:endParaRPr lang="en-US" sz="900" dirty="0"/>
          </a:p>
        </p:txBody>
      </p:sp>
      <p:sp>
        <p:nvSpPr>
          <p:cNvPr id="77" name="Text 71"/>
          <p:cNvSpPr txBox="1"/>
          <p:nvPr/>
        </p:nvSpPr>
        <p:spPr>
          <a:xfrm>
            <a:off x="4216298" y="3488436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));</a:t>
            </a:r>
            <a:endParaRPr lang="en-US" sz="900" dirty="0"/>
          </a:p>
        </p:txBody>
      </p:sp>
      <p:sp>
        <p:nvSpPr>
          <p:cNvPr id="78" name="Text 72"/>
          <p:cNvSpPr txBox="1"/>
          <p:nvPr/>
        </p:nvSpPr>
        <p:spPr>
          <a:xfrm>
            <a:off x="1615745" y="3885286"/>
            <a:ext cx="12170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Log activity</a:t>
            </a:r>
            <a:endParaRPr lang="en-US" sz="900" dirty="0"/>
          </a:p>
        </p:txBody>
      </p:sp>
      <p:sp>
        <p:nvSpPr>
          <p:cNvPr id="79" name="Text 73"/>
          <p:cNvSpPr txBox="1"/>
          <p:nvPr/>
        </p:nvSpPr>
        <p:spPr>
          <a:xfrm>
            <a:off x="1615745" y="4082796"/>
            <a:ext cx="6931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activity</a:t>
            </a:r>
            <a:endParaRPr lang="en-US" sz="900" dirty="0"/>
          </a:p>
        </p:txBody>
      </p:sp>
      <p:sp>
        <p:nvSpPr>
          <p:cNvPr id="80" name="Text 74"/>
          <p:cNvSpPr txBox="1"/>
          <p:nvPr/>
        </p:nvSpPr>
        <p:spPr>
          <a:xfrm>
            <a:off x="2210105" y="408279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900" dirty="0"/>
          </a:p>
        </p:txBody>
      </p:sp>
      <p:sp>
        <p:nvSpPr>
          <p:cNvPr id="81" name="Text 75"/>
          <p:cNvSpPr txBox="1"/>
          <p:nvPr/>
        </p:nvSpPr>
        <p:spPr>
          <a:xfrm>
            <a:off x="2358238" y="408279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82" name="Text 76"/>
          <p:cNvSpPr txBox="1"/>
          <p:nvPr/>
        </p:nvSpPr>
        <p:spPr>
          <a:xfrm>
            <a:off x="2507285" y="4082796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</a:t>
            </a:r>
            <a:endParaRPr lang="en-US" sz="900" dirty="0"/>
          </a:p>
        </p:txBody>
      </p:sp>
      <p:sp>
        <p:nvSpPr>
          <p:cNvPr id="83" name="Text 77"/>
          <p:cNvSpPr txBox="1"/>
          <p:nvPr/>
        </p:nvSpPr>
        <p:spPr>
          <a:xfrm>
            <a:off x="2730398" y="408279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84" name="Text 78"/>
          <p:cNvSpPr txBox="1"/>
          <p:nvPr/>
        </p:nvSpPr>
        <p:spPr>
          <a:xfrm>
            <a:off x="2804465" y="4082796"/>
            <a:ext cx="128381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'Course created'</a:t>
            </a:r>
            <a:endParaRPr lang="en-US" sz="900" dirty="0"/>
          </a:p>
        </p:txBody>
      </p:sp>
      <p:sp>
        <p:nvSpPr>
          <p:cNvPr id="85" name="Text 79"/>
          <p:cNvSpPr txBox="1"/>
          <p:nvPr/>
        </p:nvSpPr>
        <p:spPr>
          <a:xfrm>
            <a:off x="3993185" y="408279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900" dirty="0"/>
          </a:p>
        </p:txBody>
      </p:sp>
      <p:sp>
        <p:nvSpPr>
          <p:cNvPr id="86" name="Text 80"/>
          <p:cNvSpPr txBox="1"/>
          <p:nvPr/>
        </p:nvSpPr>
        <p:spPr>
          <a:xfrm>
            <a:off x="1615745" y="4281221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sp>
        <p:nvSpPr>
          <p:cNvPr id="87" name="Text 81"/>
          <p:cNvSpPr txBox="1"/>
          <p:nvPr/>
        </p:nvSpPr>
        <p:spPr>
          <a:xfrm>
            <a:off x="1615745" y="4631436"/>
            <a:ext cx="12170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function</a:t>
            </a:r>
            <a:endParaRPr lang="en-US" sz="900" dirty="0"/>
          </a:p>
        </p:txBody>
      </p:sp>
      <p:sp>
        <p:nvSpPr>
          <p:cNvPr id="88" name="Text 82"/>
          <p:cNvSpPr txBox="1"/>
          <p:nvPr/>
        </p:nvSpPr>
        <p:spPr>
          <a:xfrm>
            <a:off x="2730398" y="4631436"/>
            <a:ext cx="6172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updated</a:t>
            </a:r>
            <a:endParaRPr lang="en-US" sz="900" dirty="0"/>
          </a:p>
        </p:txBody>
      </p:sp>
      <p:sp>
        <p:nvSpPr>
          <p:cNvPr id="89" name="Text 83"/>
          <p:cNvSpPr txBox="1"/>
          <p:nvPr/>
        </p:nvSpPr>
        <p:spPr>
          <a:xfrm>
            <a:off x="3250692" y="463143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90" name="Text 84"/>
          <p:cNvSpPr txBox="1"/>
          <p:nvPr/>
        </p:nvSpPr>
        <p:spPr>
          <a:xfrm>
            <a:off x="3324758" y="4631436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</a:t>
            </a:r>
            <a:endParaRPr lang="en-US" sz="900" dirty="0"/>
          </a:p>
        </p:txBody>
      </p:sp>
      <p:sp>
        <p:nvSpPr>
          <p:cNvPr id="91" name="Text 85"/>
          <p:cNvSpPr txBox="1"/>
          <p:nvPr/>
        </p:nvSpPr>
        <p:spPr>
          <a:xfrm>
            <a:off x="3770986" y="4631436"/>
            <a:ext cx="6172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$course</a:t>
            </a:r>
            <a:endParaRPr lang="en-US" sz="900" dirty="0"/>
          </a:p>
        </p:txBody>
      </p:sp>
      <p:sp>
        <p:nvSpPr>
          <p:cNvPr id="92" name="Text 86"/>
          <p:cNvSpPr txBox="1"/>
          <p:nvPr/>
        </p:nvSpPr>
        <p:spPr>
          <a:xfrm>
            <a:off x="4290365" y="463143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900" dirty="0"/>
          </a:p>
        </p:txBody>
      </p:sp>
      <p:sp>
        <p:nvSpPr>
          <p:cNvPr id="93" name="Text 87"/>
          <p:cNvSpPr txBox="1"/>
          <p:nvPr/>
        </p:nvSpPr>
        <p:spPr>
          <a:xfrm>
            <a:off x="4365346" y="463143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900" dirty="0"/>
          </a:p>
        </p:txBody>
      </p:sp>
      <p:sp>
        <p:nvSpPr>
          <p:cNvPr id="94" name="Text 88"/>
          <p:cNvSpPr txBox="1"/>
          <p:nvPr/>
        </p:nvSpPr>
        <p:spPr>
          <a:xfrm>
            <a:off x="4439412" y="4631436"/>
            <a:ext cx="3977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</a:t>
            </a:r>
            <a:endParaRPr lang="en-US" sz="900" dirty="0"/>
          </a:p>
        </p:txBody>
      </p:sp>
      <p:sp>
        <p:nvSpPr>
          <p:cNvPr id="95" name="Text 89"/>
          <p:cNvSpPr txBox="1"/>
          <p:nvPr/>
        </p:nvSpPr>
        <p:spPr>
          <a:xfrm>
            <a:off x="4736592" y="463143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00" dirty="0"/>
          </a:p>
        </p:txBody>
      </p:sp>
      <p:sp>
        <p:nvSpPr>
          <p:cNvPr id="96" name="Text 90"/>
          <p:cNvSpPr txBox="1"/>
          <p:nvPr/>
        </p:nvSpPr>
        <p:spPr>
          <a:xfrm>
            <a:off x="1615745" y="4829861"/>
            <a:ext cx="6931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activity</a:t>
            </a:r>
            <a:endParaRPr lang="en-US" sz="900" dirty="0"/>
          </a:p>
        </p:txBody>
      </p:sp>
      <p:sp>
        <p:nvSpPr>
          <p:cNvPr id="97" name="Text 91"/>
          <p:cNvSpPr txBox="1"/>
          <p:nvPr/>
        </p:nvSpPr>
        <p:spPr>
          <a:xfrm>
            <a:off x="2210105" y="482986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900" dirty="0"/>
          </a:p>
        </p:txBody>
      </p:sp>
      <p:sp>
        <p:nvSpPr>
          <p:cNvPr id="98" name="Text 92"/>
          <p:cNvSpPr txBox="1"/>
          <p:nvPr/>
        </p:nvSpPr>
        <p:spPr>
          <a:xfrm>
            <a:off x="2358238" y="482986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99" name="Text 93"/>
          <p:cNvSpPr txBox="1"/>
          <p:nvPr/>
        </p:nvSpPr>
        <p:spPr>
          <a:xfrm>
            <a:off x="2507285" y="4829861"/>
            <a:ext cx="11411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withProperties</a:t>
            </a:r>
            <a:endParaRPr lang="en-US" sz="900" dirty="0"/>
          </a:p>
        </p:txBody>
      </p:sp>
      <p:sp>
        <p:nvSpPr>
          <p:cNvPr id="100" name="Text 94"/>
          <p:cNvSpPr txBox="1"/>
          <p:nvPr/>
        </p:nvSpPr>
        <p:spPr>
          <a:xfrm>
            <a:off x="3547872" y="4829861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01" name="Text 95"/>
          <p:cNvSpPr txBox="1"/>
          <p:nvPr/>
        </p:nvSpPr>
        <p:spPr>
          <a:xfrm>
            <a:off x="3621938" y="4829861"/>
            <a:ext cx="6172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$course</a:t>
            </a:r>
            <a:endParaRPr lang="en-US" sz="900" dirty="0"/>
          </a:p>
        </p:txBody>
      </p:sp>
      <p:sp>
        <p:nvSpPr>
          <p:cNvPr id="102" name="Text 96"/>
          <p:cNvSpPr txBox="1"/>
          <p:nvPr/>
        </p:nvSpPr>
        <p:spPr>
          <a:xfrm>
            <a:off x="4142232" y="482986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103" name="Text 97"/>
          <p:cNvSpPr txBox="1"/>
          <p:nvPr/>
        </p:nvSpPr>
        <p:spPr>
          <a:xfrm>
            <a:off x="4290365" y="4829861"/>
            <a:ext cx="8458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getChanges</a:t>
            </a:r>
            <a:endParaRPr lang="en-US" sz="900" dirty="0"/>
          </a:p>
        </p:txBody>
      </p:sp>
      <p:sp>
        <p:nvSpPr>
          <p:cNvPr id="104" name="Text 98"/>
          <p:cNvSpPr txBox="1"/>
          <p:nvPr/>
        </p:nvSpPr>
        <p:spPr>
          <a:xfrm>
            <a:off x="5033772" y="4829861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())</a:t>
            </a:r>
            <a:endParaRPr lang="en-US" sz="900" dirty="0"/>
          </a:p>
        </p:txBody>
      </p:sp>
      <p:sp>
        <p:nvSpPr>
          <p:cNvPr id="105" name="Text 99"/>
          <p:cNvSpPr txBox="1"/>
          <p:nvPr/>
        </p:nvSpPr>
        <p:spPr>
          <a:xfrm>
            <a:off x="1615745" y="502828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106" name="Text 100"/>
          <p:cNvSpPr txBox="1"/>
          <p:nvPr/>
        </p:nvSpPr>
        <p:spPr>
          <a:xfrm>
            <a:off x="1763878" y="5028286"/>
            <a:ext cx="3218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</a:t>
            </a:r>
            <a:endParaRPr lang="en-US" sz="900" dirty="0"/>
          </a:p>
        </p:txBody>
      </p:sp>
      <p:sp>
        <p:nvSpPr>
          <p:cNvPr id="107" name="Text 101"/>
          <p:cNvSpPr txBox="1"/>
          <p:nvPr/>
        </p:nvSpPr>
        <p:spPr>
          <a:xfrm>
            <a:off x="1986991" y="502828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08" name="Text 102"/>
          <p:cNvSpPr txBox="1"/>
          <p:nvPr/>
        </p:nvSpPr>
        <p:spPr>
          <a:xfrm>
            <a:off x="2061972" y="5028286"/>
            <a:ext cx="128381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'Course updated'</a:t>
            </a:r>
            <a:endParaRPr lang="en-US" sz="900" dirty="0"/>
          </a:p>
        </p:txBody>
      </p:sp>
      <p:sp>
        <p:nvSpPr>
          <p:cNvPr id="109" name="Text 103"/>
          <p:cNvSpPr txBox="1"/>
          <p:nvPr/>
        </p:nvSpPr>
        <p:spPr>
          <a:xfrm>
            <a:off x="3250692" y="502828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900" dirty="0"/>
          </a:p>
        </p:txBody>
      </p:sp>
      <p:sp>
        <p:nvSpPr>
          <p:cNvPr id="110" name="Text 104"/>
          <p:cNvSpPr txBox="1"/>
          <p:nvPr/>
        </p:nvSpPr>
        <p:spPr>
          <a:xfrm>
            <a:off x="1615745" y="5424221"/>
            <a:ext cx="11411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Clear cache</a:t>
            </a:r>
            <a:endParaRPr lang="en-US" sz="900" dirty="0"/>
          </a:p>
        </p:txBody>
      </p:sp>
      <p:sp>
        <p:nvSpPr>
          <p:cNvPr id="111" name="Text 105"/>
          <p:cNvSpPr txBox="1"/>
          <p:nvPr/>
        </p:nvSpPr>
        <p:spPr>
          <a:xfrm>
            <a:off x="1615745" y="5621731"/>
            <a:ext cx="4745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cache</a:t>
            </a:r>
            <a:endParaRPr lang="en-US" sz="900" dirty="0"/>
          </a:p>
        </p:txBody>
      </p:sp>
      <p:sp>
        <p:nvSpPr>
          <p:cNvPr id="112" name="Text 106"/>
          <p:cNvSpPr txBox="1"/>
          <p:nvPr/>
        </p:nvSpPr>
        <p:spPr>
          <a:xfrm>
            <a:off x="1986991" y="562173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900" dirty="0"/>
          </a:p>
        </p:txBody>
      </p:sp>
      <p:sp>
        <p:nvSpPr>
          <p:cNvPr id="113" name="Text 107"/>
          <p:cNvSpPr txBox="1"/>
          <p:nvPr/>
        </p:nvSpPr>
        <p:spPr>
          <a:xfrm>
            <a:off x="2136038" y="562173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114" name="Text 108"/>
          <p:cNvSpPr txBox="1"/>
          <p:nvPr/>
        </p:nvSpPr>
        <p:spPr>
          <a:xfrm>
            <a:off x="2284171" y="5621731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forget</a:t>
            </a:r>
            <a:endParaRPr lang="en-US" sz="900" dirty="0"/>
          </a:p>
        </p:txBody>
      </p:sp>
      <p:sp>
        <p:nvSpPr>
          <p:cNvPr id="115" name="Text 109"/>
          <p:cNvSpPr txBox="1"/>
          <p:nvPr/>
        </p:nvSpPr>
        <p:spPr>
          <a:xfrm>
            <a:off x="2730398" y="5621731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16" name="Text 110"/>
          <p:cNvSpPr txBox="1"/>
          <p:nvPr/>
        </p:nvSpPr>
        <p:spPr>
          <a:xfrm>
            <a:off x="2804465" y="5621731"/>
            <a:ext cx="7699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'course_'</a:t>
            </a:r>
            <a:endParaRPr lang="en-US" sz="900" dirty="0"/>
          </a:p>
        </p:txBody>
      </p:sp>
      <p:sp>
        <p:nvSpPr>
          <p:cNvPr id="117" name="Text 111"/>
          <p:cNvSpPr txBox="1"/>
          <p:nvPr/>
        </p:nvSpPr>
        <p:spPr>
          <a:xfrm>
            <a:off x="3473806" y="5621731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endParaRPr lang="en-US" sz="900" dirty="0"/>
          </a:p>
        </p:txBody>
      </p:sp>
      <p:sp>
        <p:nvSpPr>
          <p:cNvPr id="118" name="Text 112"/>
          <p:cNvSpPr txBox="1"/>
          <p:nvPr/>
        </p:nvSpPr>
        <p:spPr>
          <a:xfrm>
            <a:off x="3547872" y="5621731"/>
            <a:ext cx="6172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$course</a:t>
            </a:r>
            <a:endParaRPr lang="en-US" sz="900" dirty="0"/>
          </a:p>
        </p:txBody>
      </p:sp>
      <p:sp>
        <p:nvSpPr>
          <p:cNvPr id="119" name="Text 113"/>
          <p:cNvSpPr txBox="1"/>
          <p:nvPr/>
        </p:nvSpPr>
        <p:spPr>
          <a:xfrm>
            <a:off x="4068166" y="562173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120" name="Text 114"/>
          <p:cNvSpPr txBox="1"/>
          <p:nvPr/>
        </p:nvSpPr>
        <p:spPr>
          <a:xfrm>
            <a:off x="4216298" y="562173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endParaRPr lang="en-US" sz="900" dirty="0"/>
          </a:p>
        </p:txBody>
      </p:sp>
      <p:sp>
        <p:nvSpPr>
          <p:cNvPr id="121" name="Text 115"/>
          <p:cNvSpPr txBox="1"/>
          <p:nvPr/>
        </p:nvSpPr>
        <p:spPr>
          <a:xfrm>
            <a:off x="4365346" y="562173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900" dirty="0"/>
          </a:p>
        </p:txBody>
      </p:sp>
      <p:sp>
        <p:nvSpPr>
          <p:cNvPr id="122" name="Text 116"/>
          <p:cNvSpPr txBox="1"/>
          <p:nvPr/>
        </p:nvSpPr>
        <p:spPr>
          <a:xfrm>
            <a:off x="1615745" y="582015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sp>
        <p:nvSpPr>
          <p:cNvPr id="123" name="Text 117"/>
          <p:cNvSpPr txBox="1"/>
          <p:nvPr/>
        </p:nvSpPr>
        <p:spPr>
          <a:xfrm>
            <a:off x="1463040" y="6018581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sp>
        <p:nvSpPr>
          <p:cNvPr id="124" name="Text 118"/>
          <p:cNvSpPr txBox="1"/>
          <p:nvPr/>
        </p:nvSpPr>
        <p:spPr>
          <a:xfrm>
            <a:off x="6687007" y="1819656"/>
            <a:ext cx="158831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Setup &amp; Registration</a:t>
            </a:r>
            <a:endParaRPr lang="en-US" sz="900" dirty="0"/>
          </a:p>
        </p:txBody>
      </p:sp>
      <p:sp>
        <p:nvSpPr>
          <p:cNvPr id="125" name="Shape 119"/>
          <p:cNvSpPr/>
          <p:nvPr/>
        </p:nvSpPr>
        <p:spPr>
          <a:xfrm>
            <a:off x="6476695" y="2348179"/>
            <a:ext cx="1438351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6" name="Text 120"/>
          <p:cNvSpPr txBox="1"/>
          <p:nvPr/>
        </p:nvSpPr>
        <p:spPr>
          <a:xfrm>
            <a:off x="6581851" y="2404872"/>
            <a:ext cx="13075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CREATE OBSERVER</a:t>
            </a:r>
            <a:endParaRPr lang="en-US" sz="800" dirty="0"/>
          </a:p>
        </p:txBody>
      </p:sp>
      <p:sp>
        <p:nvSpPr>
          <p:cNvPr id="127" name="Text 121"/>
          <p:cNvSpPr txBox="1"/>
          <p:nvPr/>
        </p:nvSpPr>
        <p:spPr>
          <a:xfrm>
            <a:off x="6601054" y="2896819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➜</a:t>
            </a:r>
            <a:endParaRPr lang="en-US" sz="900" dirty="0"/>
          </a:p>
        </p:txBody>
      </p:sp>
      <p:sp>
        <p:nvSpPr>
          <p:cNvPr id="128" name="Text 122"/>
          <p:cNvSpPr txBox="1"/>
          <p:nvPr/>
        </p:nvSpPr>
        <p:spPr>
          <a:xfrm>
            <a:off x="6669634" y="2896819"/>
            <a:ext cx="2953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php</a:t>
            </a:r>
            <a:endParaRPr lang="en-US" sz="900" dirty="0"/>
          </a:p>
        </p:txBody>
      </p:sp>
      <p:sp>
        <p:nvSpPr>
          <p:cNvPr id="129" name="Text 123"/>
          <p:cNvSpPr txBox="1"/>
          <p:nvPr/>
        </p:nvSpPr>
        <p:spPr>
          <a:xfrm>
            <a:off x="6875374" y="2896819"/>
            <a:ext cx="3591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artisan make:observer CourseObserver --model=Course</a:t>
            </a:r>
            <a:endParaRPr lang="en-US" sz="900" dirty="0"/>
          </a:p>
        </p:txBody>
      </p:sp>
      <p:sp>
        <p:nvSpPr>
          <p:cNvPr id="130" name="Shape 124"/>
          <p:cNvSpPr/>
          <p:nvPr/>
        </p:nvSpPr>
        <p:spPr>
          <a:xfrm>
            <a:off x="6476695" y="3391510"/>
            <a:ext cx="2257654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1" name="Text 125"/>
          <p:cNvSpPr txBox="1"/>
          <p:nvPr/>
        </p:nvSpPr>
        <p:spPr>
          <a:xfrm>
            <a:off x="6581851" y="3449117"/>
            <a:ext cx="21268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REGISTER IN SERVICEPROVIDER</a:t>
            </a:r>
            <a:endParaRPr lang="en-US" sz="800" dirty="0"/>
          </a:p>
        </p:txBody>
      </p:sp>
      <p:sp>
        <p:nvSpPr>
          <p:cNvPr id="132" name="Text 126"/>
          <p:cNvSpPr txBox="1"/>
          <p:nvPr/>
        </p:nvSpPr>
        <p:spPr>
          <a:xfrm>
            <a:off x="6476695" y="3806647"/>
            <a:ext cx="2563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app/Providers/AppServiceProvider.php</a:t>
            </a:r>
            <a:endParaRPr lang="en-US" sz="900" dirty="0"/>
          </a:p>
        </p:txBody>
      </p:sp>
      <p:sp>
        <p:nvSpPr>
          <p:cNvPr id="133" name="Text 127"/>
          <p:cNvSpPr txBox="1"/>
          <p:nvPr/>
        </p:nvSpPr>
        <p:spPr>
          <a:xfrm>
            <a:off x="6476695" y="4006901"/>
            <a:ext cx="12170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function</a:t>
            </a:r>
            <a:endParaRPr lang="en-US" sz="900" dirty="0"/>
          </a:p>
        </p:txBody>
      </p:sp>
      <p:sp>
        <p:nvSpPr>
          <p:cNvPr id="134" name="Text 128"/>
          <p:cNvSpPr txBox="1"/>
          <p:nvPr/>
        </p:nvSpPr>
        <p:spPr>
          <a:xfrm>
            <a:off x="7591349" y="4006901"/>
            <a:ext cx="3977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boot</a:t>
            </a:r>
            <a:endParaRPr lang="en-US" sz="900" dirty="0"/>
          </a:p>
        </p:txBody>
      </p:sp>
      <p:sp>
        <p:nvSpPr>
          <p:cNvPr id="135" name="Text 129"/>
          <p:cNvSpPr txBox="1"/>
          <p:nvPr/>
        </p:nvSpPr>
        <p:spPr>
          <a:xfrm>
            <a:off x="7888529" y="4006901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900" dirty="0"/>
          </a:p>
        </p:txBody>
      </p:sp>
      <p:sp>
        <p:nvSpPr>
          <p:cNvPr id="136" name="Text 130"/>
          <p:cNvSpPr txBox="1"/>
          <p:nvPr/>
        </p:nvSpPr>
        <p:spPr>
          <a:xfrm>
            <a:off x="8037576" y="4006901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900" dirty="0"/>
          </a:p>
        </p:txBody>
      </p:sp>
      <p:sp>
        <p:nvSpPr>
          <p:cNvPr id="137" name="Text 131"/>
          <p:cNvSpPr txBox="1"/>
          <p:nvPr/>
        </p:nvSpPr>
        <p:spPr>
          <a:xfrm>
            <a:off x="8111642" y="4006901"/>
            <a:ext cx="3977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</a:t>
            </a:r>
            <a:endParaRPr lang="en-US" sz="900" dirty="0"/>
          </a:p>
        </p:txBody>
      </p:sp>
      <p:sp>
        <p:nvSpPr>
          <p:cNvPr id="138" name="Text 132"/>
          <p:cNvSpPr txBox="1"/>
          <p:nvPr/>
        </p:nvSpPr>
        <p:spPr>
          <a:xfrm>
            <a:off x="8408822" y="4006901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00" dirty="0"/>
          </a:p>
        </p:txBody>
      </p:sp>
      <p:sp>
        <p:nvSpPr>
          <p:cNvPr id="139" name="Text 133"/>
          <p:cNvSpPr txBox="1"/>
          <p:nvPr/>
        </p:nvSpPr>
        <p:spPr>
          <a:xfrm>
            <a:off x="6476695" y="4205326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</a:t>
            </a:r>
            <a:endParaRPr lang="en-US" sz="900" dirty="0"/>
          </a:p>
        </p:txBody>
      </p:sp>
      <p:sp>
        <p:nvSpPr>
          <p:cNvPr id="140" name="Text 134"/>
          <p:cNvSpPr txBox="1"/>
          <p:nvPr/>
        </p:nvSpPr>
        <p:spPr>
          <a:xfrm>
            <a:off x="6922922" y="420532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900" dirty="0"/>
          </a:p>
        </p:txBody>
      </p:sp>
      <p:sp>
        <p:nvSpPr>
          <p:cNvPr id="141" name="Text 135"/>
          <p:cNvSpPr txBox="1"/>
          <p:nvPr/>
        </p:nvSpPr>
        <p:spPr>
          <a:xfrm>
            <a:off x="7071970" y="4205326"/>
            <a:ext cx="6172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</a:t>
            </a:r>
            <a:endParaRPr lang="en-US" sz="900" dirty="0"/>
          </a:p>
        </p:txBody>
      </p:sp>
      <p:sp>
        <p:nvSpPr>
          <p:cNvPr id="142" name="Text 136"/>
          <p:cNvSpPr txBox="1"/>
          <p:nvPr/>
        </p:nvSpPr>
        <p:spPr>
          <a:xfrm>
            <a:off x="7591349" y="420532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143" name="Text 137"/>
          <p:cNvSpPr txBox="1"/>
          <p:nvPr/>
        </p:nvSpPr>
        <p:spPr>
          <a:xfrm>
            <a:off x="7666330" y="4205326"/>
            <a:ext cx="11411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CourseObserver</a:t>
            </a:r>
            <a:endParaRPr lang="en-US" sz="900" dirty="0"/>
          </a:p>
        </p:txBody>
      </p:sp>
      <p:sp>
        <p:nvSpPr>
          <p:cNvPr id="144" name="Text 138"/>
          <p:cNvSpPr txBox="1"/>
          <p:nvPr/>
        </p:nvSpPr>
        <p:spPr>
          <a:xfrm>
            <a:off x="8706002" y="4205326"/>
            <a:ext cx="245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900" dirty="0"/>
          </a:p>
        </p:txBody>
      </p:sp>
      <p:sp>
        <p:nvSpPr>
          <p:cNvPr id="145" name="Text 139"/>
          <p:cNvSpPr txBox="1"/>
          <p:nvPr/>
        </p:nvSpPr>
        <p:spPr>
          <a:xfrm>
            <a:off x="8855050" y="4205326"/>
            <a:ext cx="6172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class);</a:t>
            </a:r>
            <a:endParaRPr lang="en-US" sz="900" dirty="0"/>
          </a:p>
        </p:txBody>
      </p:sp>
      <p:sp>
        <p:nvSpPr>
          <p:cNvPr id="146" name="Text 140"/>
          <p:cNvSpPr txBox="1"/>
          <p:nvPr/>
        </p:nvSpPr>
        <p:spPr>
          <a:xfrm>
            <a:off x="6476695" y="4402836"/>
            <a:ext cx="1691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sp>
        <p:nvSpPr>
          <p:cNvPr id="147" name="Text 141"/>
          <p:cNvSpPr txBox="1"/>
          <p:nvPr/>
        </p:nvSpPr>
        <p:spPr>
          <a:xfrm>
            <a:off x="6848856" y="4849063"/>
            <a:ext cx="418886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Decouples side effects (mail, logging, cache) from your Business Logic.</a:t>
            </a:r>
            <a:endParaRPr lang="en-US" sz="900" dirty="0"/>
          </a:p>
        </p:txBody>
      </p:sp>
      <p:sp>
        <p:nvSpPr>
          <p:cNvPr id="148" name="Text 142"/>
          <p:cNvSpPr txBox="1"/>
          <p:nvPr/>
        </p:nvSpPr>
        <p:spPr>
          <a:xfrm>
            <a:off x="6829654" y="5626303"/>
            <a:ext cx="32177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Triggers automatically on Eloquent events.</a:t>
            </a:r>
            <a:endParaRPr lang="en-US" sz="900" dirty="0"/>
          </a:p>
        </p:txBody>
      </p:sp>
      <p:sp>
        <p:nvSpPr>
          <p:cNvPr id="149" name="Text 143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953098" y="-952805"/>
            <a:ext cx="5715000" cy="5715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-476402" y="3047695"/>
            <a:ext cx="4762195" cy="4762195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10394899" y="866851"/>
            <a:ext cx="1133856" cy="333756"/>
          </a:xfrm>
          <a:prstGeom prst="roundRect">
            <a:avLst>
              <a:gd name="adj" fmla="val 62622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2838" r="-2838"/>
          <a:stretch/>
        </p:blipFill>
        <p:spPr>
          <a:xfrm>
            <a:off x="10556748" y="966521"/>
            <a:ext cx="123444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757002" y="933602"/>
            <a:ext cx="7104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2.5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8270682" y="1781251"/>
            <a:ext cx="3295498" cy="3228746"/>
          </a:xfrm>
          <a:prstGeom prst="roundRect">
            <a:avLst>
              <a:gd name="adj" fmla="val 1002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08426" y="2057399"/>
            <a:ext cx="152705" cy="15270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737026" y="2018995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Objectives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270682" y="5234025"/>
            <a:ext cx="3295498" cy="1067105"/>
          </a:xfrm>
          <a:prstGeom prst="roundRect">
            <a:avLst>
              <a:gd name="adj" fmla="val 918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27"/>
          <p:cNvSpPr/>
          <p:nvPr/>
        </p:nvSpPr>
        <p:spPr>
          <a:xfrm>
            <a:off x="8508426" y="5814669"/>
            <a:ext cx="866851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28"/>
          <p:cNvSpPr/>
          <p:nvPr/>
        </p:nvSpPr>
        <p:spPr>
          <a:xfrm>
            <a:off x="9450258" y="5814669"/>
            <a:ext cx="666598" cy="247802"/>
          </a:xfrm>
          <a:prstGeom prst="roundRect">
            <a:avLst>
              <a:gd name="adj" fmla="val 56770"/>
            </a:avLst>
          </a:prstGeom>
          <a:solidFill>
            <a:srgbClr val="1E3A8A">
              <a:alpha val="5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29"/>
          <p:cNvSpPr/>
          <p:nvPr/>
        </p:nvSpPr>
        <p:spPr>
          <a:xfrm>
            <a:off x="10185436" y="5814669"/>
            <a:ext cx="599846" cy="247802"/>
          </a:xfrm>
          <a:prstGeom prst="roundRect">
            <a:avLst>
              <a:gd name="adj" fmla="val 56770"/>
            </a:avLst>
          </a:prstGeom>
          <a:solidFill>
            <a:srgbClr val="312E81">
              <a:alpha val="5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0"/>
          <p:cNvSpPr txBox="1"/>
          <p:nvPr/>
        </p:nvSpPr>
        <p:spPr>
          <a:xfrm>
            <a:off x="666598" y="457200"/>
            <a:ext cx="43918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2.5: Observer Pattern</a:t>
            </a:r>
            <a:endParaRPr lang="en-US" sz="2700" dirty="0"/>
          </a:p>
        </p:txBody>
      </p:sp>
      <p:sp>
        <p:nvSpPr>
          <p:cNvPr id="37" name="Text 31"/>
          <p:cNvSpPr txBox="1"/>
          <p:nvPr/>
        </p:nvSpPr>
        <p:spPr>
          <a:xfrm>
            <a:off x="666598" y="961949"/>
            <a:ext cx="37005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Decoupling Side Effects from Business Logic</a:t>
            </a:r>
            <a:endParaRPr lang="en-US" sz="130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A301F0A-76F6-1598-9651-3A0814FFD6B7}"/>
              </a:ext>
            </a:extLst>
          </p:cNvPr>
          <p:cNvGrpSpPr/>
          <p:nvPr/>
        </p:nvGrpSpPr>
        <p:grpSpPr>
          <a:xfrm>
            <a:off x="666598" y="1781251"/>
            <a:ext cx="7181698" cy="4519879"/>
            <a:chOff x="666598" y="1781251"/>
            <a:chExt cx="7181698" cy="5905195"/>
          </a:xfrm>
        </p:grpSpPr>
        <p:sp>
          <p:nvSpPr>
            <p:cNvPr id="10" name="Shape 7"/>
            <p:cNvSpPr/>
            <p:nvPr/>
          </p:nvSpPr>
          <p:spPr>
            <a:xfrm>
              <a:off x="666598" y="1781251"/>
              <a:ext cx="7181698" cy="5905195"/>
            </a:xfrm>
            <a:prstGeom prst="roundRect">
              <a:avLst>
                <a:gd name="adj" fmla="val 400"/>
              </a:avLst>
            </a:prstGeom>
            <a:solidFill>
              <a:srgbClr val="1E293B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961949" y="2119579"/>
              <a:ext cx="171907" cy="171907"/>
            </a:xfrm>
            <a:prstGeom prst="rect">
              <a:avLst/>
            </a:prstGeom>
          </p:spPr>
        </p:pic>
        <p:sp>
          <p:nvSpPr>
            <p:cNvPr id="12" name="Shape 8"/>
            <p:cNvSpPr/>
            <p:nvPr/>
          </p:nvSpPr>
          <p:spPr>
            <a:xfrm>
              <a:off x="961949" y="2562149"/>
              <a:ext cx="6590995" cy="552298"/>
            </a:xfrm>
            <a:prstGeom prst="roundRect">
              <a:avLst>
                <a:gd name="adj" fmla="val 28545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Text 9"/>
            <p:cNvSpPr txBox="1"/>
            <p:nvPr/>
          </p:nvSpPr>
          <p:spPr>
            <a:xfrm>
              <a:off x="1123798" y="2723998"/>
              <a:ext cx="399135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Generate CourseObserver class for the Course model</a:t>
              </a:r>
              <a:endParaRPr lang="en-US" sz="120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961949" y="3267151"/>
              <a:ext cx="6590995" cy="552298"/>
            </a:xfrm>
            <a:prstGeom prst="roundRect">
              <a:avLst>
                <a:gd name="adj" fmla="val 28545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Text 11"/>
            <p:cNvSpPr txBox="1"/>
            <p:nvPr/>
          </p:nvSpPr>
          <p:spPr>
            <a:xfrm>
              <a:off x="1123798" y="3429000"/>
              <a:ext cx="43251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Implement automatic email notifications on 'created' event</a:t>
              </a:r>
              <a:endParaRPr lang="en-US" sz="1200" dirty="0"/>
            </a:p>
          </p:txBody>
        </p:sp>
        <p:sp>
          <p:nvSpPr>
            <p:cNvPr id="16" name="Shape 12"/>
            <p:cNvSpPr/>
            <p:nvPr/>
          </p:nvSpPr>
          <p:spPr>
            <a:xfrm>
              <a:off x="961949" y="3972154"/>
              <a:ext cx="6590995" cy="552298"/>
            </a:xfrm>
            <a:prstGeom prst="roundRect">
              <a:avLst>
                <a:gd name="adj" fmla="val 28545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Text 13"/>
            <p:cNvSpPr txBox="1"/>
            <p:nvPr/>
          </p:nvSpPr>
          <p:spPr>
            <a:xfrm>
              <a:off x="1123798" y="4134002"/>
              <a:ext cx="32964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Add activity logging logic to 'updated' event</a:t>
              </a:r>
              <a:endParaRPr lang="en-US" sz="1200" dirty="0"/>
            </a:p>
          </p:txBody>
        </p:sp>
        <p:sp>
          <p:nvSpPr>
            <p:cNvPr id="18" name="Shape 14"/>
            <p:cNvSpPr/>
            <p:nvPr/>
          </p:nvSpPr>
          <p:spPr>
            <a:xfrm>
              <a:off x="961949" y="4677156"/>
              <a:ext cx="6590995" cy="552298"/>
            </a:xfrm>
            <a:prstGeom prst="roundRect">
              <a:avLst>
                <a:gd name="adj" fmla="val 28545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Text 15"/>
            <p:cNvSpPr txBox="1"/>
            <p:nvPr/>
          </p:nvSpPr>
          <p:spPr>
            <a:xfrm>
              <a:off x="1123798" y="4839005"/>
              <a:ext cx="284835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Implement cache invalidation strategy</a:t>
              </a:r>
              <a:endParaRPr lang="en-US" sz="120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961949" y="5381244"/>
              <a:ext cx="6590995" cy="571500"/>
            </a:xfrm>
            <a:prstGeom prst="roundRect">
              <a:avLst>
                <a:gd name="adj" fmla="val 26667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Shape 17"/>
            <p:cNvSpPr/>
            <p:nvPr/>
          </p:nvSpPr>
          <p:spPr>
            <a:xfrm>
              <a:off x="1123798" y="5562295"/>
              <a:ext cx="228600" cy="228600"/>
            </a:xfrm>
            <a:prstGeom prst="roundRect">
              <a:avLst>
                <a:gd name="adj" fmla="val 100000"/>
              </a:avLst>
            </a:prstGeom>
            <a:noFill/>
            <a:ln w="254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Shape 18"/>
            <p:cNvSpPr/>
            <p:nvPr/>
          </p:nvSpPr>
          <p:spPr>
            <a:xfrm>
              <a:off x="961949" y="6105449"/>
              <a:ext cx="6590995" cy="552298"/>
            </a:xfrm>
            <a:prstGeom prst="roundRect">
              <a:avLst>
                <a:gd name="adj" fmla="val 28545"/>
              </a:avLst>
            </a:prstGeom>
            <a:solidFill>
              <a:srgbClr val="0F172A">
                <a:alpha val="40000"/>
              </a:srgbClr>
            </a:solidFill>
            <a:ln w="12700">
              <a:solidFill>
                <a:srgbClr val="94A3B8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Text 19"/>
            <p:cNvSpPr txBox="1"/>
            <p:nvPr/>
          </p:nvSpPr>
          <p:spPr>
            <a:xfrm>
              <a:off x="1123798" y="6267298"/>
              <a:ext cx="433425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8FAF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Register Observer in EventServiceProvider or boot method</a:t>
              </a:r>
              <a:endParaRPr lang="en-US" sz="1200" dirty="0"/>
            </a:p>
          </p:txBody>
        </p:sp>
        <p:sp>
          <p:nvSpPr>
            <p:cNvPr id="24" name="Shape 20"/>
            <p:cNvSpPr/>
            <p:nvPr/>
          </p:nvSpPr>
          <p:spPr>
            <a:xfrm>
              <a:off x="961949" y="6810451"/>
              <a:ext cx="6590995" cy="694944"/>
            </a:xfrm>
            <a:prstGeom prst="roundRect">
              <a:avLst>
                <a:gd name="adj" fmla="val 14420"/>
              </a:avLst>
            </a:prstGeom>
            <a:solidFill>
              <a:srgbClr val="3B82F6">
                <a:alpha val="5000"/>
              </a:srgbClr>
            </a:solidFill>
            <a:ln w="12700">
              <a:solidFill>
                <a:srgbClr val="3B82F6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Text 21"/>
            <p:cNvSpPr txBox="1"/>
            <p:nvPr/>
          </p:nvSpPr>
          <p:spPr>
            <a:xfrm>
              <a:off x="1123798" y="6972300"/>
              <a:ext cx="6360566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3C5FD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Tip: Observers keep controllers clean by moving side-effects (like emails and logs) out of the main request lifecycle.</a:t>
              </a:r>
              <a:endParaRPr lang="en-US" sz="900" dirty="0"/>
            </a:p>
          </p:txBody>
        </p:sp>
        <p:sp>
          <p:nvSpPr>
            <p:cNvPr id="38" name="Text 32"/>
            <p:cNvSpPr txBox="1"/>
            <p:nvPr/>
          </p:nvSpPr>
          <p:spPr>
            <a:xfrm>
              <a:off x="1228954" y="2104949"/>
              <a:ext cx="1433779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Tasks Checklist</a:t>
              </a:r>
              <a:endParaRPr lang="en-US" sz="1300" dirty="0"/>
            </a:p>
          </p:txBody>
        </p:sp>
        <p:sp>
          <p:nvSpPr>
            <p:cNvPr id="39" name="Text 33"/>
            <p:cNvSpPr txBox="1"/>
            <p:nvPr/>
          </p:nvSpPr>
          <p:spPr>
            <a:xfrm>
              <a:off x="1505102" y="5562295"/>
              <a:ext cx="347746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2E8F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Handle related data cleanup on 'deleted' event</a:t>
              </a:r>
              <a:endParaRPr lang="en-US" sz="1200" dirty="0"/>
            </a:p>
          </p:txBody>
        </p:sp>
      </p:grpSp>
      <p:sp>
        <p:nvSpPr>
          <p:cNvPr id="42" name="Text 36"/>
          <p:cNvSpPr txBox="1"/>
          <p:nvPr/>
        </p:nvSpPr>
        <p:spPr>
          <a:xfrm>
            <a:off x="8508426" y="5480913"/>
            <a:ext cx="1014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8632784" y="5872276"/>
            <a:ext cx="7050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Observers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9573702" y="5872276"/>
            <a:ext cx="5056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Events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10308880" y="5872276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Cache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8699536" y="2381097"/>
            <a:ext cx="21963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Decoupling logic from controllers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8699536" y="2676448"/>
            <a:ext cx="1700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Event-driven architecture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8699536" y="2971799"/>
            <a:ext cx="20336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Managing side-effects cleaner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10306675" y="6648941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3771900" y="-952805"/>
            <a:ext cx="4762195" cy="4762195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09905" y="4000500"/>
            <a:ext cx="4286707" cy="4286707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9334195" y="1371600"/>
            <a:ext cx="3810305" cy="3810305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666598" y="6238951"/>
            <a:ext cx="10858500" cy="485546"/>
          </a:xfrm>
          <a:prstGeom prst="roundRect">
            <a:avLst>
              <a:gd name="adj" fmla="val 29541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866851" y="6362395"/>
            <a:ext cx="599846" cy="237744"/>
          </a:xfrm>
          <a:prstGeom prst="roundRect">
            <a:avLst>
              <a:gd name="adj" fmla="val 61538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666598" y="457200"/>
            <a:ext cx="42291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Practices Summary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666598" y="961949"/>
            <a:ext cx="41486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 for Production-Ready Applications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42746" y="6409944"/>
            <a:ext cx="5266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TIP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580083" y="6396228"/>
            <a:ext cx="64748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 is key. A slightly imperfect pattern applied consistently is better than a mix of "perfect" patterns.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6598" y="1781251"/>
            <a:ext cx="3419856" cy="4229100"/>
          </a:xfrm>
          <a:prstGeom prst="roundRect">
            <a:avLst>
              <a:gd name="adj" fmla="val 1192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676656" y="3324758"/>
            <a:ext cx="3400654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2070202" y="2048256"/>
            <a:ext cx="609905" cy="609905"/>
          </a:xfrm>
          <a:prstGeom prst="roundRect">
            <a:avLst>
              <a:gd name="adj" fmla="val 37481"/>
            </a:avLst>
          </a:prstGeom>
          <a:solidFill>
            <a:srgbClr val="3B82F6">
              <a:alpha val="1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 l="-685" r="-685"/>
          <a:stretch/>
        </p:blipFill>
        <p:spPr>
          <a:xfrm>
            <a:off x="2222906" y="2219249"/>
            <a:ext cx="304495" cy="26700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507846" y="2838298"/>
            <a:ext cx="1886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Organization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3562502"/>
            <a:ext cx="3057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 Controllers, Fat Services Keep controllers focused on HTTP transport; move logic to services.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" y="4438498"/>
            <a:ext cx="3057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Separation of Concerns Decouple business rules from Eloquent models and views.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05256" y="5315407"/>
            <a:ext cx="305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 Follow PSR-12 standards and meaningful naming conventions.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88206" y="1781251"/>
            <a:ext cx="3419856" cy="4229100"/>
          </a:xfrm>
          <a:prstGeom prst="roundRect">
            <a:avLst>
              <a:gd name="adj" fmla="val 1192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20"/>
          <p:cNvSpPr/>
          <p:nvPr/>
        </p:nvSpPr>
        <p:spPr>
          <a:xfrm>
            <a:off x="4397350" y="3324758"/>
            <a:ext cx="3400654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Shape 21"/>
          <p:cNvSpPr/>
          <p:nvPr/>
        </p:nvSpPr>
        <p:spPr>
          <a:xfrm>
            <a:off x="5790895" y="2048256"/>
            <a:ext cx="609905" cy="609905"/>
          </a:xfrm>
          <a:prstGeom prst="roundRect">
            <a:avLst>
              <a:gd name="adj" fmla="val 37481"/>
            </a:avLst>
          </a:prstGeom>
          <a:solidFill>
            <a:srgbClr val="F59E0B">
              <a:alpha val="1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881" r="-881"/>
          <a:stretch/>
        </p:blipFill>
        <p:spPr>
          <a:xfrm>
            <a:off x="5976518" y="2219249"/>
            <a:ext cx="237744" cy="267005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308092" y="2838298"/>
            <a:ext cx="1724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Design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4625950" y="3562502"/>
            <a:ext cx="3057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Migrations &amp; Seeds Always use migrations for schema changes; never modify DB manually.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4625950" y="4438498"/>
            <a:ext cx="3057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Indexing Add indexes to foreign keys and columns used in WHERE clauses.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4625950" y="5315407"/>
            <a:ext cx="305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Trails Use soft deletes and audit logging for critical data integrity.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8108899" y="1781251"/>
            <a:ext cx="3419856" cy="4229100"/>
          </a:xfrm>
          <a:prstGeom prst="roundRect">
            <a:avLst>
              <a:gd name="adj" fmla="val 1192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7"/>
          <p:cNvSpPr/>
          <p:nvPr/>
        </p:nvSpPr>
        <p:spPr>
          <a:xfrm>
            <a:off x="8118043" y="3324758"/>
            <a:ext cx="3400654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Shape 28"/>
          <p:cNvSpPr/>
          <p:nvPr/>
        </p:nvSpPr>
        <p:spPr>
          <a:xfrm>
            <a:off x="9512503" y="2048256"/>
            <a:ext cx="609905" cy="609905"/>
          </a:xfrm>
          <a:prstGeom prst="roundRect">
            <a:avLst>
              <a:gd name="adj" fmla="val 37481"/>
            </a:avLst>
          </a:prstGeom>
          <a:solidFill>
            <a:srgbClr val="10B981">
              <a:alpha val="1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83496" y="2219249"/>
            <a:ext cx="267005" cy="267005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9210751" y="2838298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8346643" y="3562502"/>
            <a:ext cx="305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Eager Loading Eliminate N+1 query issues by loading relationships upfront.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8346643" y="4209898"/>
            <a:ext cx="3057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Caching Strategy Cache expensive queries and computed results using Redis tags.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8346643" y="5086807"/>
            <a:ext cx="3057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Optimization Select only necessary columns and use aggregate functions.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3771900" y="-952805"/>
            <a:ext cx="4762195" cy="4762195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09905" y="4000500"/>
            <a:ext cx="4286707" cy="4286707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9334195" y="1371600"/>
            <a:ext cx="3810305" cy="3810305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666598" y="6010351"/>
            <a:ext cx="10858500" cy="485546"/>
          </a:xfrm>
          <a:prstGeom prst="roundRect">
            <a:avLst>
              <a:gd name="adj" fmla="val 29541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866851" y="6133795"/>
            <a:ext cx="599846" cy="237744"/>
          </a:xfrm>
          <a:prstGeom prst="roundRect">
            <a:avLst>
              <a:gd name="adj" fmla="val 61538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666598" y="457200"/>
            <a:ext cx="40297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Best Practices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666598" y="961949"/>
            <a:ext cx="48252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Measures for Securing EPS Backend Applications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42746" y="6181344"/>
            <a:ext cx="5266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TIP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580083" y="6167628"/>
            <a:ext cx="54269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is not a feature, it's a mindset. Always assume input is malicious until proven valid.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6598" y="1781251"/>
            <a:ext cx="3419856" cy="4000500"/>
          </a:xfrm>
          <a:prstGeom prst="roundRect">
            <a:avLst>
              <a:gd name="adj" fmla="val 1192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676656" y="3324758"/>
            <a:ext cx="3400654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2070202" y="2048256"/>
            <a:ext cx="609905" cy="609905"/>
          </a:xfrm>
          <a:prstGeom prst="roundRect">
            <a:avLst>
              <a:gd name="adj" fmla="val 37481"/>
            </a:avLst>
          </a:prstGeom>
          <a:solidFill>
            <a:srgbClr val="3B82F6">
              <a:alpha val="1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 l="-685" r="-685"/>
          <a:stretch/>
        </p:blipFill>
        <p:spPr>
          <a:xfrm>
            <a:off x="2222906" y="2219249"/>
            <a:ext cx="304495" cy="26700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810512" y="2838298"/>
            <a:ext cx="1276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&amp; Data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3562502"/>
            <a:ext cx="3057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Input Always use Form Requests to validate incoming data structure.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" y="4438498"/>
            <a:ext cx="305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Sanitize Data Sanitize user input to remove potentially malicious content.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05256" y="5086807"/>
            <a:ext cx="305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Escape Output Prevent XSS by escaping data before rendering in views.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88206" y="1781251"/>
            <a:ext cx="3419856" cy="4000500"/>
          </a:xfrm>
          <a:prstGeom prst="roundRect">
            <a:avLst>
              <a:gd name="adj" fmla="val 1192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20"/>
          <p:cNvSpPr/>
          <p:nvPr/>
        </p:nvSpPr>
        <p:spPr>
          <a:xfrm>
            <a:off x="4397350" y="3324758"/>
            <a:ext cx="3400654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Shape 21"/>
          <p:cNvSpPr/>
          <p:nvPr/>
        </p:nvSpPr>
        <p:spPr>
          <a:xfrm>
            <a:off x="5790895" y="2048256"/>
            <a:ext cx="609905" cy="609905"/>
          </a:xfrm>
          <a:prstGeom prst="roundRect">
            <a:avLst>
              <a:gd name="adj" fmla="val 37481"/>
            </a:avLst>
          </a:prstGeom>
          <a:solidFill>
            <a:srgbClr val="F59E0B">
              <a:alpha val="1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28970" y="2219249"/>
            <a:ext cx="333756" cy="267005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384902" y="2838298"/>
            <a:ext cx="1571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Control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4625950" y="3562502"/>
            <a:ext cx="305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Classes Centralize authorization logic using Laravel Policies.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4625950" y="4209898"/>
            <a:ext cx="305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CSRF Protection Ensure all web routes are protected with CSRF tokens.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4625950" y="4858207"/>
            <a:ext cx="305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 Hashing Never store plaintext passwords; use Bcrypt or Argon2.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8108899" y="1781251"/>
            <a:ext cx="3419856" cy="4000500"/>
          </a:xfrm>
          <a:prstGeom prst="roundRect">
            <a:avLst>
              <a:gd name="adj" fmla="val 1192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7"/>
          <p:cNvSpPr/>
          <p:nvPr/>
        </p:nvSpPr>
        <p:spPr>
          <a:xfrm>
            <a:off x="8118043" y="3324758"/>
            <a:ext cx="3400654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Shape 28"/>
          <p:cNvSpPr/>
          <p:nvPr/>
        </p:nvSpPr>
        <p:spPr>
          <a:xfrm>
            <a:off x="9512503" y="2048256"/>
            <a:ext cx="609905" cy="609905"/>
          </a:xfrm>
          <a:prstGeom prst="roundRect">
            <a:avLst>
              <a:gd name="adj" fmla="val 37481"/>
            </a:avLst>
          </a:prstGeom>
          <a:solidFill>
            <a:srgbClr val="EF4444">
              <a:alpha val="1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83496" y="2219249"/>
            <a:ext cx="267005" cy="267005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9170518" y="2838298"/>
            <a:ext cx="1438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8346643" y="3562502"/>
            <a:ext cx="305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 Only Enforce HTTPS in production to encrypt data in transit.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8346643" y="4209898"/>
            <a:ext cx="305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Limiting Implement rate limiting to prevent brute force and abuse.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8346643" y="4858207"/>
            <a:ext cx="305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Injection Use Eloquent/Bindings to automatically prevent SQL injection.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1218895" y="-952805"/>
            <a:ext cx="4762195" cy="4762195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210605" y="3047695"/>
            <a:ext cx="4762195" cy="4762195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66598" y="1628546"/>
            <a:ext cx="5277002" cy="4162349"/>
          </a:xfrm>
          <a:prstGeom prst="roundRect">
            <a:avLst>
              <a:gd name="adj" fmla="val 804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676656" y="2524658"/>
            <a:ext cx="5257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905256" y="1864462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0EA5E9">
              <a:alpha val="1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7844" y="1997964"/>
            <a:ext cx="190195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05256" y="2757830"/>
            <a:ext cx="2469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Model Scopes &amp; Relationships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05256" y="3105302"/>
            <a:ext cx="24789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Service Layer business logic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05256" y="3464662"/>
            <a:ext cx="190195" cy="190195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957377" y="3512210"/>
            <a:ext cx="85954" cy="9509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05256" y="4028846"/>
            <a:ext cx="4800600" cy="1524305"/>
          </a:xfrm>
          <a:prstGeom prst="roundRect">
            <a:avLst>
              <a:gd name="adj" fmla="val 299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2"/>
          <p:cNvSpPr/>
          <p:nvPr/>
        </p:nvSpPr>
        <p:spPr>
          <a:xfrm>
            <a:off x="6248095" y="1628546"/>
            <a:ext cx="5277002" cy="4162349"/>
          </a:xfrm>
          <a:prstGeom prst="roundRect">
            <a:avLst>
              <a:gd name="adj" fmla="val 804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3"/>
          <p:cNvSpPr/>
          <p:nvPr/>
        </p:nvSpPr>
        <p:spPr>
          <a:xfrm>
            <a:off x="6258154" y="2524658"/>
            <a:ext cx="52578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Shape 14"/>
          <p:cNvSpPr/>
          <p:nvPr/>
        </p:nvSpPr>
        <p:spPr>
          <a:xfrm>
            <a:off x="6486754" y="1864462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10B981">
              <a:alpha val="1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20256" y="1997964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86754" y="2757830"/>
            <a:ext cx="34600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full API Endpoints (HTTP Request/Response)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486754" y="3105302"/>
            <a:ext cx="23271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Middleware &amp; Permissions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86754" y="3464662"/>
            <a:ext cx="190195" cy="190195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6538874" y="3512210"/>
            <a:ext cx="85954" cy="9509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486754" y="3857854"/>
            <a:ext cx="4800600" cy="1695298"/>
          </a:xfrm>
          <a:prstGeom prst="roundRect">
            <a:avLst>
              <a:gd name="adj" fmla="val 242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19"/>
          <p:cNvSpPr/>
          <p:nvPr/>
        </p:nvSpPr>
        <p:spPr>
          <a:xfrm>
            <a:off x="666598" y="6019495"/>
            <a:ext cx="10858500" cy="1037844"/>
          </a:xfrm>
          <a:prstGeom prst="roundRect">
            <a:avLst>
              <a:gd name="adj" fmla="val 970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Shape 20"/>
          <p:cNvSpPr/>
          <p:nvPr/>
        </p:nvSpPr>
        <p:spPr>
          <a:xfrm>
            <a:off x="2447849" y="6219749"/>
            <a:ext cx="4286707" cy="638251"/>
          </a:xfrm>
          <a:prstGeom prst="roundRect">
            <a:avLst>
              <a:gd name="adj" fmla="val 17106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2609698" y="6443777"/>
            <a:ext cx="219456" cy="19019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7039051" y="6219749"/>
            <a:ext cx="4286707" cy="638251"/>
          </a:xfrm>
          <a:prstGeom prst="roundRect">
            <a:avLst>
              <a:gd name="adj" fmla="val 17106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7200900" y="6443777"/>
            <a:ext cx="171907" cy="19019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66598" y="457200"/>
            <a:ext cx="31437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Approach</a:t>
            </a:r>
            <a:endParaRPr lang="en-US" sz="2700" dirty="0"/>
          </a:p>
        </p:txBody>
      </p:sp>
      <p:sp>
        <p:nvSpPr>
          <p:cNvPr id="31" name="Text 23"/>
          <p:cNvSpPr txBox="1"/>
          <p:nvPr/>
        </p:nvSpPr>
        <p:spPr>
          <a:xfrm>
            <a:off x="666598" y="961949"/>
            <a:ext cx="3272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Reliability with PHPUnit &amp; Pest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514246" y="1886407"/>
            <a:ext cx="1077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Tests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1514246" y="2152498"/>
            <a:ext cx="12170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Logic Isolation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1209751" y="3461918"/>
            <a:ext cx="222199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individual helper functions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1067105" y="4200754"/>
            <a:ext cx="11247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function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2095805" y="4200754"/>
            <a:ext cx="15343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test_course_is_active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3535985" y="4200754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{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1067105" y="437174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$course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547165" y="437174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615745" y="4371746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Course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2027225" y="4371746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2164385" y="437174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factory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2644445" y="4371746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()-&gt;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2918765" y="4371746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3330245" y="4371746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([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1067105" y="4543654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'status'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1615745" y="4543654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endParaRPr lang="en-US" sz="900" dirty="0"/>
          </a:p>
        </p:txBody>
      </p:sp>
      <p:sp>
        <p:nvSpPr>
          <p:cNvPr id="48" name="Text 40"/>
          <p:cNvSpPr txBox="1"/>
          <p:nvPr/>
        </p:nvSpPr>
        <p:spPr>
          <a:xfrm>
            <a:off x="1752905" y="4543654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'active'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1067105" y="4714646"/>
            <a:ext cx="295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]);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1067105" y="505754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$this-&gt;</a:t>
            </a:r>
            <a:endParaRPr lang="en-US" sz="900" dirty="0"/>
          </a:p>
        </p:txBody>
      </p:sp>
      <p:sp>
        <p:nvSpPr>
          <p:cNvPr id="51" name="Text 43"/>
          <p:cNvSpPr txBox="1"/>
          <p:nvPr/>
        </p:nvSpPr>
        <p:spPr>
          <a:xfrm>
            <a:off x="1547165" y="5057546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assertTrue</a:t>
            </a:r>
            <a:endParaRPr lang="en-US" sz="900" dirty="0"/>
          </a:p>
        </p:txBody>
      </p:sp>
      <p:sp>
        <p:nvSpPr>
          <p:cNvPr id="52" name="Text 44"/>
          <p:cNvSpPr txBox="1"/>
          <p:nvPr/>
        </p:nvSpPr>
        <p:spPr>
          <a:xfrm>
            <a:off x="2232965" y="5057546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($course-&gt;</a:t>
            </a:r>
            <a:endParaRPr lang="en-US" sz="900" dirty="0"/>
          </a:p>
        </p:txBody>
      </p:sp>
      <p:sp>
        <p:nvSpPr>
          <p:cNvPr id="53" name="Text 45"/>
          <p:cNvSpPr txBox="1"/>
          <p:nvPr/>
        </p:nvSpPr>
        <p:spPr>
          <a:xfrm>
            <a:off x="2918765" y="5057546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isActive</a:t>
            </a:r>
            <a:endParaRPr lang="en-US" sz="900" dirty="0"/>
          </a:p>
        </p:txBody>
      </p:sp>
      <p:sp>
        <p:nvSpPr>
          <p:cNvPr id="54" name="Text 46"/>
          <p:cNvSpPr txBox="1"/>
          <p:nvPr/>
        </p:nvSpPr>
        <p:spPr>
          <a:xfrm>
            <a:off x="3467405" y="5057546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());</a:t>
            </a:r>
            <a:endParaRPr lang="en-US" sz="900" dirty="0"/>
          </a:p>
        </p:txBody>
      </p:sp>
      <p:sp>
        <p:nvSpPr>
          <p:cNvPr id="55" name="Text 47"/>
          <p:cNvSpPr txBox="1"/>
          <p:nvPr/>
        </p:nvSpPr>
        <p:spPr>
          <a:xfrm>
            <a:off x="1067105" y="5229454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sp>
        <p:nvSpPr>
          <p:cNvPr id="56" name="Text 48"/>
          <p:cNvSpPr txBox="1"/>
          <p:nvPr/>
        </p:nvSpPr>
        <p:spPr>
          <a:xfrm>
            <a:off x="7095744" y="1886407"/>
            <a:ext cx="1410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Tests</a:t>
            </a:r>
            <a:endParaRPr lang="en-US" sz="1500" dirty="0"/>
          </a:p>
        </p:txBody>
      </p:sp>
      <p:sp>
        <p:nvSpPr>
          <p:cNvPr id="57" name="Text 49"/>
          <p:cNvSpPr txBox="1"/>
          <p:nvPr/>
        </p:nvSpPr>
        <p:spPr>
          <a:xfrm>
            <a:off x="7095744" y="2152498"/>
            <a:ext cx="135971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Integration &amp; API</a:t>
            </a:r>
            <a:endParaRPr lang="en-US" sz="900" dirty="0"/>
          </a:p>
        </p:txBody>
      </p:sp>
      <p:sp>
        <p:nvSpPr>
          <p:cNvPr id="58" name="Text 50"/>
          <p:cNvSpPr txBox="1"/>
          <p:nvPr/>
        </p:nvSpPr>
        <p:spPr>
          <a:xfrm>
            <a:off x="6791249" y="3461918"/>
            <a:ext cx="23463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validation error responses</a:t>
            </a:r>
            <a:endParaRPr lang="en-US" sz="1100" dirty="0"/>
          </a:p>
        </p:txBody>
      </p:sp>
      <p:sp>
        <p:nvSpPr>
          <p:cNvPr id="59" name="Text 51"/>
          <p:cNvSpPr txBox="1"/>
          <p:nvPr/>
        </p:nvSpPr>
        <p:spPr>
          <a:xfrm>
            <a:off x="6648602" y="4028846"/>
            <a:ext cx="11247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function</a:t>
            </a:r>
            <a:endParaRPr lang="en-US" sz="900" dirty="0"/>
          </a:p>
        </p:txBody>
      </p:sp>
      <p:sp>
        <p:nvSpPr>
          <p:cNvPr id="60" name="Text 52"/>
          <p:cNvSpPr txBox="1"/>
          <p:nvPr/>
        </p:nvSpPr>
        <p:spPr>
          <a:xfrm>
            <a:off x="7677302" y="4028846"/>
            <a:ext cx="18772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test_user_can_list_courses</a:t>
            </a:r>
            <a:endParaRPr lang="en-US" sz="900" dirty="0"/>
          </a:p>
        </p:txBody>
      </p:sp>
      <p:sp>
        <p:nvSpPr>
          <p:cNvPr id="61" name="Text 53"/>
          <p:cNvSpPr txBox="1"/>
          <p:nvPr/>
        </p:nvSpPr>
        <p:spPr>
          <a:xfrm>
            <a:off x="9460382" y="4028846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{</a:t>
            </a:r>
            <a:endParaRPr lang="en-US" sz="900" dirty="0"/>
          </a:p>
        </p:txBody>
      </p:sp>
      <p:sp>
        <p:nvSpPr>
          <p:cNvPr id="62" name="Text 54"/>
          <p:cNvSpPr txBox="1"/>
          <p:nvPr/>
        </p:nvSpPr>
        <p:spPr>
          <a:xfrm>
            <a:off x="6648602" y="4200754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$this-&gt;</a:t>
            </a:r>
            <a:endParaRPr lang="en-US" sz="900" dirty="0"/>
          </a:p>
        </p:txBody>
      </p:sp>
      <p:sp>
        <p:nvSpPr>
          <p:cNvPr id="63" name="Text 55"/>
          <p:cNvSpPr txBox="1"/>
          <p:nvPr/>
        </p:nvSpPr>
        <p:spPr>
          <a:xfrm>
            <a:off x="7128662" y="4200754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actingAs</a:t>
            </a:r>
            <a:endParaRPr lang="en-US" sz="900" dirty="0"/>
          </a:p>
        </p:txBody>
      </p:sp>
      <p:sp>
        <p:nvSpPr>
          <p:cNvPr id="64" name="Text 56"/>
          <p:cNvSpPr txBox="1"/>
          <p:nvPr/>
        </p:nvSpPr>
        <p:spPr>
          <a:xfrm>
            <a:off x="7677302" y="4200754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($user);</a:t>
            </a:r>
            <a:endParaRPr lang="en-US" sz="900" dirty="0"/>
          </a:p>
        </p:txBody>
      </p:sp>
      <p:sp>
        <p:nvSpPr>
          <p:cNvPr id="65" name="Text 57"/>
          <p:cNvSpPr txBox="1"/>
          <p:nvPr/>
        </p:nvSpPr>
        <p:spPr>
          <a:xfrm>
            <a:off x="6648602" y="4543654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$response</a:t>
            </a:r>
            <a:endParaRPr lang="en-US" sz="900" dirty="0"/>
          </a:p>
        </p:txBody>
      </p:sp>
      <p:sp>
        <p:nvSpPr>
          <p:cNvPr id="66" name="Text 58"/>
          <p:cNvSpPr txBox="1"/>
          <p:nvPr/>
        </p:nvSpPr>
        <p:spPr>
          <a:xfrm>
            <a:off x="7265822" y="4543654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900" dirty="0"/>
          </a:p>
        </p:txBody>
      </p:sp>
      <p:sp>
        <p:nvSpPr>
          <p:cNvPr id="67" name="Text 59"/>
          <p:cNvSpPr txBox="1"/>
          <p:nvPr/>
        </p:nvSpPr>
        <p:spPr>
          <a:xfrm>
            <a:off x="7334402" y="4543654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$this-&gt;</a:t>
            </a:r>
            <a:endParaRPr lang="en-US" sz="900" dirty="0"/>
          </a:p>
        </p:txBody>
      </p:sp>
      <p:sp>
        <p:nvSpPr>
          <p:cNvPr id="68" name="Text 60"/>
          <p:cNvSpPr txBox="1"/>
          <p:nvPr/>
        </p:nvSpPr>
        <p:spPr>
          <a:xfrm>
            <a:off x="7814462" y="4543654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getJson</a:t>
            </a:r>
            <a:endParaRPr lang="en-US" sz="900" dirty="0"/>
          </a:p>
        </p:txBody>
      </p:sp>
      <p:sp>
        <p:nvSpPr>
          <p:cNvPr id="69" name="Text 61"/>
          <p:cNvSpPr txBox="1"/>
          <p:nvPr/>
        </p:nvSpPr>
        <p:spPr>
          <a:xfrm>
            <a:off x="8294522" y="4543654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70" name="Text 62"/>
          <p:cNvSpPr txBox="1"/>
          <p:nvPr/>
        </p:nvSpPr>
        <p:spPr>
          <a:xfrm>
            <a:off x="8363102" y="4543654"/>
            <a:ext cx="1047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'/api/courses'</a:t>
            </a:r>
            <a:endParaRPr lang="en-US" sz="900" dirty="0"/>
          </a:p>
        </p:txBody>
      </p:sp>
      <p:sp>
        <p:nvSpPr>
          <p:cNvPr id="71" name="Text 63"/>
          <p:cNvSpPr txBox="1"/>
          <p:nvPr/>
        </p:nvSpPr>
        <p:spPr>
          <a:xfrm>
            <a:off x="9323222" y="4543654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900" dirty="0"/>
          </a:p>
        </p:txBody>
      </p:sp>
      <p:sp>
        <p:nvSpPr>
          <p:cNvPr id="72" name="Text 64"/>
          <p:cNvSpPr txBox="1"/>
          <p:nvPr/>
        </p:nvSpPr>
        <p:spPr>
          <a:xfrm>
            <a:off x="6648602" y="4886554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$response-&gt;</a:t>
            </a:r>
            <a:endParaRPr lang="en-US" sz="900" dirty="0"/>
          </a:p>
        </p:txBody>
      </p:sp>
      <p:sp>
        <p:nvSpPr>
          <p:cNvPr id="73" name="Text 65"/>
          <p:cNvSpPr txBox="1"/>
          <p:nvPr/>
        </p:nvSpPr>
        <p:spPr>
          <a:xfrm>
            <a:off x="7402982" y="4886554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assertStatus</a:t>
            </a:r>
            <a:endParaRPr lang="en-US" sz="900" dirty="0"/>
          </a:p>
        </p:txBody>
      </p:sp>
      <p:sp>
        <p:nvSpPr>
          <p:cNvPr id="74" name="Text 66"/>
          <p:cNvSpPr txBox="1"/>
          <p:nvPr/>
        </p:nvSpPr>
        <p:spPr>
          <a:xfrm>
            <a:off x="8225942" y="4886554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(200)</a:t>
            </a:r>
            <a:endParaRPr lang="en-US" sz="900" dirty="0"/>
          </a:p>
        </p:txBody>
      </p:sp>
      <p:sp>
        <p:nvSpPr>
          <p:cNvPr id="75" name="Text 67"/>
          <p:cNvSpPr txBox="1"/>
          <p:nvPr/>
        </p:nvSpPr>
        <p:spPr>
          <a:xfrm>
            <a:off x="6648602" y="5057546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endParaRPr lang="en-US" sz="900" dirty="0"/>
          </a:p>
        </p:txBody>
      </p:sp>
      <p:sp>
        <p:nvSpPr>
          <p:cNvPr id="76" name="Text 68"/>
          <p:cNvSpPr txBox="1"/>
          <p:nvPr/>
        </p:nvSpPr>
        <p:spPr>
          <a:xfrm>
            <a:off x="6785762" y="5057546"/>
            <a:ext cx="1390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assertJsonStructure</a:t>
            </a:r>
            <a:endParaRPr lang="en-US" sz="900" dirty="0"/>
          </a:p>
        </p:txBody>
      </p:sp>
      <p:sp>
        <p:nvSpPr>
          <p:cNvPr id="77" name="Text 69"/>
          <p:cNvSpPr txBox="1"/>
          <p:nvPr/>
        </p:nvSpPr>
        <p:spPr>
          <a:xfrm>
            <a:off x="8088782" y="5057546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([</a:t>
            </a:r>
            <a:endParaRPr lang="en-US" sz="900" dirty="0"/>
          </a:p>
        </p:txBody>
      </p:sp>
      <p:sp>
        <p:nvSpPr>
          <p:cNvPr id="78" name="Text 70"/>
          <p:cNvSpPr txBox="1"/>
          <p:nvPr/>
        </p:nvSpPr>
        <p:spPr>
          <a:xfrm>
            <a:off x="8225942" y="5057546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'data'</a:t>
            </a:r>
            <a:endParaRPr lang="en-US" sz="900" dirty="0"/>
          </a:p>
        </p:txBody>
      </p:sp>
      <p:sp>
        <p:nvSpPr>
          <p:cNvPr id="79" name="Text 71"/>
          <p:cNvSpPr txBox="1"/>
          <p:nvPr/>
        </p:nvSpPr>
        <p:spPr>
          <a:xfrm>
            <a:off x="8637422" y="5057546"/>
            <a:ext cx="295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]);</a:t>
            </a:r>
            <a:endParaRPr lang="en-US" sz="900" dirty="0"/>
          </a:p>
        </p:txBody>
      </p:sp>
      <p:sp>
        <p:nvSpPr>
          <p:cNvPr id="80" name="Text 72"/>
          <p:cNvSpPr txBox="1"/>
          <p:nvPr/>
        </p:nvSpPr>
        <p:spPr>
          <a:xfrm>
            <a:off x="6648602" y="5229454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sp>
        <p:nvSpPr>
          <p:cNvPr id="81" name="Text 73"/>
          <p:cNvSpPr txBox="1"/>
          <p:nvPr/>
        </p:nvSpPr>
        <p:spPr>
          <a:xfrm>
            <a:off x="866851" y="6462979"/>
            <a:ext cx="13716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TOOLING</a:t>
            </a:r>
            <a:endParaRPr lang="en-US" sz="900" dirty="0"/>
          </a:p>
        </p:txBody>
      </p:sp>
      <p:sp>
        <p:nvSpPr>
          <p:cNvPr id="82" name="Text 74"/>
          <p:cNvSpPr txBox="1"/>
          <p:nvPr/>
        </p:nvSpPr>
        <p:spPr>
          <a:xfrm>
            <a:off x="2981858" y="6362395"/>
            <a:ext cx="11384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Factories</a:t>
            </a:r>
            <a:endParaRPr lang="en-US" sz="1000" dirty="0"/>
          </a:p>
        </p:txBody>
      </p:sp>
      <p:sp>
        <p:nvSpPr>
          <p:cNvPr id="83" name="Text 75"/>
          <p:cNvSpPr txBox="1"/>
          <p:nvPr/>
        </p:nvSpPr>
        <p:spPr>
          <a:xfrm>
            <a:off x="2981858" y="6572707"/>
            <a:ext cx="32863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realistic dummy data for robust testing scenarios.</a:t>
            </a:r>
            <a:endParaRPr lang="en-US" sz="900" dirty="0"/>
          </a:p>
        </p:txBody>
      </p:sp>
      <p:sp>
        <p:nvSpPr>
          <p:cNvPr id="84" name="Text 76"/>
          <p:cNvSpPr txBox="1"/>
          <p:nvPr/>
        </p:nvSpPr>
        <p:spPr>
          <a:xfrm>
            <a:off x="7524598" y="6362395"/>
            <a:ext cx="12152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RefreshDatabase</a:t>
            </a:r>
            <a:endParaRPr lang="en-US" sz="1000" dirty="0"/>
          </a:p>
        </p:txBody>
      </p:sp>
      <p:sp>
        <p:nvSpPr>
          <p:cNvPr id="85" name="Text 77"/>
          <p:cNvSpPr txBox="1"/>
          <p:nvPr/>
        </p:nvSpPr>
        <p:spPr>
          <a:xfrm>
            <a:off x="7524598" y="6572707"/>
            <a:ext cx="34774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Trait that resets the database state after each test for isolation.</a:t>
            </a:r>
            <a:endParaRPr lang="en-US" sz="900" dirty="0"/>
          </a:p>
        </p:txBody>
      </p:sp>
      <p:sp>
        <p:nvSpPr>
          <p:cNvPr id="86" name="Text 78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6953098" y="-952805"/>
            <a:ext cx="5715000" cy="57150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-476402" y="3047695"/>
            <a:ext cx="4762195" cy="4762195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4848149" y="1686154"/>
            <a:ext cx="6676949" cy="3791102"/>
          </a:xfrm>
          <a:prstGeom prst="roundRect">
            <a:avLst>
              <a:gd name="adj" fmla="val 97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773" r="-1773"/>
          <a:stretch/>
        </p:blipFill>
        <p:spPr>
          <a:xfrm>
            <a:off x="5143500" y="2024482"/>
            <a:ext cx="133502" cy="17190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143500" y="2467051"/>
            <a:ext cx="2952598" cy="886054"/>
          </a:xfrm>
          <a:prstGeom prst="roundRect">
            <a:avLst>
              <a:gd name="adj" fmla="val 8877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7"/>
          <p:cNvSpPr/>
          <p:nvPr/>
        </p:nvSpPr>
        <p:spPr>
          <a:xfrm>
            <a:off x="5305349" y="2648102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5357470" y="2695651"/>
            <a:ext cx="85954" cy="9509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81721" y="2467051"/>
            <a:ext cx="2952598" cy="886054"/>
          </a:xfrm>
          <a:prstGeom prst="roundRect">
            <a:avLst>
              <a:gd name="adj" fmla="val 8877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9"/>
          <p:cNvSpPr/>
          <p:nvPr/>
        </p:nvSpPr>
        <p:spPr>
          <a:xfrm>
            <a:off x="8443570" y="2648102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8496605" y="2695651"/>
            <a:ext cx="85954" cy="9509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143500" y="3539642"/>
            <a:ext cx="2952598" cy="724205"/>
          </a:xfrm>
          <a:prstGeom prst="roundRect">
            <a:avLst>
              <a:gd name="adj" fmla="val 13291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1"/>
          <p:cNvSpPr/>
          <p:nvPr/>
        </p:nvSpPr>
        <p:spPr>
          <a:xfrm>
            <a:off x="5305349" y="3720694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5357470" y="3768242"/>
            <a:ext cx="85954" cy="9509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281721" y="3539642"/>
            <a:ext cx="2952598" cy="724205"/>
          </a:xfrm>
          <a:prstGeom prst="roundRect">
            <a:avLst>
              <a:gd name="adj" fmla="val 13291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3"/>
          <p:cNvSpPr/>
          <p:nvPr/>
        </p:nvSpPr>
        <p:spPr>
          <a:xfrm>
            <a:off x="8443570" y="3720694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8496605" y="3768242"/>
            <a:ext cx="85954" cy="9509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5143500" y="4452214"/>
            <a:ext cx="2952598" cy="724205"/>
          </a:xfrm>
          <a:prstGeom prst="roundRect">
            <a:avLst>
              <a:gd name="adj" fmla="val 13291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15"/>
          <p:cNvSpPr/>
          <p:nvPr/>
        </p:nvSpPr>
        <p:spPr>
          <a:xfrm>
            <a:off x="5305349" y="4633265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5357470" y="4680814"/>
            <a:ext cx="85954" cy="9509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281721" y="4452214"/>
            <a:ext cx="2952598" cy="724205"/>
          </a:xfrm>
          <a:prstGeom prst="roundRect">
            <a:avLst>
              <a:gd name="adj" fmla="val 13291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17"/>
          <p:cNvSpPr/>
          <p:nvPr/>
        </p:nvSpPr>
        <p:spPr>
          <a:xfrm>
            <a:off x="8443570" y="4633265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8496605" y="4680814"/>
            <a:ext cx="85954" cy="9509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66598" y="457200"/>
            <a:ext cx="63633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Project: CourseApproval Module</a:t>
            </a:r>
            <a:endParaRPr lang="en-US" sz="2700" dirty="0"/>
          </a:p>
        </p:txBody>
      </p:sp>
      <p:sp>
        <p:nvSpPr>
          <p:cNvPr id="28" name="Text 19"/>
          <p:cNvSpPr txBox="1"/>
          <p:nvPr/>
        </p:nvSpPr>
        <p:spPr>
          <a:xfrm>
            <a:off x="666598" y="961949"/>
            <a:ext cx="33485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Capstone Assessment &amp; Implementation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5391302" y="2009851"/>
            <a:ext cx="19769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Deliverables Checklist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5609844" y="2648102"/>
            <a:ext cx="11960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Design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5609844" y="2866644"/>
            <a:ext cx="1714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Migrations with foreign keys &amp; relationships.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748979" y="2648102"/>
            <a:ext cx="11676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 Endpoints</a:t>
            </a:r>
            <a:endParaRPr lang="en-US" sz="1000" dirty="0"/>
          </a:p>
        </p:txBody>
      </p:sp>
      <p:sp>
        <p:nvSpPr>
          <p:cNvPr id="33" name="Text 24"/>
          <p:cNvSpPr txBox="1"/>
          <p:nvPr/>
        </p:nvSpPr>
        <p:spPr>
          <a:xfrm>
            <a:off x="8748979" y="2866644"/>
            <a:ext cx="21717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resource controllers for approvals.</a:t>
            </a:r>
            <a:endParaRPr lang="en-US" sz="900" dirty="0"/>
          </a:p>
        </p:txBody>
      </p:sp>
      <p:sp>
        <p:nvSpPr>
          <p:cNvPr id="34" name="Text 25"/>
          <p:cNvSpPr txBox="1"/>
          <p:nvPr/>
        </p:nvSpPr>
        <p:spPr>
          <a:xfrm>
            <a:off x="5609844" y="3720694"/>
            <a:ext cx="10908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Control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5609844" y="3939235"/>
            <a:ext cx="20391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permissions for actions.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8748979" y="3720694"/>
            <a:ext cx="11100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Logic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8748979" y="3939235"/>
            <a:ext cx="15627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Multi-step state transitions.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5609844" y="4633265"/>
            <a:ext cx="9290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5609844" y="4851806"/>
            <a:ext cx="1762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alerts on status changes.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8748979" y="4633265"/>
            <a:ext cx="872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Log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8748979" y="4851806"/>
            <a:ext cx="21817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 of who changed what/when.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666598" y="1686154"/>
            <a:ext cx="3800246" cy="3791102"/>
          </a:xfrm>
          <a:prstGeom prst="roundRect">
            <a:avLst>
              <a:gd name="adj" fmla="val 970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Shape 34"/>
          <p:cNvSpPr/>
          <p:nvPr/>
        </p:nvSpPr>
        <p:spPr>
          <a:xfrm>
            <a:off x="2090318" y="2009851"/>
            <a:ext cx="952805" cy="952805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  <a:effectLst>
            <a:outerShdw blurRad="292100" dist="12700" dir="16200000" algn="bl" rotWithShape="0">
              <a:srgbClr val="6366F1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376526" y="2295144"/>
            <a:ext cx="381305" cy="381305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1644091" y="3219602"/>
            <a:ext cx="2019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CourseApproval</a:t>
            </a:r>
            <a:endParaRPr lang="en-US" sz="1800" dirty="0"/>
          </a:p>
        </p:txBody>
      </p:sp>
      <p:sp>
        <p:nvSpPr>
          <p:cNvPr id="46" name="Text 36"/>
          <p:cNvSpPr txBox="1"/>
          <p:nvPr/>
        </p:nvSpPr>
        <p:spPr>
          <a:xfrm>
            <a:off x="1005840" y="3629254"/>
            <a:ext cx="3225089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comprehensive approval workflow system enabling managers to review, approve, or reject course submissions with full audit trails.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1121969" y="4882896"/>
            <a:ext cx="838505" cy="295351"/>
          </a:xfrm>
          <a:prstGeom prst="roundRect">
            <a:avLst>
              <a:gd name="adj" fmla="val 3994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38"/>
          <p:cNvSpPr txBox="1"/>
          <p:nvPr/>
        </p:nvSpPr>
        <p:spPr>
          <a:xfrm>
            <a:off x="1226210" y="4959706"/>
            <a:ext cx="7077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Laravel 10</a:t>
            </a:r>
            <a:endParaRPr lang="en-US" sz="800" dirty="0"/>
          </a:p>
        </p:txBody>
      </p:sp>
      <p:sp>
        <p:nvSpPr>
          <p:cNvPr id="49" name="Shape 39"/>
          <p:cNvSpPr/>
          <p:nvPr/>
        </p:nvSpPr>
        <p:spPr>
          <a:xfrm>
            <a:off x="2036369" y="4882896"/>
            <a:ext cx="523951" cy="295351"/>
          </a:xfrm>
          <a:prstGeom prst="roundRect">
            <a:avLst>
              <a:gd name="adj" fmla="val 3994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0"/>
          <p:cNvSpPr txBox="1"/>
          <p:nvPr/>
        </p:nvSpPr>
        <p:spPr>
          <a:xfrm>
            <a:off x="2140610" y="4959706"/>
            <a:ext cx="3931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MySQL</a:t>
            </a:r>
            <a:endParaRPr lang="en-US" sz="800" dirty="0"/>
          </a:p>
        </p:txBody>
      </p:sp>
      <p:sp>
        <p:nvSpPr>
          <p:cNvPr id="51" name="Shape 41"/>
          <p:cNvSpPr/>
          <p:nvPr/>
        </p:nvSpPr>
        <p:spPr>
          <a:xfrm>
            <a:off x="2636215" y="4882896"/>
            <a:ext cx="714146" cy="295351"/>
          </a:xfrm>
          <a:prstGeom prst="roundRect">
            <a:avLst>
              <a:gd name="adj" fmla="val 3994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42"/>
          <p:cNvSpPr txBox="1"/>
          <p:nvPr/>
        </p:nvSpPr>
        <p:spPr>
          <a:xfrm>
            <a:off x="2741371" y="4959706"/>
            <a:ext cx="5843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API</a:t>
            </a:r>
            <a:endParaRPr lang="en-US" sz="800" dirty="0"/>
          </a:p>
        </p:txBody>
      </p:sp>
      <p:sp>
        <p:nvSpPr>
          <p:cNvPr id="53" name="Shape 43"/>
          <p:cNvSpPr/>
          <p:nvPr/>
        </p:nvSpPr>
        <p:spPr>
          <a:xfrm>
            <a:off x="3425342" y="4882896"/>
            <a:ext cx="590702" cy="295351"/>
          </a:xfrm>
          <a:prstGeom prst="roundRect">
            <a:avLst>
              <a:gd name="adj" fmla="val 3994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 44"/>
          <p:cNvSpPr txBox="1"/>
          <p:nvPr/>
        </p:nvSpPr>
        <p:spPr>
          <a:xfrm>
            <a:off x="3529584" y="4959706"/>
            <a:ext cx="4599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Events</a:t>
            </a:r>
            <a:endParaRPr lang="en-US" sz="800" dirty="0"/>
          </a:p>
        </p:txBody>
      </p:sp>
      <p:sp>
        <p:nvSpPr>
          <p:cNvPr id="65" name="Text 53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2438705" y="-952805"/>
            <a:ext cx="4762195" cy="4762195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6210605" y="3047695"/>
            <a:ext cx="4762195" cy="4762195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-952805" y="2743200"/>
            <a:ext cx="2857500" cy="28575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66598" y="1390802"/>
            <a:ext cx="108585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666598" y="1781251"/>
            <a:ext cx="3419856" cy="4600346"/>
          </a:xfrm>
          <a:prstGeom prst="roundRect">
            <a:avLst>
              <a:gd name="adj" fmla="val 1192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676656" y="2810866"/>
            <a:ext cx="3400654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905256" y="2048256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1028700" y="2200046"/>
            <a:ext cx="286207" cy="228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05256" y="304769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972007" y="3133649"/>
            <a:ext cx="171907" cy="13350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05256" y="385236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90295" y="3937406"/>
            <a:ext cx="133502" cy="13350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256" y="465612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837" r="-837"/>
          <a:stretch/>
        </p:blipFill>
        <p:spPr>
          <a:xfrm>
            <a:off x="981151" y="4742078"/>
            <a:ext cx="152705" cy="13350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05256" y="5459882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1000354" y="5545836"/>
            <a:ext cx="114300" cy="13350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388206" y="1781251"/>
            <a:ext cx="3419856" cy="4600346"/>
          </a:xfrm>
          <a:prstGeom prst="roundRect">
            <a:avLst>
              <a:gd name="adj" fmla="val 1192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4"/>
          <p:cNvSpPr/>
          <p:nvPr/>
        </p:nvSpPr>
        <p:spPr>
          <a:xfrm>
            <a:off x="4397350" y="2810866"/>
            <a:ext cx="3400654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Shape 15"/>
          <p:cNvSpPr/>
          <p:nvPr/>
        </p:nvSpPr>
        <p:spPr>
          <a:xfrm>
            <a:off x="4625950" y="2048256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A855F7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4792370" y="2200046"/>
            <a:ext cx="200254" cy="22860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4625950" y="304769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11903" y="3133649"/>
            <a:ext cx="133502" cy="13350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4625950" y="3852367"/>
            <a:ext cx="305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Spatie Packages Docs for laravel-permission and laravel-medialibrary.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4625950" y="4499762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 l="-837" r="-837"/>
          <a:stretch/>
        </p:blipFill>
        <p:spPr>
          <a:xfrm>
            <a:off x="4701845" y="4585716"/>
            <a:ext cx="152705" cy="13350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08899" y="1781251"/>
            <a:ext cx="3419856" cy="4600346"/>
          </a:xfrm>
          <a:prstGeom prst="roundRect">
            <a:avLst>
              <a:gd name="adj" fmla="val 1192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Shape 20"/>
          <p:cNvSpPr/>
          <p:nvPr/>
        </p:nvSpPr>
        <p:spPr>
          <a:xfrm>
            <a:off x="8118043" y="2810866"/>
            <a:ext cx="3400654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1" name="Shape 21"/>
          <p:cNvSpPr/>
          <p:nvPr/>
        </p:nvSpPr>
        <p:spPr>
          <a:xfrm>
            <a:off x="8346643" y="2048256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rcRect t="-45" b="-45"/>
          <a:stretch/>
        </p:blipFill>
        <p:spPr>
          <a:xfrm>
            <a:off x="8484718" y="2200046"/>
            <a:ext cx="256946" cy="22860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346643" y="3047695"/>
            <a:ext cx="30577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Guide HANDS_ON_TRAINING_GUIDE.mdStep-by-step lab instructions.</a:t>
            </a:r>
            <a:endParaRPr lang="en-US" sz="1200" dirty="0"/>
          </a:p>
        </p:txBody>
      </p:sp>
      <p:sp>
        <p:nvSpPr>
          <p:cNvPr id="34" name="Shape 23"/>
          <p:cNvSpPr/>
          <p:nvPr/>
        </p:nvSpPr>
        <p:spPr>
          <a:xfrm>
            <a:off x="8346643" y="392460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2"/>
          <a:srcRect l="-837" r="-837"/>
          <a:stretch/>
        </p:blipFill>
        <p:spPr>
          <a:xfrm>
            <a:off x="8423453" y="4009644"/>
            <a:ext cx="152705" cy="133502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8346643" y="4728362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8442655" y="4814316"/>
            <a:ext cx="114300" cy="133502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66598" y="457200"/>
            <a:ext cx="32196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&amp; Resources</a:t>
            </a:r>
            <a:endParaRPr lang="en-US" sz="2700" dirty="0"/>
          </a:p>
        </p:txBody>
      </p:sp>
      <p:sp>
        <p:nvSpPr>
          <p:cNvPr id="39" name="Text 26"/>
          <p:cNvSpPr txBox="1"/>
          <p:nvPr/>
        </p:nvSpPr>
        <p:spPr>
          <a:xfrm>
            <a:off x="666598" y="961949"/>
            <a:ext cx="3672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Environment &amp; Reference Materials</a:t>
            </a:r>
            <a:endParaRPr lang="en-US" sz="1300" dirty="0"/>
          </a:p>
        </p:txBody>
      </p:sp>
      <p:sp>
        <p:nvSpPr>
          <p:cNvPr id="40" name="Text 27"/>
          <p:cNvSpPr txBox="1"/>
          <p:nvPr/>
        </p:nvSpPr>
        <p:spPr>
          <a:xfrm>
            <a:off x="1591056" y="2097634"/>
            <a:ext cx="1381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41" name="Text 28"/>
          <p:cNvSpPr txBox="1"/>
          <p:nvPr/>
        </p:nvSpPr>
        <p:spPr>
          <a:xfrm>
            <a:off x="1591056" y="2383841"/>
            <a:ext cx="12079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 Setup</a:t>
            </a:r>
            <a:endParaRPr lang="en-US" sz="900" dirty="0"/>
          </a:p>
        </p:txBody>
      </p:sp>
      <p:sp>
        <p:nvSpPr>
          <p:cNvPr id="42" name="Text 29"/>
          <p:cNvSpPr txBox="1"/>
          <p:nvPr/>
        </p:nvSpPr>
        <p:spPr>
          <a:xfrm>
            <a:off x="1343254" y="3066898"/>
            <a:ext cx="762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</a:t>
            </a:r>
            <a:endParaRPr lang="en-US" sz="1200" dirty="0"/>
          </a:p>
        </p:txBody>
      </p:sp>
      <p:sp>
        <p:nvSpPr>
          <p:cNvPr id="43" name="Text 30"/>
          <p:cNvSpPr txBox="1"/>
          <p:nvPr/>
        </p:nvSpPr>
        <p:spPr>
          <a:xfrm>
            <a:off x="1343254" y="3323844"/>
            <a:ext cx="238841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IDE with PHP Intelephense and Laravel Blade snippets extensions.</a:t>
            </a:r>
            <a:endParaRPr lang="en-US" sz="900" dirty="0"/>
          </a:p>
        </p:txBody>
      </p:sp>
      <p:sp>
        <p:nvSpPr>
          <p:cNvPr id="44" name="Text 31"/>
          <p:cNvSpPr txBox="1"/>
          <p:nvPr/>
        </p:nvSpPr>
        <p:spPr>
          <a:xfrm>
            <a:off x="1343254" y="3870655"/>
            <a:ext cx="1571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Postman / Insomnia</a:t>
            </a:r>
            <a:endParaRPr lang="en-US" sz="1200" dirty="0"/>
          </a:p>
        </p:txBody>
      </p:sp>
      <p:sp>
        <p:nvSpPr>
          <p:cNvPr id="45" name="Text 32"/>
          <p:cNvSpPr txBox="1"/>
          <p:nvPr/>
        </p:nvSpPr>
        <p:spPr>
          <a:xfrm>
            <a:off x="1343254" y="4128516"/>
            <a:ext cx="256946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testing client for sending requests and inspecting responses.</a:t>
            </a:r>
            <a:endParaRPr lang="en-US" sz="900" dirty="0"/>
          </a:p>
        </p:txBody>
      </p:sp>
      <p:sp>
        <p:nvSpPr>
          <p:cNvPr id="46" name="Text 33"/>
          <p:cNvSpPr txBox="1"/>
          <p:nvPr/>
        </p:nvSpPr>
        <p:spPr>
          <a:xfrm>
            <a:off x="1343254" y="4675327"/>
            <a:ext cx="1162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Laravel Tinker</a:t>
            </a:r>
            <a:endParaRPr lang="en-US" sz="1200" dirty="0"/>
          </a:p>
        </p:txBody>
      </p:sp>
      <p:sp>
        <p:nvSpPr>
          <p:cNvPr id="47" name="Text 34"/>
          <p:cNvSpPr txBox="1"/>
          <p:nvPr/>
        </p:nvSpPr>
        <p:spPr>
          <a:xfrm>
            <a:off x="1343254" y="4932274"/>
            <a:ext cx="250271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 for interacting with your application via command line.</a:t>
            </a:r>
            <a:endParaRPr lang="en-US" sz="900" dirty="0"/>
          </a:p>
        </p:txBody>
      </p:sp>
      <p:sp>
        <p:nvSpPr>
          <p:cNvPr id="48" name="Text 35"/>
          <p:cNvSpPr txBox="1"/>
          <p:nvPr/>
        </p:nvSpPr>
        <p:spPr>
          <a:xfrm>
            <a:off x="1343254" y="5479085"/>
            <a:ext cx="324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</a:t>
            </a:r>
            <a:endParaRPr lang="en-US" sz="1200" dirty="0"/>
          </a:p>
        </p:txBody>
      </p:sp>
      <p:sp>
        <p:nvSpPr>
          <p:cNvPr id="49" name="Text 36"/>
          <p:cNvSpPr txBox="1"/>
          <p:nvPr/>
        </p:nvSpPr>
        <p:spPr>
          <a:xfrm>
            <a:off x="1343254" y="5736031"/>
            <a:ext cx="247436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control for tracking changes and managing code branches.</a:t>
            </a:r>
            <a:endParaRPr lang="en-US" sz="900" dirty="0"/>
          </a:p>
        </p:txBody>
      </p:sp>
      <p:sp>
        <p:nvSpPr>
          <p:cNvPr id="50" name="Text 37"/>
          <p:cNvSpPr txBox="1"/>
          <p:nvPr/>
        </p:nvSpPr>
        <p:spPr>
          <a:xfrm>
            <a:off x="5311750" y="2097634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51" name="Text 38"/>
          <p:cNvSpPr txBox="1"/>
          <p:nvPr/>
        </p:nvSpPr>
        <p:spPr>
          <a:xfrm>
            <a:off x="5311750" y="2383841"/>
            <a:ext cx="9509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Guides</a:t>
            </a:r>
            <a:endParaRPr lang="en-US" sz="900" dirty="0"/>
          </a:p>
        </p:txBody>
      </p:sp>
      <p:sp>
        <p:nvSpPr>
          <p:cNvPr id="52" name="Text 39"/>
          <p:cNvSpPr txBox="1"/>
          <p:nvPr/>
        </p:nvSpPr>
        <p:spPr>
          <a:xfrm>
            <a:off x="5063947" y="3066898"/>
            <a:ext cx="1267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Laravel 10 Docs</a:t>
            </a:r>
            <a:endParaRPr lang="en-US" sz="1200" dirty="0"/>
          </a:p>
        </p:txBody>
      </p:sp>
      <p:sp>
        <p:nvSpPr>
          <p:cNvPr id="53" name="Text 40"/>
          <p:cNvSpPr txBox="1"/>
          <p:nvPr/>
        </p:nvSpPr>
        <p:spPr>
          <a:xfrm>
            <a:off x="5063947" y="3323844"/>
            <a:ext cx="24460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documentation covering routing, eloquence, and security.</a:t>
            </a:r>
            <a:endParaRPr lang="en-US" sz="900" dirty="0"/>
          </a:p>
        </p:txBody>
      </p:sp>
      <p:sp>
        <p:nvSpPr>
          <p:cNvPr id="54" name="Text 41"/>
          <p:cNvSpPr txBox="1"/>
          <p:nvPr/>
        </p:nvSpPr>
        <p:spPr>
          <a:xfrm>
            <a:off x="5063947" y="4518965"/>
            <a:ext cx="1153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Collection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5063947" y="4775911"/>
            <a:ext cx="252191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Importable Postman collection containing all course endpoints.</a:t>
            </a:r>
            <a:endParaRPr lang="en-US" sz="900" dirty="0"/>
          </a:p>
        </p:txBody>
      </p:sp>
      <p:sp>
        <p:nvSpPr>
          <p:cNvPr id="56" name="Text 43"/>
          <p:cNvSpPr txBox="1"/>
          <p:nvPr/>
        </p:nvSpPr>
        <p:spPr>
          <a:xfrm>
            <a:off x="9032443" y="2097634"/>
            <a:ext cx="1209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57" name="Text 44"/>
          <p:cNvSpPr txBox="1"/>
          <p:nvPr/>
        </p:nvSpPr>
        <p:spPr>
          <a:xfrm>
            <a:off x="9032443" y="2383841"/>
            <a:ext cx="9509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Assets</a:t>
            </a:r>
            <a:endParaRPr lang="en-US" sz="900" dirty="0"/>
          </a:p>
        </p:txBody>
      </p:sp>
      <p:sp>
        <p:nvSpPr>
          <p:cNvPr id="58" name="Text 45"/>
          <p:cNvSpPr txBox="1"/>
          <p:nvPr/>
        </p:nvSpPr>
        <p:spPr>
          <a:xfrm>
            <a:off x="8785555" y="3943807"/>
            <a:ext cx="12289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Project</a:t>
            </a:r>
            <a:endParaRPr lang="en-US" sz="1200" dirty="0"/>
          </a:p>
        </p:txBody>
      </p:sp>
      <p:sp>
        <p:nvSpPr>
          <p:cNvPr id="59" name="Text 46"/>
          <p:cNvSpPr txBox="1"/>
          <p:nvPr/>
        </p:nvSpPr>
        <p:spPr>
          <a:xfrm>
            <a:off x="8785555" y="4200754"/>
            <a:ext cx="249356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source code repository with all patterns implemented.</a:t>
            </a:r>
            <a:endParaRPr lang="en-US" sz="900" dirty="0"/>
          </a:p>
        </p:txBody>
      </p:sp>
      <p:sp>
        <p:nvSpPr>
          <p:cNvPr id="60" name="Text 47"/>
          <p:cNvSpPr txBox="1"/>
          <p:nvPr/>
        </p:nvSpPr>
        <p:spPr>
          <a:xfrm>
            <a:off x="8785555" y="4747565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Diagram</a:t>
            </a:r>
            <a:endParaRPr lang="en-US" sz="1200" dirty="0"/>
          </a:p>
        </p:txBody>
      </p:sp>
      <p:sp>
        <p:nvSpPr>
          <p:cNvPr id="61" name="Text 48"/>
          <p:cNvSpPr txBox="1"/>
          <p:nvPr/>
        </p:nvSpPr>
        <p:spPr>
          <a:xfrm>
            <a:off x="8785555" y="5004511"/>
            <a:ext cx="247436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ERD visualization of the 15+ core models and relationships.</a:t>
            </a:r>
            <a:endParaRPr lang="en-US" sz="900" dirty="0"/>
          </a:p>
        </p:txBody>
      </p:sp>
      <p:sp>
        <p:nvSpPr>
          <p:cNvPr id="62" name="Text 49"/>
          <p:cNvSpPr txBox="1"/>
          <p:nvPr/>
        </p:nvSpPr>
        <p:spPr>
          <a:xfrm>
            <a:off x="10241280" y="6486754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EPS Backend Web Training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5715000" cy="5715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7429500" y="2095805"/>
            <a:ext cx="5715000" cy="571500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4190695" y="1524305"/>
            <a:ext cx="3810305" cy="3810305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6086246" y="0"/>
            <a:ext cx="19202" cy="952805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5934456" y="6420002"/>
            <a:ext cx="57607" cy="57607"/>
          </a:xfrm>
          <a:prstGeom prst="ellipse">
            <a:avLst/>
          </a:prstGeom>
          <a:solidFill>
            <a:srgbClr val="64748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6067044" y="6420002"/>
            <a:ext cx="57607" cy="57607"/>
          </a:xfrm>
          <a:prstGeom prst="ellipse">
            <a:avLst/>
          </a:prstGeom>
          <a:solidFill>
            <a:srgbClr val="64748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6200546" y="6420002"/>
            <a:ext cx="57607" cy="57607"/>
          </a:xfrm>
          <a:prstGeom prst="ellipse">
            <a:avLst/>
          </a:prstGeom>
          <a:solidFill>
            <a:srgbClr val="64748B">
              <a:alpha val="5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2"/>
          <p:cNvSpPr txBox="1"/>
          <p:nvPr/>
        </p:nvSpPr>
        <p:spPr>
          <a:xfrm>
            <a:off x="2664562" y="2846527"/>
            <a:ext cx="7325258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Discussion</a:t>
            </a:r>
            <a:endParaRPr lang="en-US" sz="4800" dirty="0"/>
          </a:p>
        </p:txBody>
      </p:sp>
      <p:sp>
        <p:nvSpPr>
          <p:cNvPr id="18" name="Text 13"/>
          <p:cNvSpPr txBox="1"/>
          <p:nvPr/>
        </p:nvSpPr>
        <p:spPr>
          <a:xfrm>
            <a:off x="2340864" y="3822192"/>
            <a:ext cx="76873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are now equipped with the architectural knowledge to build scalable EPS systems. Ready to start your Transfer of Training journey!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524805" y="1360627"/>
            <a:ext cx="1143000" cy="1143000"/>
          </a:xfrm>
          <a:prstGeom prst="ellipse">
            <a:avLst/>
          </a:prstGeom>
          <a:solidFill>
            <a:srgbClr val="1E293B">
              <a:alpha val="60000"/>
            </a:srgbClr>
          </a:solidFill>
          <a:ln w="25400">
            <a:solidFill>
              <a:srgbClr val="94A3B8">
                <a:alpha val="20000"/>
              </a:srgbClr>
            </a:solidFill>
            <a:prstDash val="solid"/>
          </a:ln>
          <a:effectLst>
            <a:outerShdw blurRad="4826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Shape 18"/>
          <p:cNvSpPr/>
          <p:nvPr/>
        </p:nvSpPr>
        <p:spPr>
          <a:xfrm>
            <a:off x="5429707" y="1265530"/>
            <a:ext cx="1295705" cy="1295705"/>
          </a:xfrm>
          <a:prstGeom prst="ellipse">
            <a:avLst/>
          </a:prstGeom>
          <a:noFill/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10098" y="1703527"/>
            <a:ext cx="5715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5139</Words>
  <Application>Microsoft Office PowerPoint</Application>
  <PresentationFormat>Widescreen</PresentationFormat>
  <Paragraphs>1944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Inter</vt:lpstr>
      <vt:lpstr>JetBrains Mono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Muhamad Zahir B. Md Hamzah</cp:lastModifiedBy>
  <cp:revision>6</cp:revision>
  <dcterms:created xsi:type="dcterms:W3CDTF">2026-01-13T06:27:16Z</dcterms:created>
  <dcterms:modified xsi:type="dcterms:W3CDTF">2026-01-22T02:25:48Z</dcterms:modified>
</cp:coreProperties>
</file>